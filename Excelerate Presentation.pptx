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65" r:id="rId2"/>
    <p:sldId id="266" r:id="rId3"/>
    <p:sldId id="267" r:id="rId4"/>
    <p:sldId id="268" r:id="rId5"/>
    <p:sldId id="257" r:id="rId6"/>
    <p:sldId id="270" r:id="rId7"/>
    <p:sldId id="261" r:id="rId8"/>
    <p:sldId id="262" r:id="rId9"/>
    <p:sldId id="258" r:id="rId10"/>
    <p:sldId id="259" r:id="rId11"/>
    <p:sldId id="263" r:id="rId12"/>
    <p:sldId id="260" r:id="rId13"/>
    <p:sldId id="271" r:id="rId14"/>
    <p:sldId id="264" r:id="rId15"/>
    <p:sldId id="272" r:id="rId16"/>
    <p:sldId id="273" r:id="rId17"/>
    <p:sldId id="274" r:id="rId18"/>
    <p:sldId id="275"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11111"/>
                </a:solidFill>
                <a:latin typeface="Arial"/>
              </a:defRPr>
            </a:pPr>
            <a:r>
              <a:rPr lang="en-US" sz="1200" b="1" i="0" u="none" strike="noStrike" dirty="0">
                <a:solidFill>
                  <a:schemeClr val="tx1"/>
                </a:solidFill>
                <a:latin typeface="Arial"/>
              </a:rPr>
              <a:t>Completion rate by application year (%)</a:t>
            </a:r>
          </a:p>
        </c:rich>
      </c:tx>
      <c:overlay val="0"/>
    </c:title>
    <c:autoTitleDeleted val="0"/>
    <c:plotArea>
      <c:layout/>
      <c:barChart>
        <c:barDir val="col"/>
        <c:grouping val="clustered"/>
        <c:varyColors val="0"/>
        <c:ser>
          <c:idx val="0"/>
          <c:order val="0"/>
          <c:tx>
            <c:strRef>
              <c:f>Sheet1!$B$1</c:f>
              <c:strCache>
                <c:ptCount val="1"/>
                <c:pt idx="0">
                  <c:v>Completion rate (%)</c:v>
                </c:pt>
              </c:strCache>
            </c:strRef>
          </c:tx>
          <c:spPr>
            <a:solidFill>
              <a:srgbClr val="FF6A00"/>
            </a:solidFill>
            <a:effectLst/>
          </c:spPr>
          <c:invertIfNegative val="0"/>
          <c:dLbls>
            <c:numFmt formatCode="0.00" sourceLinked="0"/>
            <c:spPr>
              <a:noFill/>
              <a:ln>
                <a:noFill/>
              </a:ln>
              <a:effectLst/>
            </c:spPr>
            <c:txPr>
              <a:bodyPr/>
              <a:lstStyle/>
              <a:p>
                <a:pPr>
                  <a:defRPr sz="1200" b="0" i="0" u="none" strike="noStrike">
                    <a:solidFill>
                      <a:srgbClr val="11111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2023</c:v>
                </c:pt>
                <c:pt idx="1">
                  <c:v>2024</c:v>
                </c:pt>
                <c:pt idx="2">
                  <c:v>2025</c:v>
                </c:pt>
              </c:strCache>
            </c:strRef>
          </c:cat>
          <c:val>
            <c:numRef>
              <c:f>Sheet1!$B$2:$B$4</c:f>
              <c:numCache>
                <c:formatCode>General</c:formatCode>
                <c:ptCount val="3"/>
                <c:pt idx="0">
                  <c:v>15.15</c:v>
                </c:pt>
                <c:pt idx="1">
                  <c:v>14.01</c:v>
                </c:pt>
                <c:pt idx="2">
                  <c:v>7.06</c:v>
                </c:pt>
              </c:numCache>
            </c:numRef>
          </c:val>
          <c:extLst>
            <c:ext xmlns:c16="http://schemas.microsoft.com/office/drawing/2014/chart" uri="{C3380CC4-5D6E-409C-BE32-E72D297353CC}">
              <c16:uniqueId val="{00000000-6910-4B0B-9953-F8EFC65ABDA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11111"/>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4139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team name and date.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grouped into three parts: Foundation, Analysis, Insights.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names with real team members and adjust responsibilities.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problem, objectives, scope and how success is measured.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five-step workflow from objectives to reporting. Adjust techniques to match what was used.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33053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201755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reach vs progression (551 learners, 1,564 application-stage records, ~7% completion). Masterclass has the highest completion but a small sample (~510 sign-ups, 18 applications). Internship attracts thousands of sign-ups at 10.36% completion. Course: 664 sign-ups, 4 application records, no completion. Monthly sign-ups: Nov 187, Dec 221, Jan 216, Feb 132 (-38.9% vs Jan), Mar 90 (-31.8%), Apr 116 (+28.9%). Insight: acquisition and progression differ; the changes should be examined alongside launches, campaigns and lead sources. Also note Competition drives about 69% of application-stage records (1,083 of 1,564), which pulls the overall rate toward its 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completion performance was assessed with a minimum of five sign-ups per opportunity to avoid misleading rates from tiny volumes; test and payment-related records were excluded from meaningful top-opportunity comparisons. Single and Team Competition Automation appear among stronger completers. Lead source: judge sources on sign-up to application to completion, not volume. Social Media generated 409 distinct learners with ~7% progressing; Saint Louis University ~97 learners with ~9%. The last-7-days chart shows application activity, not sign-ups. Insight: popularity and completion are not aligned.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rewards and completion measure different things. Internship has the highest reward activity (1,127.98) while Xploreu has the lowest and no application activity. Competition earned more rewards (616.83) than Masterclass (289.1), yet Masterclass completes better (11.11% vs 6%). Scholarship support is concentrated in Internship, Competition and Masterclass; compare against demand, applications and completion. The 560.5K total adds values recorded in different currencies, so treat amounts as currency-specific unless converted.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Shape 0"/>
          <p:cNvSpPr/>
          <p:nvPr/>
        </p:nvSpPr>
        <p:spPr>
          <a:xfrm>
            <a:off x="5760720" y="685800"/>
            <a:ext cx="3291840" cy="3291840"/>
          </a:xfrm>
          <a:prstGeom prst="ellipse">
            <a:avLst/>
          </a:prstGeom>
          <a:solidFill>
            <a:srgbClr val="FF6A00"/>
          </a:solidFill>
          <a:ln w="12700">
            <a:solidFill>
              <a:srgbClr val="FF6A00"/>
            </a:solidFill>
            <a:prstDash val="solid"/>
          </a:ln>
        </p:spPr>
        <p:txBody>
          <a:bodyPr/>
          <a:lstStyle/>
          <a:p>
            <a:endParaRPr lang="en-US"/>
          </a:p>
        </p:txBody>
      </p:sp>
      <p:sp>
        <p:nvSpPr>
          <p:cNvPr id="3" name="Shape 1"/>
          <p:cNvSpPr/>
          <p:nvPr/>
        </p:nvSpPr>
        <p:spPr>
          <a:xfrm>
            <a:off x="6263640" y="1188720"/>
            <a:ext cx="2286000" cy="2286000"/>
          </a:xfrm>
          <a:prstGeom prst="ellipse">
            <a:avLst/>
          </a:prstGeom>
          <a:solidFill>
            <a:srgbClr val="111111"/>
          </a:solidFill>
          <a:ln w="12700">
            <a:solidFill>
              <a:srgbClr val="111111"/>
            </a:solidFill>
            <a:prstDash val="solid"/>
          </a:ln>
        </p:spPr>
        <p:txBody>
          <a:bodyPr/>
          <a:lstStyle/>
          <a:p>
            <a:endParaRPr lang="en-US"/>
          </a:p>
        </p:txBody>
      </p:sp>
      <p:sp>
        <p:nvSpPr>
          <p:cNvPr id="4" name="Shape 2"/>
          <p:cNvSpPr/>
          <p:nvPr/>
        </p:nvSpPr>
        <p:spPr>
          <a:xfrm>
            <a:off x="6766560" y="1691640"/>
            <a:ext cx="1280160" cy="1280160"/>
          </a:xfrm>
          <a:prstGeom prst="ellipse">
            <a:avLst/>
          </a:prstGeom>
          <a:solidFill>
            <a:srgbClr val="FF6A00"/>
          </a:solidFill>
          <a:ln w="12700">
            <a:solidFill>
              <a:srgbClr val="FF6A00"/>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086600" y="2011680"/>
            <a:ext cx="640080" cy="640080"/>
          </a:xfrm>
          <a:prstGeom prst="rect">
            <a:avLst/>
          </a:prstGeom>
        </p:spPr>
      </p:pic>
      <p:sp>
        <p:nvSpPr>
          <p:cNvPr id="6" name="Shape 3"/>
          <p:cNvSpPr/>
          <p:nvPr/>
        </p:nvSpPr>
        <p:spPr>
          <a:xfrm>
            <a:off x="5120640" y="3886200"/>
            <a:ext cx="731520" cy="731520"/>
          </a:xfrm>
          <a:prstGeom prst="ellipse">
            <a:avLst/>
          </a:prstGeom>
          <a:solidFill>
            <a:srgbClr val="FFFFFF">
              <a:alpha val="12000"/>
            </a:srgbClr>
          </a:solidFill>
          <a:ln w="12700">
            <a:noFill/>
            <a:prstDash val="solid"/>
          </a:ln>
        </p:spPr>
        <p:txBody>
          <a:bodyPr/>
          <a:lstStyle/>
          <a:p>
            <a:endParaRPr lang="en-US"/>
          </a:p>
        </p:txBody>
      </p:sp>
      <p:sp>
        <p:nvSpPr>
          <p:cNvPr id="7" name="Shape 4"/>
          <p:cNvSpPr/>
          <p:nvPr/>
        </p:nvSpPr>
        <p:spPr>
          <a:xfrm>
            <a:off x="7834674" y="4115326"/>
            <a:ext cx="989286" cy="989286"/>
          </a:xfrm>
          <a:prstGeom prst="ellipse">
            <a:avLst/>
          </a:prstGeom>
          <a:solidFill>
            <a:srgbClr val="FF6A00">
              <a:alpha val="60000"/>
            </a:srgbClr>
          </a:solidFill>
          <a:ln w="12700">
            <a:noFill/>
            <a:prstDash val="solid"/>
          </a:ln>
        </p:spPr>
        <p:txBody>
          <a:bodyPr/>
          <a:lstStyle/>
          <a:p>
            <a:endParaRPr lang="en-US"/>
          </a:p>
        </p:txBody>
      </p:sp>
      <p:sp>
        <p:nvSpPr>
          <p:cNvPr id="8" name="Text 5"/>
          <p:cNvSpPr txBox="1"/>
          <p:nvPr/>
        </p:nvSpPr>
        <p:spPr>
          <a:xfrm>
            <a:off x="548640" y="914400"/>
            <a:ext cx="3657600" cy="274320"/>
          </a:xfrm>
          <a:prstGeom prst="rect">
            <a:avLst/>
          </a:prstGeom>
          <a:noFill/>
          <a:ln/>
        </p:spPr>
        <p:txBody>
          <a:bodyPr wrap="square" lIns="0" tIns="0" rIns="0" bIns="0" rtlCol="0" anchor="ctr"/>
          <a:lstStyle/>
          <a:p>
            <a:pPr marL="0" indent="0">
              <a:buNone/>
            </a:pPr>
            <a:r>
              <a:rPr lang="en-US" sz="1400" b="1" kern="0" spc="600" dirty="0">
                <a:solidFill>
                  <a:srgbClr val="FF6A00"/>
                </a:solidFill>
                <a:latin typeface="Calibri" pitchFamily="34" charset="0"/>
                <a:ea typeface="Calibri" pitchFamily="34" charset="-122"/>
                <a:cs typeface="Calibri" pitchFamily="34" charset="-120"/>
              </a:rPr>
              <a:t>EXCELERATE</a:t>
            </a:r>
            <a:endParaRPr lang="en-US" sz="1400" dirty="0"/>
          </a:p>
        </p:txBody>
      </p:sp>
      <p:sp>
        <p:nvSpPr>
          <p:cNvPr id="9" name="Text 6"/>
          <p:cNvSpPr txBox="1"/>
          <p:nvPr/>
        </p:nvSpPr>
        <p:spPr>
          <a:xfrm>
            <a:off x="548640" y="1280160"/>
            <a:ext cx="5029200" cy="14630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mbria" pitchFamily="34" charset="-122"/>
                <a:cs typeface="Cambria" pitchFamily="34" charset="-120"/>
              </a:rPr>
              <a:t>Learner Opportunity</a:t>
            </a:r>
            <a:endParaRPr lang="en-US" sz="3400" dirty="0"/>
          </a:p>
          <a:p>
            <a:pPr marL="0" indent="0">
              <a:buNone/>
            </a:pPr>
            <a:r>
              <a:rPr lang="en-US" sz="3400" b="1" dirty="0">
                <a:solidFill>
                  <a:srgbClr val="FFFFFF"/>
                </a:solidFill>
                <a:latin typeface="Cambria" pitchFamily="34" charset="0"/>
                <a:ea typeface="Cambria" pitchFamily="34" charset="-122"/>
                <a:cs typeface="Cambria" pitchFamily="34" charset="-120"/>
              </a:rPr>
              <a:t>Analysis Report</a:t>
            </a:r>
            <a:endParaRPr lang="en-US" sz="3400" dirty="0"/>
          </a:p>
        </p:txBody>
      </p:sp>
      <p:sp>
        <p:nvSpPr>
          <p:cNvPr id="10" name="Text 7"/>
          <p:cNvSpPr txBox="1"/>
          <p:nvPr/>
        </p:nvSpPr>
        <p:spPr>
          <a:xfrm>
            <a:off x="548640" y="2880360"/>
            <a:ext cx="4480560" cy="594360"/>
          </a:xfrm>
          <a:prstGeom prst="rect">
            <a:avLst/>
          </a:prstGeom>
          <a:noFill/>
          <a:ln/>
        </p:spPr>
        <p:txBody>
          <a:bodyPr wrap="square" lIns="0" tIns="0" rIns="0" bIns="0" rtlCol="0" anchor="ctr"/>
          <a:lstStyle/>
          <a:p>
            <a:r>
              <a:rPr lang="en-US" sz="1500" dirty="0">
                <a:solidFill>
                  <a:srgbClr val="CFCFCF"/>
                </a:solidFill>
                <a:latin typeface="Calibri" pitchFamily="34" charset="0"/>
                <a:ea typeface="Calibri" pitchFamily="34" charset="-122"/>
                <a:cs typeface="Calibri" pitchFamily="34" charset="-120"/>
              </a:rPr>
              <a:t>Understanding learner engagement and opportunity outcomes through data.</a:t>
            </a:r>
          </a:p>
        </p:txBody>
      </p:sp>
      <p:sp>
        <p:nvSpPr>
          <p:cNvPr id="11" name="Shape 8"/>
          <p:cNvSpPr/>
          <p:nvPr/>
        </p:nvSpPr>
        <p:spPr>
          <a:xfrm>
            <a:off x="548640" y="3794231"/>
            <a:ext cx="1920240" cy="347472"/>
          </a:xfrm>
          <a:prstGeom prst="roundRect">
            <a:avLst>
              <a:gd name="adj" fmla="val 50000"/>
            </a:avLst>
          </a:prstGeom>
          <a:solidFill>
            <a:srgbClr val="FF6A00"/>
          </a:solidFill>
          <a:ln w="12700">
            <a:solidFill>
              <a:srgbClr val="FF6A00"/>
            </a:solidFill>
            <a:prstDash val="solid"/>
          </a:ln>
        </p:spPr>
        <p:txBody>
          <a:bodyPr/>
          <a:lstStyle/>
          <a:p>
            <a:endParaRPr lang="en-US" dirty="0"/>
          </a:p>
        </p:txBody>
      </p:sp>
      <p:sp>
        <p:nvSpPr>
          <p:cNvPr id="12" name="Text 9"/>
          <p:cNvSpPr txBox="1"/>
          <p:nvPr/>
        </p:nvSpPr>
        <p:spPr>
          <a:xfrm>
            <a:off x="622210" y="3794231"/>
            <a:ext cx="1774146" cy="347472"/>
          </a:xfrm>
          <a:prstGeom prst="rect">
            <a:avLst/>
          </a:prstGeom>
          <a:noFill/>
          <a:ln/>
        </p:spPr>
        <p:txBody>
          <a:bodyPr wrap="square" lIns="0" tIns="0" rIns="0" bIns="0" rtlCol="0" anchor="ctr"/>
          <a:lstStyle/>
          <a:p>
            <a:pPr marL="0" indent="0" algn="ctr">
              <a:buNone/>
            </a:pPr>
            <a:r>
              <a:rPr lang="en-US" sz="1150" b="1" dirty="0">
                <a:solidFill>
                  <a:srgbClr val="111111"/>
                </a:solidFill>
                <a:latin typeface="Calibri" pitchFamily="34" charset="0"/>
                <a:ea typeface="Calibri" pitchFamily="34" charset="-122"/>
                <a:cs typeface="Calibri" pitchFamily="34" charset="-120"/>
              </a:rPr>
              <a:t>Data Analysis Project</a:t>
            </a:r>
            <a:endParaRPr lang="en-US" sz="1150" dirty="0"/>
          </a:p>
        </p:txBody>
      </p:sp>
      <p:sp>
        <p:nvSpPr>
          <p:cNvPr id="13" name="Text 10"/>
          <p:cNvSpPr txBox="1"/>
          <p:nvPr/>
        </p:nvSpPr>
        <p:spPr>
          <a:xfrm>
            <a:off x="548640" y="4343400"/>
            <a:ext cx="4572000" cy="274320"/>
          </a:xfrm>
          <a:prstGeom prst="rect">
            <a:avLst/>
          </a:prstGeom>
          <a:noFill/>
          <a:ln/>
        </p:spPr>
        <p:txBody>
          <a:bodyPr wrap="square" lIns="0" tIns="0" rIns="0" bIns="0" rtlCol="0" anchor="ctr"/>
          <a:lstStyle/>
          <a:p>
            <a:pPr marL="0" indent="0">
              <a:buNone/>
            </a:pPr>
            <a:r>
              <a:rPr lang="en-US" sz="1200" dirty="0">
                <a:solidFill>
                  <a:srgbClr val="9A9A9A"/>
                </a:solidFill>
                <a:latin typeface="Calibri" pitchFamily="34" charset="0"/>
                <a:ea typeface="Calibri" pitchFamily="34" charset="-122"/>
                <a:cs typeface="Calibri" pitchFamily="34" charset="-120"/>
              </a:rPr>
              <a:t>Team 8 |October 2026.</a:t>
            </a:r>
            <a:endParaRPr lang="en-US" sz="1200" dirty="0"/>
          </a:p>
        </p:txBody>
      </p:sp>
      <p:sp>
        <p:nvSpPr>
          <p:cNvPr id="16" name="TextBox 15">
            <a:extLst>
              <a:ext uri="{FF2B5EF4-FFF2-40B4-BE49-F238E27FC236}">
                <a16:creationId xmlns:a16="http://schemas.microsoft.com/office/drawing/2014/main" id="{F1D5E98B-020F-D43B-124D-0337BE1B6C0F}"/>
              </a:ext>
            </a:extLst>
          </p:cNvPr>
          <p:cNvSpPr txBox="1"/>
          <p:nvPr/>
        </p:nvSpPr>
        <p:spPr>
          <a:xfrm>
            <a:off x="462980" y="2756041"/>
            <a:ext cx="4109020" cy="230832"/>
          </a:xfrm>
          <a:prstGeom prst="rect">
            <a:avLst/>
          </a:prstGeom>
          <a:noFill/>
        </p:spPr>
        <p:txBody>
          <a:bodyPr wrap="square">
            <a:spAutoFit/>
          </a:bodyPr>
          <a:lstStyle/>
          <a:p>
            <a:r>
              <a:rPr lang="en-US" sz="900" dirty="0">
                <a:solidFill>
                  <a:srgbClr val="CFCFCF"/>
                </a:solidFill>
                <a:latin typeface="Calibri" pitchFamily="34" charset="0"/>
                <a:ea typeface="Calibri" pitchFamily="34" charset="-122"/>
                <a:cs typeface="Calibri" pitchFamily="34" charset="-120"/>
              </a:rPr>
              <a:t>(https://datastudio.google.com/reporting/eaa5661f-8f42-44c9-a769-ace0c079b084)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ctr"/>
          <a:lstStyle/>
          <a:p>
            <a:pPr marL="0" indent="0">
              <a:buNone/>
            </a:pPr>
            <a:r>
              <a:rPr lang="en-US" sz="1050" b="1" kern="0" spc="300" dirty="0">
                <a:solidFill>
                  <a:srgbClr val="FF6A00"/>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457200" y="548640"/>
            <a:ext cx="7315200" cy="594360"/>
          </a:xfrm>
          <a:prstGeom prst="rect">
            <a:avLst/>
          </a:prstGeom>
          <a:noFill/>
          <a:ln/>
        </p:spPr>
        <p:txBody>
          <a:bodyPr wrap="square" lIns="0" tIns="0" rIns="0" bIns="0" rtlCol="0" anchor="ctr"/>
          <a:lstStyle/>
          <a:p>
            <a:pPr marL="0" indent="0">
              <a:buNone/>
            </a:pPr>
            <a:r>
              <a:rPr lang="en-US" sz="2800" b="1" dirty="0">
                <a:solidFill>
                  <a:srgbClr val="111111"/>
                </a:solidFill>
                <a:latin typeface="Cambria" pitchFamily="34" charset="0"/>
                <a:ea typeface="Cambria" pitchFamily="34" charset="-122"/>
                <a:cs typeface="Cambria" pitchFamily="34" charset="-120"/>
              </a:rPr>
              <a:t>Table of Contents</a:t>
            </a:r>
            <a:endParaRPr lang="en-US" sz="2800" dirty="0"/>
          </a:p>
        </p:txBody>
      </p:sp>
      <p:sp>
        <p:nvSpPr>
          <p:cNvPr id="4" name="Text 2"/>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
        <p:nvSpPr>
          <p:cNvPr id="6" name="Shape 4"/>
          <p:cNvSpPr/>
          <p:nvPr/>
        </p:nvSpPr>
        <p:spPr>
          <a:xfrm>
            <a:off x="457200" y="1371600"/>
            <a:ext cx="2590495" cy="603504"/>
          </a:xfrm>
          <a:prstGeom prst="roundRect">
            <a:avLst>
              <a:gd name="adj" fmla="val 15152"/>
            </a:avLst>
          </a:prstGeom>
          <a:solidFill>
            <a:srgbClr val="111111"/>
          </a:solidFill>
          <a:ln w="12700">
            <a:solidFill>
              <a:srgbClr val="111111"/>
            </a:solidFill>
            <a:prstDash val="solid"/>
          </a:ln>
        </p:spPr>
        <p:txBody>
          <a:bodyPr/>
          <a:lstStyle/>
          <a:p>
            <a:endParaRPr lang="en-US"/>
          </a:p>
        </p:txBody>
      </p:sp>
      <p:sp>
        <p:nvSpPr>
          <p:cNvPr id="7" name="Text 5"/>
          <p:cNvSpPr txBox="1"/>
          <p:nvPr/>
        </p:nvSpPr>
        <p:spPr>
          <a:xfrm>
            <a:off x="640080" y="1426464"/>
            <a:ext cx="1828800" cy="201168"/>
          </a:xfrm>
          <a:prstGeom prst="rect">
            <a:avLst/>
          </a:prstGeom>
          <a:noFill/>
          <a:ln/>
        </p:spPr>
        <p:txBody>
          <a:bodyPr wrap="square" lIns="0" tIns="0" rIns="0" bIns="0" rtlCol="0" anchor="ctr"/>
          <a:lstStyle/>
          <a:p>
            <a:pPr marL="0" indent="0">
              <a:buNone/>
            </a:pPr>
            <a:r>
              <a:rPr lang="en-US" sz="900" b="1" kern="0" spc="300" dirty="0">
                <a:solidFill>
                  <a:srgbClr val="FF6A00"/>
                </a:solidFill>
                <a:latin typeface="Calibri" pitchFamily="34" charset="0"/>
                <a:ea typeface="Calibri" pitchFamily="34" charset="-122"/>
                <a:cs typeface="Calibri" pitchFamily="34" charset="-120"/>
              </a:rPr>
              <a:t>PART A</a:t>
            </a:r>
            <a:endParaRPr lang="en-US" sz="900" dirty="0"/>
          </a:p>
        </p:txBody>
      </p:sp>
      <p:sp>
        <p:nvSpPr>
          <p:cNvPr id="8" name="Text 6"/>
          <p:cNvSpPr txBox="1"/>
          <p:nvPr/>
        </p:nvSpPr>
        <p:spPr>
          <a:xfrm>
            <a:off x="640080" y="1618488"/>
            <a:ext cx="2194560" cy="29260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Foundation</a:t>
            </a:r>
            <a:endParaRPr lang="en-US" sz="1600" dirty="0"/>
          </a:p>
        </p:txBody>
      </p:sp>
      <p:sp>
        <p:nvSpPr>
          <p:cNvPr id="9" name="Shape 7"/>
          <p:cNvSpPr/>
          <p:nvPr/>
        </p:nvSpPr>
        <p:spPr>
          <a:xfrm>
            <a:off x="457200" y="2103120"/>
            <a:ext cx="2590495" cy="1316736"/>
          </a:xfrm>
          <a:prstGeom prst="roundRect">
            <a:avLst>
              <a:gd name="adj" fmla="val 6944"/>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10" name="Shape 8"/>
          <p:cNvSpPr/>
          <p:nvPr/>
        </p:nvSpPr>
        <p:spPr>
          <a:xfrm>
            <a:off x="594360" y="2276856"/>
            <a:ext cx="365760" cy="365760"/>
          </a:xfrm>
          <a:prstGeom prst="ellipse">
            <a:avLst/>
          </a:prstGeom>
          <a:solidFill>
            <a:srgbClr val="FF6A00"/>
          </a:solidFill>
          <a:ln w="12700">
            <a:solidFill>
              <a:srgbClr val="FF6A00"/>
            </a:solidFill>
            <a:prstDash val="solid"/>
          </a:ln>
        </p:spPr>
        <p:txBody>
          <a:bodyPr/>
          <a:lstStyle/>
          <a:p>
            <a:endParaRPr lang="en-US"/>
          </a:p>
        </p:txBody>
      </p:sp>
      <p:sp>
        <p:nvSpPr>
          <p:cNvPr id="11" name="Text 9"/>
          <p:cNvSpPr txBox="1"/>
          <p:nvPr/>
        </p:nvSpPr>
        <p:spPr>
          <a:xfrm>
            <a:off x="594360" y="22768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1097280" y="2194560"/>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Team Charter</a:t>
            </a:r>
            <a:endParaRPr lang="en-US" sz="1150" dirty="0"/>
          </a:p>
        </p:txBody>
      </p:sp>
      <p:sp>
        <p:nvSpPr>
          <p:cNvPr id="13" name="Shape 11"/>
          <p:cNvSpPr/>
          <p:nvPr/>
        </p:nvSpPr>
        <p:spPr>
          <a:xfrm>
            <a:off x="594360" y="2880360"/>
            <a:ext cx="365760" cy="365760"/>
          </a:xfrm>
          <a:prstGeom prst="ellipse">
            <a:avLst/>
          </a:prstGeom>
          <a:solidFill>
            <a:srgbClr val="FF6A00"/>
          </a:solidFill>
          <a:ln w="12700">
            <a:solidFill>
              <a:srgbClr val="FF6A00"/>
            </a:solidFill>
            <a:prstDash val="solid"/>
          </a:ln>
        </p:spPr>
        <p:txBody>
          <a:bodyPr/>
          <a:lstStyle/>
          <a:p>
            <a:endParaRPr lang="en-US"/>
          </a:p>
        </p:txBody>
      </p:sp>
      <p:sp>
        <p:nvSpPr>
          <p:cNvPr id="14" name="Text 12"/>
          <p:cNvSpPr txBox="1"/>
          <p:nvPr/>
        </p:nvSpPr>
        <p:spPr>
          <a:xfrm>
            <a:off x="594360" y="2880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097280" y="2798064"/>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Project Overview</a:t>
            </a:r>
            <a:endParaRPr lang="en-US" sz="1150" dirty="0"/>
          </a:p>
        </p:txBody>
      </p:sp>
      <p:sp>
        <p:nvSpPr>
          <p:cNvPr id="16" name="Shape 14"/>
          <p:cNvSpPr/>
          <p:nvPr/>
        </p:nvSpPr>
        <p:spPr>
          <a:xfrm>
            <a:off x="3276295" y="1371600"/>
            <a:ext cx="2590495" cy="603504"/>
          </a:xfrm>
          <a:prstGeom prst="roundRect">
            <a:avLst>
              <a:gd name="adj" fmla="val 15152"/>
            </a:avLst>
          </a:prstGeom>
          <a:solidFill>
            <a:srgbClr val="111111"/>
          </a:solidFill>
          <a:ln w="12700">
            <a:solidFill>
              <a:srgbClr val="111111"/>
            </a:solidFill>
            <a:prstDash val="solid"/>
          </a:ln>
        </p:spPr>
        <p:txBody>
          <a:bodyPr/>
          <a:lstStyle/>
          <a:p>
            <a:endParaRPr lang="en-US"/>
          </a:p>
        </p:txBody>
      </p:sp>
      <p:sp>
        <p:nvSpPr>
          <p:cNvPr id="17" name="Text 15"/>
          <p:cNvSpPr txBox="1"/>
          <p:nvPr/>
        </p:nvSpPr>
        <p:spPr>
          <a:xfrm>
            <a:off x="3459175" y="1426464"/>
            <a:ext cx="1828800" cy="201168"/>
          </a:xfrm>
          <a:prstGeom prst="rect">
            <a:avLst/>
          </a:prstGeom>
          <a:noFill/>
          <a:ln/>
        </p:spPr>
        <p:txBody>
          <a:bodyPr wrap="square" lIns="0" tIns="0" rIns="0" bIns="0" rtlCol="0" anchor="ctr"/>
          <a:lstStyle/>
          <a:p>
            <a:pPr marL="0" indent="0">
              <a:buNone/>
            </a:pPr>
            <a:r>
              <a:rPr lang="en-US" sz="900" b="1" kern="0" spc="300" dirty="0">
                <a:solidFill>
                  <a:srgbClr val="FF6A00"/>
                </a:solidFill>
                <a:latin typeface="Calibri" pitchFamily="34" charset="0"/>
                <a:ea typeface="Calibri" pitchFamily="34" charset="-122"/>
                <a:cs typeface="Calibri" pitchFamily="34" charset="-120"/>
              </a:rPr>
              <a:t>PART B</a:t>
            </a:r>
            <a:endParaRPr lang="en-US" sz="900" dirty="0"/>
          </a:p>
        </p:txBody>
      </p:sp>
      <p:sp>
        <p:nvSpPr>
          <p:cNvPr id="18" name="Text 16"/>
          <p:cNvSpPr txBox="1"/>
          <p:nvPr/>
        </p:nvSpPr>
        <p:spPr>
          <a:xfrm>
            <a:off x="3459175" y="1618488"/>
            <a:ext cx="2194560" cy="29260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Analysis</a:t>
            </a:r>
            <a:endParaRPr lang="en-US" sz="1600" dirty="0"/>
          </a:p>
        </p:txBody>
      </p:sp>
      <p:sp>
        <p:nvSpPr>
          <p:cNvPr id="19" name="Shape 17"/>
          <p:cNvSpPr/>
          <p:nvPr/>
        </p:nvSpPr>
        <p:spPr>
          <a:xfrm>
            <a:off x="3276295" y="2103120"/>
            <a:ext cx="2590495" cy="1920240"/>
          </a:xfrm>
          <a:prstGeom prst="roundRect">
            <a:avLst>
              <a:gd name="adj" fmla="val 4762"/>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20" name="Shape 18"/>
          <p:cNvSpPr/>
          <p:nvPr/>
        </p:nvSpPr>
        <p:spPr>
          <a:xfrm>
            <a:off x="3413455" y="2276856"/>
            <a:ext cx="365760" cy="365760"/>
          </a:xfrm>
          <a:prstGeom prst="ellipse">
            <a:avLst/>
          </a:prstGeom>
          <a:solidFill>
            <a:srgbClr val="FF6A00"/>
          </a:solidFill>
          <a:ln w="12700">
            <a:solidFill>
              <a:srgbClr val="FF6A00"/>
            </a:solidFill>
            <a:prstDash val="solid"/>
          </a:ln>
        </p:spPr>
        <p:txBody>
          <a:bodyPr/>
          <a:lstStyle/>
          <a:p>
            <a:endParaRPr lang="en-US"/>
          </a:p>
        </p:txBody>
      </p:sp>
      <p:sp>
        <p:nvSpPr>
          <p:cNvPr id="21" name="Text 19"/>
          <p:cNvSpPr txBox="1"/>
          <p:nvPr/>
        </p:nvSpPr>
        <p:spPr>
          <a:xfrm>
            <a:off x="3413455" y="22768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3916375" y="2194560"/>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Dataset Overview</a:t>
            </a:r>
            <a:endParaRPr lang="en-US" sz="1150" dirty="0"/>
          </a:p>
        </p:txBody>
      </p:sp>
      <p:sp>
        <p:nvSpPr>
          <p:cNvPr id="23" name="Shape 21"/>
          <p:cNvSpPr/>
          <p:nvPr/>
        </p:nvSpPr>
        <p:spPr>
          <a:xfrm>
            <a:off x="3413455" y="2880360"/>
            <a:ext cx="365760" cy="365760"/>
          </a:xfrm>
          <a:prstGeom prst="ellipse">
            <a:avLst/>
          </a:prstGeom>
          <a:solidFill>
            <a:srgbClr val="FF6A00"/>
          </a:solidFill>
          <a:ln w="12700">
            <a:solidFill>
              <a:srgbClr val="FF6A00"/>
            </a:solidFill>
            <a:prstDash val="solid"/>
          </a:ln>
        </p:spPr>
        <p:txBody>
          <a:bodyPr/>
          <a:lstStyle/>
          <a:p>
            <a:endParaRPr lang="en-US"/>
          </a:p>
        </p:txBody>
      </p:sp>
      <p:sp>
        <p:nvSpPr>
          <p:cNvPr id="24" name="Text 22"/>
          <p:cNvSpPr txBox="1"/>
          <p:nvPr/>
        </p:nvSpPr>
        <p:spPr>
          <a:xfrm>
            <a:off x="3413455" y="2880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3916375" y="2798064"/>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Analysis Approach</a:t>
            </a:r>
            <a:endParaRPr lang="en-US" sz="1150" dirty="0"/>
          </a:p>
        </p:txBody>
      </p:sp>
      <p:sp>
        <p:nvSpPr>
          <p:cNvPr id="26" name="Shape 24"/>
          <p:cNvSpPr/>
          <p:nvPr/>
        </p:nvSpPr>
        <p:spPr>
          <a:xfrm>
            <a:off x="3413455" y="3483864"/>
            <a:ext cx="365760" cy="365760"/>
          </a:xfrm>
          <a:prstGeom prst="ellipse">
            <a:avLst/>
          </a:prstGeom>
          <a:solidFill>
            <a:srgbClr val="FF6A00"/>
          </a:solidFill>
          <a:ln w="12700">
            <a:solidFill>
              <a:srgbClr val="FF6A00"/>
            </a:solidFill>
            <a:prstDash val="solid"/>
          </a:ln>
        </p:spPr>
        <p:txBody>
          <a:bodyPr/>
          <a:lstStyle/>
          <a:p>
            <a:endParaRPr lang="en-US"/>
          </a:p>
        </p:txBody>
      </p:sp>
      <p:sp>
        <p:nvSpPr>
          <p:cNvPr id="27" name="Text 25"/>
          <p:cNvSpPr txBox="1"/>
          <p:nvPr/>
        </p:nvSpPr>
        <p:spPr>
          <a:xfrm>
            <a:off x="3413455" y="3483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3916375" y="3401568"/>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Data Cleaning &amp; Quality Improvements</a:t>
            </a:r>
            <a:endParaRPr lang="en-US" sz="1150" dirty="0"/>
          </a:p>
        </p:txBody>
      </p:sp>
      <p:sp>
        <p:nvSpPr>
          <p:cNvPr id="29" name="Shape 27"/>
          <p:cNvSpPr/>
          <p:nvPr/>
        </p:nvSpPr>
        <p:spPr>
          <a:xfrm>
            <a:off x="6096305" y="1371600"/>
            <a:ext cx="2590495" cy="603504"/>
          </a:xfrm>
          <a:prstGeom prst="roundRect">
            <a:avLst>
              <a:gd name="adj" fmla="val 15152"/>
            </a:avLst>
          </a:prstGeom>
          <a:solidFill>
            <a:srgbClr val="111111"/>
          </a:solidFill>
          <a:ln w="12700">
            <a:solidFill>
              <a:srgbClr val="111111"/>
            </a:solidFill>
            <a:prstDash val="solid"/>
          </a:ln>
        </p:spPr>
        <p:txBody>
          <a:bodyPr/>
          <a:lstStyle/>
          <a:p>
            <a:endParaRPr lang="en-US"/>
          </a:p>
        </p:txBody>
      </p:sp>
      <p:sp>
        <p:nvSpPr>
          <p:cNvPr id="30" name="Text 28"/>
          <p:cNvSpPr txBox="1"/>
          <p:nvPr/>
        </p:nvSpPr>
        <p:spPr>
          <a:xfrm>
            <a:off x="6279185" y="1426464"/>
            <a:ext cx="1828800" cy="201168"/>
          </a:xfrm>
          <a:prstGeom prst="rect">
            <a:avLst/>
          </a:prstGeom>
          <a:noFill/>
          <a:ln/>
        </p:spPr>
        <p:txBody>
          <a:bodyPr wrap="square" lIns="0" tIns="0" rIns="0" bIns="0" rtlCol="0" anchor="ctr"/>
          <a:lstStyle/>
          <a:p>
            <a:pPr marL="0" indent="0">
              <a:buNone/>
            </a:pPr>
            <a:r>
              <a:rPr lang="en-US" sz="900" b="1" kern="0" spc="300" dirty="0">
                <a:solidFill>
                  <a:srgbClr val="FF6A00"/>
                </a:solidFill>
                <a:latin typeface="Calibri" pitchFamily="34" charset="0"/>
                <a:ea typeface="Calibri" pitchFamily="34" charset="-122"/>
                <a:cs typeface="Calibri" pitchFamily="34" charset="-120"/>
              </a:rPr>
              <a:t>PART C</a:t>
            </a:r>
            <a:endParaRPr lang="en-US" sz="900" dirty="0"/>
          </a:p>
        </p:txBody>
      </p:sp>
      <p:sp>
        <p:nvSpPr>
          <p:cNvPr id="31" name="Text 29"/>
          <p:cNvSpPr txBox="1"/>
          <p:nvPr/>
        </p:nvSpPr>
        <p:spPr>
          <a:xfrm>
            <a:off x="6279185" y="1618488"/>
            <a:ext cx="2194560" cy="29260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Insights</a:t>
            </a:r>
            <a:endParaRPr lang="en-US" sz="1600" dirty="0"/>
          </a:p>
        </p:txBody>
      </p:sp>
      <p:sp>
        <p:nvSpPr>
          <p:cNvPr id="32" name="Shape 30"/>
          <p:cNvSpPr/>
          <p:nvPr/>
        </p:nvSpPr>
        <p:spPr>
          <a:xfrm>
            <a:off x="6096305" y="2103120"/>
            <a:ext cx="2590495" cy="2523744"/>
          </a:xfrm>
          <a:prstGeom prst="roundRect">
            <a:avLst>
              <a:gd name="adj" fmla="val 3623"/>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33" name="Shape 31"/>
          <p:cNvSpPr/>
          <p:nvPr/>
        </p:nvSpPr>
        <p:spPr>
          <a:xfrm>
            <a:off x="6233465" y="2276856"/>
            <a:ext cx="365760" cy="365760"/>
          </a:xfrm>
          <a:prstGeom prst="ellipse">
            <a:avLst/>
          </a:prstGeom>
          <a:solidFill>
            <a:srgbClr val="FF6A00"/>
          </a:solidFill>
          <a:ln w="12700">
            <a:solidFill>
              <a:srgbClr val="FF6A00"/>
            </a:solidFill>
            <a:prstDash val="solid"/>
          </a:ln>
        </p:spPr>
        <p:txBody>
          <a:bodyPr/>
          <a:lstStyle/>
          <a:p>
            <a:endParaRPr lang="en-US"/>
          </a:p>
        </p:txBody>
      </p:sp>
      <p:sp>
        <p:nvSpPr>
          <p:cNvPr id="34" name="Text 32"/>
          <p:cNvSpPr txBox="1"/>
          <p:nvPr/>
        </p:nvSpPr>
        <p:spPr>
          <a:xfrm>
            <a:off x="6233465" y="22768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3"/>
          <p:cNvSpPr txBox="1"/>
          <p:nvPr/>
        </p:nvSpPr>
        <p:spPr>
          <a:xfrm>
            <a:off x="6736385" y="2194560"/>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Key Dashboard Visualizations</a:t>
            </a:r>
            <a:endParaRPr lang="en-US" sz="1150" dirty="0"/>
          </a:p>
        </p:txBody>
      </p:sp>
      <p:sp>
        <p:nvSpPr>
          <p:cNvPr id="36" name="Shape 34"/>
          <p:cNvSpPr/>
          <p:nvPr/>
        </p:nvSpPr>
        <p:spPr>
          <a:xfrm>
            <a:off x="6233465" y="2880360"/>
            <a:ext cx="365760" cy="365760"/>
          </a:xfrm>
          <a:prstGeom prst="ellipse">
            <a:avLst/>
          </a:prstGeom>
          <a:solidFill>
            <a:srgbClr val="FF6A00"/>
          </a:solidFill>
          <a:ln w="12700">
            <a:solidFill>
              <a:srgbClr val="FF6A00"/>
            </a:solidFill>
            <a:prstDash val="solid"/>
          </a:ln>
        </p:spPr>
        <p:txBody>
          <a:bodyPr/>
          <a:lstStyle/>
          <a:p>
            <a:endParaRPr lang="en-US"/>
          </a:p>
        </p:txBody>
      </p:sp>
      <p:sp>
        <p:nvSpPr>
          <p:cNvPr id="37" name="Text 35"/>
          <p:cNvSpPr txBox="1"/>
          <p:nvPr/>
        </p:nvSpPr>
        <p:spPr>
          <a:xfrm>
            <a:off x="6233465" y="28803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8" name="Text 36"/>
          <p:cNvSpPr txBox="1"/>
          <p:nvPr/>
        </p:nvSpPr>
        <p:spPr>
          <a:xfrm>
            <a:off x="6736385" y="2798064"/>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Major Findings &amp; Insights</a:t>
            </a:r>
            <a:endParaRPr lang="en-US" sz="1150" dirty="0"/>
          </a:p>
        </p:txBody>
      </p:sp>
      <p:sp>
        <p:nvSpPr>
          <p:cNvPr id="39" name="Shape 37"/>
          <p:cNvSpPr/>
          <p:nvPr/>
        </p:nvSpPr>
        <p:spPr>
          <a:xfrm>
            <a:off x="6233465" y="3483864"/>
            <a:ext cx="365760" cy="365760"/>
          </a:xfrm>
          <a:prstGeom prst="ellipse">
            <a:avLst/>
          </a:prstGeom>
          <a:solidFill>
            <a:srgbClr val="FF6A00"/>
          </a:solidFill>
          <a:ln w="12700">
            <a:solidFill>
              <a:srgbClr val="FF6A00"/>
            </a:solidFill>
            <a:prstDash val="solid"/>
          </a:ln>
        </p:spPr>
        <p:txBody>
          <a:bodyPr/>
          <a:lstStyle/>
          <a:p>
            <a:endParaRPr lang="en-US"/>
          </a:p>
        </p:txBody>
      </p:sp>
      <p:sp>
        <p:nvSpPr>
          <p:cNvPr id="40" name="Text 38"/>
          <p:cNvSpPr txBox="1"/>
          <p:nvPr/>
        </p:nvSpPr>
        <p:spPr>
          <a:xfrm>
            <a:off x="6233465" y="3483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1" name="Text 39"/>
          <p:cNvSpPr txBox="1"/>
          <p:nvPr/>
        </p:nvSpPr>
        <p:spPr>
          <a:xfrm>
            <a:off x="6736385" y="3401568"/>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Recommendations</a:t>
            </a:r>
            <a:endParaRPr lang="en-US" sz="1150" dirty="0"/>
          </a:p>
        </p:txBody>
      </p:sp>
      <p:sp>
        <p:nvSpPr>
          <p:cNvPr id="42" name="Shape 40"/>
          <p:cNvSpPr/>
          <p:nvPr/>
        </p:nvSpPr>
        <p:spPr>
          <a:xfrm>
            <a:off x="6233465" y="4087368"/>
            <a:ext cx="365760" cy="365760"/>
          </a:xfrm>
          <a:prstGeom prst="ellipse">
            <a:avLst/>
          </a:prstGeom>
          <a:solidFill>
            <a:srgbClr val="FF6A00"/>
          </a:solidFill>
          <a:ln w="12700">
            <a:solidFill>
              <a:srgbClr val="FF6A00"/>
            </a:solidFill>
            <a:prstDash val="solid"/>
          </a:ln>
        </p:spPr>
        <p:txBody>
          <a:bodyPr/>
          <a:lstStyle/>
          <a:p>
            <a:endParaRPr lang="en-US"/>
          </a:p>
        </p:txBody>
      </p:sp>
      <p:sp>
        <p:nvSpPr>
          <p:cNvPr id="43" name="Text 41"/>
          <p:cNvSpPr txBox="1"/>
          <p:nvPr/>
        </p:nvSpPr>
        <p:spPr>
          <a:xfrm>
            <a:off x="6233465" y="40873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4" name="Text 42"/>
          <p:cNvSpPr txBox="1"/>
          <p:nvPr/>
        </p:nvSpPr>
        <p:spPr>
          <a:xfrm>
            <a:off x="6736385" y="4005072"/>
            <a:ext cx="1828800" cy="530352"/>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Conclusion</a:t>
            </a:r>
            <a:endParaRPr lang="en-US" sz="1150" dirty="0"/>
          </a:p>
        </p:txBody>
      </p:sp>
      <p:sp>
        <p:nvSpPr>
          <p:cNvPr id="48" name="Shape 2">
            <a:extLst>
              <a:ext uri="{FF2B5EF4-FFF2-40B4-BE49-F238E27FC236}">
                <a16:creationId xmlns:a16="http://schemas.microsoft.com/office/drawing/2014/main" id="{F394CCA8-4114-4003-BC9C-1907765EE1FC}"/>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50" name="Text 3">
            <a:extLst>
              <a:ext uri="{FF2B5EF4-FFF2-40B4-BE49-F238E27FC236}">
                <a16:creationId xmlns:a16="http://schemas.microsoft.com/office/drawing/2014/main" id="{262C1B74-715E-4E7E-726C-FCDE5679B425}"/>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ctr"/>
          <a:lstStyle/>
          <a:p>
            <a:pPr marL="0" indent="0">
              <a:buNone/>
            </a:pPr>
            <a:r>
              <a:rPr lang="en-US" sz="1050" b="1" kern="0" spc="300" dirty="0">
                <a:solidFill>
                  <a:srgbClr val="FF6A00"/>
                </a:solidFill>
                <a:latin typeface="Calibri" pitchFamily="34" charset="0"/>
                <a:ea typeface="Calibri" pitchFamily="34" charset="-122"/>
                <a:cs typeface="Calibri" pitchFamily="34" charset="-120"/>
              </a:rPr>
              <a:t>PART A  ·  FOUNDATION</a:t>
            </a:r>
            <a:endParaRPr lang="en-US" sz="1050" dirty="0"/>
          </a:p>
        </p:txBody>
      </p:sp>
      <p:sp>
        <p:nvSpPr>
          <p:cNvPr id="3" name="Text 1"/>
          <p:cNvSpPr txBox="1"/>
          <p:nvPr/>
        </p:nvSpPr>
        <p:spPr>
          <a:xfrm>
            <a:off x="457200" y="548640"/>
            <a:ext cx="7315200" cy="594360"/>
          </a:xfrm>
          <a:prstGeom prst="rect">
            <a:avLst/>
          </a:prstGeom>
          <a:noFill/>
          <a:ln/>
        </p:spPr>
        <p:txBody>
          <a:bodyPr wrap="square" lIns="0" tIns="0" rIns="0" bIns="0" rtlCol="0" anchor="ctr"/>
          <a:lstStyle/>
          <a:p>
            <a:pPr marL="0" indent="0">
              <a:buNone/>
            </a:pPr>
            <a:r>
              <a:rPr lang="en-US" sz="2800" b="1" dirty="0">
                <a:solidFill>
                  <a:srgbClr val="111111"/>
                </a:solidFill>
                <a:latin typeface="Cambria" pitchFamily="34" charset="0"/>
                <a:ea typeface="Cambria" pitchFamily="34" charset="-122"/>
                <a:cs typeface="Cambria" pitchFamily="34" charset="-120"/>
              </a:rPr>
              <a:t>Team Charter</a:t>
            </a:r>
            <a:endParaRPr lang="en-US" sz="2800" dirty="0"/>
          </a:p>
        </p:txBody>
      </p:sp>
      <p:sp>
        <p:nvSpPr>
          <p:cNvPr id="4" name="Shape 2"/>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5" name="Text 3"/>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02</a:t>
            </a:r>
            <a:endParaRPr lang="en-US" sz="1400" dirty="0"/>
          </a:p>
        </p:txBody>
      </p:sp>
      <p:sp>
        <p:nvSpPr>
          <p:cNvPr id="6" name="Text 4"/>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
        <p:nvSpPr>
          <p:cNvPr id="8" name="Shape 6"/>
          <p:cNvSpPr/>
          <p:nvPr/>
        </p:nvSpPr>
        <p:spPr>
          <a:xfrm>
            <a:off x="457200" y="1371600"/>
            <a:ext cx="2926080" cy="3154680"/>
          </a:xfrm>
          <a:prstGeom prst="roundRect">
            <a:avLst>
              <a:gd name="adj" fmla="val 3125"/>
            </a:avLst>
          </a:prstGeom>
          <a:solidFill>
            <a:srgbClr val="111111"/>
          </a:solidFill>
          <a:ln w="12700">
            <a:solidFill>
              <a:srgbClr val="111111"/>
            </a:solidFill>
            <a:prstDash val="solid"/>
          </a:ln>
        </p:spPr>
        <p:txBody>
          <a:bodyPr/>
          <a:lstStyle/>
          <a:p>
            <a:endParaRPr lang="en-US"/>
          </a:p>
        </p:txBody>
      </p:sp>
      <p:sp>
        <p:nvSpPr>
          <p:cNvPr id="9" name="Shape 7"/>
          <p:cNvSpPr/>
          <p:nvPr/>
        </p:nvSpPr>
        <p:spPr>
          <a:xfrm>
            <a:off x="685800" y="1600200"/>
            <a:ext cx="502920" cy="502920"/>
          </a:xfrm>
          <a:prstGeom prst="ellipse">
            <a:avLst/>
          </a:prstGeom>
          <a:solidFill>
            <a:srgbClr val="FF6A00"/>
          </a:solidFill>
          <a:ln w="12700">
            <a:solidFill>
              <a:srgbClr val="FF6A00"/>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811530" y="1725930"/>
            <a:ext cx="251460" cy="251460"/>
          </a:xfrm>
          <a:prstGeom prst="rect">
            <a:avLst/>
          </a:prstGeom>
        </p:spPr>
      </p:pic>
      <p:sp>
        <p:nvSpPr>
          <p:cNvPr id="11" name="Text 8"/>
          <p:cNvSpPr txBox="1"/>
          <p:nvPr/>
        </p:nvSpPr>
        <p:spPr>
          <a:xfrm>
            <a:off x="685800" y="2240280"/>
            <a:ext cx="2468880" cy="32004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Team Mission</a:t>
            </a:r>
            <a:endParaRPr lang="en-US" sz="1700" dirty="0"/>
          </a:p>
        </p:txBody>
      </p:sp>
      <p:sp>
        <p:nvSpPr>
          <p:cNvPr id="12" name="Text 9"/>
          <p:cNvSpPr txBox="1"/>
          <p:nvPr/>
        </p:nvSpPr>
        <p:spPr>
          <a:xfrm>
            <a:off x="685800" y="2606040"/>
            <a:ext cx="2468880" cy="1143000"/>
          </a:xfrm>
          <a:prstGeom prst="rect">
            <a:avLst/>
          </a:prstGeom>
          <a:noFill/>
          <a:ln/>
        </p:spPr>
        <p:txBody>
          <a:bodyPr wrap="square" lIns="0" tIns="0" rIns="0" bIns="0" rtlCol="0" anchor="t"/>
          <a:lstStyle/>
          <a:p>
            <a:pPr marL="0" indent="0">
              <a:buNone/>
            </a:pPr>
            <a:r>
              <a:rPr lang="en-US" sz="1150" dirty="0">
                <a:solidFill>
                  <a:srgbClr val="D0D0D0"/>
                </a:solidFill>
                <a:latin typeface="Calibri" pitchFamily="34" charset="0"/>
                <a:ea typeface="Calibri" pitchFamily="34" charset="-122"/>
                <a:cs typeface="Calibri" pitchFamily="34" charset="-120"/>
              </a:rPr>
              <a:t>Deliver accurate, actionable insights on learner engagement and opportunity outcomes that help Excelerate connect more learners with the right opportunities.</a:t>
            </a:r>
            <a:endParaRPr lang="en-US" sz="1150" dirty="0"/>
          </a:p>
        </p:txBody>
      </p:sp>
      <p:sp>
        <p:nvSpPr>
          <p:cNvPr id="13" name="Text 10"/>
          <p:cNvSpPr txBox="1"/>
          <p:nvPr/>
        </p:nvSpPr>
        <p:spPr>
          <a:xfrm>
            <a:off x="685800" y="3840480"/>
            <a:ext cx="2468880" cy="201168"/>
          </a:xfrm>
          <a:prstGeom prst="rect">
            <a:avLst/>
          </a:prstGeom>
          <a:noFill/>
          <a:ln/>
        </p:spPr>
        <p:txBody>
          <a:bodyPr wrap="square" lIns="0" tIns="0" rIns="0" bIns="0" rtlCol="0" anchor="ctr"/>
          <a:lstStyle/>
          <a:p>
            <a:pPr marL="0" indent="0">
              <a:buNone/>
            </a:pPr>
            <a:r>
              <a:rPr lang="en-US" sz="900" b="1" kern="0" spc="300" dirty="0">
                <a:solidFill>
                  <a:srgbClr val="FF6A00"/>
                </a:solidFill>
                <a:latin typeface="Calibri" pitchFamily="34" charset="0"/>
                <a:ea typeface="Calibri" pitchFamily="34" charset="-122"/>
                <a:cs typeface="Calibri" pitchFamily="34" charset="-120"/>
              </a:rPr>
              <a:t>TEAM VALUES</a:t>
            </a:r>
            <a:endParaRPr lang="en-US" sz="900" dirty="0"/>
          </a:p>
        </p:txBody>
      </p:sp>
      <p:sp>
        <p:nvSpPr>
          <p:cNvPr id="14" name="Text 11"/>
          <p:cNvSpPr txBox="1"/>
          <p:nvPr/>
        </p:nvSpPr>
        <p:spPr>
          <a:xfrm>
            <a:off x="685800" y="4069080"/>
            <a:ext cx="25603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Accuracy  ·  Collaboration  ·  Clarity</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3172197525"/>
              </p:ext>
            </p:extLst>
          </p:nvPr>
        </p:nvGraphicFramePr>
        <p:xfrm>
          <a:off x="3611880" y="1371600"/>
          <a:ext cx="5074920" cy="2203704"/>
        </p:xfrm>
        <a:graphic>
          <a:graphicData uri="http://schemas.openxmlformats.org/drawingml/2006/table">
            <a:tbl>
              <a:tblPr/>
              <a:tblGrid>
                <a:gridCol w="1149306">
                  <a:extLst>
                    <a:ext uri="{9D8B030D-6E8A-4147-A177-3AD203B41FA5}">
                      <a16:colId xmlns:a16="http://schemas.microsoft.com/office/drawing/2014/main" val="20000"/>
                    </a:ext>
                  </a:extLst>
                </a:gridCol>
                <a:gridCol w="1365294">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6A0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Team Member</a:t>
                      </a:r>
                      <a:endParaRPr lang="en-US" sz="110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6A0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Responsibility</a:t>
                      </a:r>
                      <a:endParaRPr lang="en-US" sz="110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6A00"/>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222222"/>
                          </a:solidFill>
                          <a:latin typeface="Calibri" pitchFamily="34" charset="0"/>
                          <a:ea typeface="Calibri" pitchFamily="34" charset="-122"/>
                          <a:cs typeface="Calibri" pitchFamily="34" charset="-120"/>
                        </a:rPr>
                        <a:t>Project Lead</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solidFill>
                            <a:srgbClr val="6B6B6B"/>
                          </a:solidFill>
                          <a:latin typeface="Calibri" pitchFamily="34" charset="0"/>
                          <a:ea typeface="Calibri" pitchFamily="34" charset="-122"/>
                          <a:cs typeface="Calibri" pitchFamily="34" charset="-120"/>
                        </a:rPr>
                        <a:t>Naheemat </a:t>
                      </a:r>
                      <a:r>
                        <a:rPr lang="en-US" sz="1050" dirty="0" err="1">
                          <a:solidFill>
                            <a:srgbClr val="6B6B6B"/>
                          </a:solidFill>
                          <a:latin typeface="Calibri" pitchFamily="34" charset="0"/>
                          <a:ea typeface="Calibri" pitchFamily="34" charset="-122"/>
                          <a:cs typeface="Calibri" pitchFamily="34" charset="-120"/>
                        </a:rPr>
                        <a:t>AKinyemi</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Provides overall direction for the project and ensures the team stays aligned with the project objectives.</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050" b="1" dirty="0">
                          <a:solidFill>
                            <a:srgbClr val="222222"/>
                          </a:solidFill>
                          <a:latin typeface="Calibri" pitchFamily="34" charset="0"/>
                          <a:ea typeface="Calibri" pitchFamily="34" charset="-122"/>
                          <a:cs typeface="Calibri" pitchFamily="34" charset="-120"/>
                        </a:rPr>
                        <a:t>Team Lead</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marL="0" indent="0">
                        <a:buNone/>
                      </a:pPr>
                      <a:r>
                        <a:rPr lang="en-US" sz="1050" dirty="0" err="1"/>
                        <a:t>Ilqha</a:t>
                      </a:r>
                      <a:r>
                        <a:rPr lang="en-US" sz="1050" dirty="0"/>
                        <a:t> </a:t>
                      </a:r>
                      <a:r>
                        <a:rPr lang="en-US" sz="1050" dirty="0" err="1"/>
                        <a:t>Mabroor</a:t>
                      </a:r>
                      <a:r>
                        <a:rPr lang="en-US" sz="1050" dirty="0"/>
                        <a:t> Gana Roushan</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dirty="0"/>
                        <a:t>Guides the team’s work, assigns tasks, reviews progress, and ensures quality.</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457200">
                <a:tc>
                  <a:txBody>
                    <a:bodyPr/>
                    <a:lstStyle/>
                    <a:p>
                      <a:pPr marL="0" indent="0">
                        <a:buNone/>
                      </a:pPr>
                      <a:r>
                        <a:rPr lang="en-US" sz="1050" b="1" dirty="0">
                          <a:solidFill>
                            <a:srgbClr val="222222"/>
                          </a:solidFill>
                          <a:latin typeface="Calibri" pitchFamily="34" charset="0"/>
                          <a:ea typeface="Calibri" pitchFamily="34" charset="-122"/>
                          <a:cs typeface="Calibri" pitchFamily="34" charset="-120"/>
                        </a:rPr>
                        <a:t>Project Manager</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050" dirty="0">
                          <a:solidFill>
                            <a:srgbClr val="6B6B6B"/>
                          </a:solidFill>
                          <a:latin typeface="Calibri" pitchFamily="34" charset="0"/>
                          <a:ea typeface="Calibri" pitchFamily="34" charset="-122"/>
                          <a:cs typeface="Calibri" pitchFamily="34" charset="-120"/>
                        </a:rPr>
                        <a:t>Laiba Mir</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tc>
                  <a:txBody>
                    <a:bodyPr/>
                    <a:lstStyle/>
                    <a:p>
                      <a:pPr marL="0" indent="0">
                        <a:buNone/>
                      </a:pPr>
                      <a:r>
                        <a:rPr lang="en-US" sz="1050" dirty="0"/>
                        <a:t>Oversees the project, coordinates tasks timelines, and ensures deliverables are completed.</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222222"/>
                          </a:solidFill>
                          <a:latin typeface="Calibri" pitchFamily="34" charset="0"/>
                          <a:ea typeface="Calibri" pitchFamily="34" charset="-122"/>
                          <a:cs typeface="Calibri" pitchFamily="34" charset="-120"/>
                        </a:rPr>
                        <a:t>Project Scribe</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marL="0" indent="0">
                        <a:buNone/>
                      </a:pPr>
                      <a:r>
                        <a:rPr lang="en-US" sz="1050" dirty="0" err="1">
                          <a:solidFill>
                            <a:srgbClr val="6B6B6B"/>
                          </a:solidFill>
                          <a:latin typeface="Calibri" pitchFamily="34" charset="0"/>
                          <a:ea typeface="Calibri" pitchFamily="34" charset="-122"/>
                          <a:cs typeface="Calibri" pitchFamily="34" charset="-120"/>
                        </a:rPr>
                        <a:t>Omoze</a:t>
                      </a:r>
                      <a:r>
                        <a:rPr lang="en-US" sz="1050" dirty="0">
                          <a:solidFill>
                            <a:srgbClr val="6B6B6B"/>
                          </a:solidFill>
                          <a:latin typeface="Calibri" pitchFamily="34" charset="0"/>
                          <a:ea typeface="Calibri" pitchFamily="34" charset="-122"/>
                          <a:cs typeface="Calibri" pitchFamily="34" charset="-120"/>
                        </a:rPr>
                        <a:t> </a:t>
                      </a:r>
                      <a:r>
                        <a:rPr lang="en-US" sz="1050" dirty="0" err="1">
                          <a:solidFill>
                            <a:srgbClr val="6B6B6B"/>
                          </a:solidFill>
                          <a:latin typeface="Calibri" pitchFamily="34" charset="0"/>
                          <a:ea typeface="Calibri" pitchFamily="34" charset="-122"/>
                          <a:cs typeface="Calibri" pitchFamily="34" charset="-120"/>
                        </a:rPr>
                        <a:t>Ogwogho</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marL="0" indent="0">
                        <a:buNone/>
                      </a:pPr>
                      <a:r>
                        <a:rPr lang="en-US" sz="1050" dirty="0"/>
                        <a:t>Documents meetings, decisions, progress, and important project updates.</a:t>
                      </a:r>
                      <a:endParaRPr lang="en-US" sz="1050" dirty="0">
                        <a:latin typeface="Calibri" charset="0"/>
                        <a:ea typeface="Calibri" charset="0"/>
                        <a:cs typeface="Calibri" charset="0"/>
                      </a:endParaRPr>
                    </a:p>
                  </a:txBody>
                  <a:tcPr marT="0" marB="0" anchor="ct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16" name="Text 12"/>
          <p:cNvSpPr txBox="1"/>
          <p:nvPr/>
        </p:nvSpPr>
        <p:spPr>
          <a:xfrm>
            <a:off x="3611880" y="3720660"/>
            <a:ext cx="2743200" cy="201168"/>
          </a:xfrm>
          <a:prstGeom prst="rect">
            <a:avLst/>
          </a:prstGeom>
          <a:noFill/>
          <a:ln/>
        </p:spPr>
        <p:txBody>
          <a:bodyPr wrap="square" lIns="0" tIns="0" rIns="0" bIns="0" rtlCol="0" anchor="ctr"/>
          <a:lstStyle/>
          <a:p>
            <a:pPr marL="0" indent="0">
              <a:buNone/>
            </a:pPr>
            <a:r>
              <a:rPr lang="en-US" sz="900" b="1" kern="0" spc="300" dirty="0">
                <a:solidFill>
                  <a:srgbClr val="FF6A00"/>
                </a:solidFill>
                <a:latin typeface="Calibri" pitchFamily="34" charset="0"/>
                <a:ea typeface="Calibri" pitchFamily="34" charset="-122"/>
                <a:cs typeface="Calibri" pitchFamily="34" charset="-120"/>
              </a:rPr>
              <a:t>WAYS OF WORKING</a:t>
            </a:r>
            <a:endParaRPr lang="en-US" sz="900" dirty="0"/>
          </a:p>
        </p:txBody>
      </p:sp>
      <p:sp>
        <p:nvSpPr>
          <p:cNvPr id="17" name="Shape 13"/>
          <p:cNvSpPr/>
          <p:nvPr/>
        </p:nvSpPr>
        <p:spPr>
          <a:xfrm>
            <a:off x="3611880" y="3994980"/>
            <a:ext cx="1600200" cy="566928"/>
          </a:xfrm>
          <a:prstGeom prst="roundRect">
            <a:avLst>
              <a:gd name="adj" fmla="val 16129"/>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18" name="Shape 14"/>
          <p:cNvSpPr/>
          <p:nvPr/>
        </p:nvSpPr>
        <p:spPr>
          <a:xfrm>
            <a:off x="3721608" y="4095564"/>
            <a:ext cx="365760" cy="365760"/>
          </a:xfrm>
          <a:prstGeom prst="ellipse">
            <a:avLst/>
          </a:prstGeom>
          <a:solidFill>
            <a:srgbClr val="FF6A00"/>
          </a:solidFill>
          <a:ln w="12700">
            <a:solidFill>
              <a:srgbClr val="FF6A00"/>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3813048" y="4187004"/>
            <a:ext cx="182880" cy="182880"/>
          </a:xfrm>
          <a:prstGeom prst="rect">
            <a:avLst/>
          </a:prstGeom>
        </p:spPr>
      </p:pic>
      <p:sp>
        <p:nvSpPr>
          <p:cNvPr id="20" name="Text 15"/>
          <p:cNvSpPr txBox="1"/>
          <p:nvPr/>
        </p:nvSpPr>
        <p:spPr>
          <a:xfrm>
            <a:off x="4160520" y="3994980"/>
            <a:ext cx="1005840" cy="566928"/>
          </a:xfrm>
          <a:prstGeom prst="rect">
            <a:avLst/>
          </a:prstGeom>
          <a:noFill/>
          <a:ln/>
        </p:spPr>
        <p:txBody>
          <a:bodyPr wrap="square" lIns="0" tIns="0" rIns="0" bIns="0" rtlCol="0" anchor="ctr"/>
          <a:lstStyle/>
          <a:p>
            <a:pPr marL="0" indent="0">
              <a:buNone/>
            </a:pPr>
            <a:r>
              <a:rPr lang="en-US" sz="1050" b="1" dirty="0">
                <a:solidFill>
                  <a:srgbClr val="111111"/>
                </a:solidFill>
                <a:latin typeface="Calibri" pitchFamily="34" charset="0"/>
                <a:ea typeface="Calibri" pitchFamily="34" charset="-122"/>
                <a:cs typeface="Calibri" pitchFamily="34" charset="-120"/>
              </a:rPr>
              <a:t>Weekly syncs</a:t>
            </a:r>
            <a:endParaRPr lang="en-US" sz="1050" dirty="0"/>
          </a:p>
        </p:txBody>
      </p:sp>
      <p:sp>
        <p:nvSpPr>
          <p:cNvPr id="21" name="Shape 16"/>
          <p:cNvSpPr/>
          <p:nvPr/>
        </p:nvSpPr>
        <p:spPr>
          <a:xfrm>
            <a:off x="5349240" y="3994980"/>
            <a:ext cx="1600200" cy="566928"/>
          </a:xfrm>
          <a:prstGeom prst="roundRect">
            <a:avLst>
              <a:gd name="adj" fmla="val 16129"/>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22" name="Shape 17"/>
          <p:cNvSpPr/>
          <p:nvPr/>
        </p:nvSpPr>
        <p:spPr>
          <a:xfrm>
            <a:off x="5458968" y="4095564"/>
            <a:ext cx="365760" cy="365760"/>
          </a:xfrm>
          <a:prstGeom prst="ellipse">
            <a:avLst/>
          </a:prstGeom>
          <a:solidFill>
            <a:srgbClr val="FF6A00"/>
          </a:solidFill>
          <a:ln w="12700">
            <a:solidFill>
              <a:srgbClr val="FF6A00"/>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5550408" y="4187004"/>
            <a:ext cx="182880" cy="182880"/>
          </a:xfrm>
          <a:prstGeom prst="rect">
            <a:avLst/>
          </a:prstGeom>
        </p:spPr>
      </p:pic>
      <p:sp>
        <p:nvSpPr>
          <p:cNvPr id="24" name="Text 18"/>
          <p:cNvSpPr txBox="1"/>
          <p:nvPr/>
        </p:nvSpPr>
        <p:spPr>
          <a:xfrm>
            <a:off x="5897880" y="3994980"/>
            <a:ext cx="1005840" cy="566928"/>
          </a:xfrm>
          <a:prstGeom prst="rect">
            <a:avLst/>
          </a:prstGeom>
          <a:noFill/>
          <a:ln/>
        </p:spPr>
        <p:txBody>
          <a:bodyPr wrap="square" lIns="0" tIns="0" rIns="0" bIns="0" rtlCol="0" anchor="ctr"/>
          <a:lstStyle/>
          <a:p>
            <a:pPr marL="0" indent="0">
              <a:buNone/>
            </a:pPr>
            <a:r>
              <a:rPr lang="en-US" sz="1050" b="1" dirty="0">
                <a:solidFill>
                  <a:srgbClr val="111111"/>
                </a:solidFill>
                <a:latin typeface="Calibri" pitchFamily="34" charset="0"/>
                <a:ea typeface="Calibri" pitchFamily="34" charset="-122"/>
                <a:cs typeface="Calibri" pitchFamily="34" charset="-120"/>
              </a:rPr>
              <a:t>Shared workspace</a:t>
            </a:r>
            <a:endParaRPr lang="en-US" sz="1050" dirty="0"/>
          </a:p>
        </p:txBody>
      </p:sp>
      <p:sp>
        <p:nvSpPr>
          <p:cNvPr id="25" name="Shape 19"/>
          <p:cNvSpPr/>
          <p:nvPr/>
        </p:nvSpPr>
        <p:spPr>
          <a:xfrm>
            <a:off x="7086600" y="3994980"/>
            <a:ext cx="1600200" cy="566928"/>
          </a:xfrm>
          <a:prstGeom prst="roundRect">
            <a:avLst>
              <a:gd name="adj" fmla="val 16129"/>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26" name="Shape 20"/>
          <p:cNvSpPr/>
          <p:nvPr/>
        </p:nvSpPr>
        <p:spPr>
          <a:xfrm>
            <a:off x="7196328" y="4095564"/>
            <a:ext cx="365760" cy="365760"/>
          </a:xfrm>
          <a:prstGeom prst="ellipse">
            <a:avLst/>
          </a:prstGeom>
          <a:solidFill>
            <a:srgbClr val="FF6A00"/>
          </a:solidFill>
          <a:ln w="12700">
            <a:solidFill>
              <a:srgbClr val="FF6A00"/>
            </a:solidFill>
            <a:prstDash val="solid"/>
          </a:ln>
        </p:spPr>
        <p:txBody>
          <a:bodyPr/>
          <a:lstStyle/>
          <a:p>
            <a:endParaRPr lang="en-US"/>
          </a:p>
        </p:txBody>
      </p:sp>
      <p:pic>
        <p:nvPicPr>
          <p:cNvPr id="27" name="Image 3" descr="preencoded.png"/>
          <p:cNvPicPr>
            <a:picLocks noChangeAspect="1"/>
          </p:cNvPicPr>
          <p:nvPr/>
        </p:nvPicPr>
        <p:blipFill>
          <a:blip r:embed="rId6"/>
          <a:stretch>
            <a:fillRect/>
          </a:stretch>
        </p:blipFill>
        <p:spPr>
          <a:xfrm>
            <a:off x="7287768" y="4187004"/>
            <a:ext cx="182880" cy="182880"/>
          </a:xfrm>
          <a:prstGeom prst="rect">
            <a:avLst/>
          </a:prstGeom>
        </p:spPr>
      </p:pic>
      <p:sp>
        <p:nvSpPr>
          <p:cNvPr id="28" name="Text 21"/>
          <p:cNvSpPr txBox="1"/>
          <p:nvPr/>
        </p:nvSpPr>
        <p:spPr>
          <a:xfrm>
            <a:off x="7635240" y="3994980"/>
            <a:ext cx="1005840" cy="566928"/>
          </a:xfrm>
          <a:prstGeom prst="rect">
            <a:avLst/>
          </a:prstGeom>
          <a:noFill/>
          <a:ln/>
        </p:spPr>
        <p:txBody>
          <a:bodyPr wrap="square" lIns="0" tIns="0" rIns="0" bIns="0" rtlCol="0" anchor="ctr"/>
          <a:lstStyle/>
          <a:p>
            <a:pPr marL="0" indent="0">
              <a:buNone/>
            </a:pPr>
            <a:r>
              <a:rPr lang="en-US" sz="1050" b="1" dirty="0">
                <a:solidFill>
                  <a:srgbClr val="111111"/>
                </a:solidFill>
                <a:latin typeface="Calibri" pitchFamily="34" charset="0"/>
                <a:ea typeface="Calibri" pitchFamily="34" charset="-122"/>
                <a:cs typeface="Calibri" pitchFamily="34" charset="-120"/>
              </a:rPr>
              <a:t>Peer review</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ctr"/>
          <a:lstStyle/>
          <a:p>
            <a:pPr marL="0" indent="0">
              <a:buNone/>
            </a:pPr>
            <a:r>
              <a:rPr lang="en-US" sz="1050" b="1" kern="0" spc="300" dirty="0">
                <a:solidFill>
                  <a:srgbClr val="FF6A00"/>
                </a:solidFill>
                <a:latin typeface="Calibri" pitchFamily="34" charset="0"/>
                <a:ea typeface="Calibri" pitchFamily="34" charset="-122"/>
                <a:cs typeface="Calibri" pitchFamily="34" charset="-120"/>
              </a:rPr>
              <a:t>PART A  ·  FOUNDATION</a:t>
            </a:r>
            <a:endParaRPr lang="en-US" sz="1050" dirty="0"/>
          </a:p>
        </p:txBody>
      </p:sp>
      <p:sp>
        <p:nvSpPr>
          <p:cNvPr id="3" name="Text 1"/>
          <p:cNvSpPr txBox="1"/>
          <p:nvPr/>
        </p:nvSpPr>
        <p:spPr>
          <a:xfrm>
            <a:off x="457200" y="548640"/>
            <a:ext cx="7315200" cy="594360"/>
          </a:xfrm>
          <a:prstGeom prst="rect">
            <a:avLst/>
          </a:prstGeom>
          <a:noFill/>
          <a:ln/>
        </p:spPr>
        <p:txBody>
          <a:bodyPr wrap="square" lIns="0" tIns="0" rIns="0" bIns="0" rtlCol="0" anchor="ctr"/>
          <a:lstStyle/>
          <a:p>
            <a:pPr marL="0" indent="0">
              <a:buNone/>
            </a:pPr>
            <a:r>
              <a:rPr lang="en-US" sz="2800" b="1" dirty="0">
                <a:solidFill>
                  <a:srgbClr val="111111"/>
                </a:solidFill>
                <a:latin typeface="Cambria" pitchFamily="34" charset="0"/>
                <a:ea typeface="Cambria" pitchFamily="34" charset="-122"/>
                <a:cs typeface="Cambria" pitchFamily="34" charset="-120"/>
              </a:rPr>
              <a:t>Project Overview</a:t>
            </a:r>
            <a:endParaRPr lang="en-US" sz="2800" dirty="0"/>
          </a:p>
        </p:txBody>
      </p:sp>
      <p:sp>
        <p:nvSpPr>
          <p:cNvPr id="4" name="Shape 2"/>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5" name="Text 3"/>
          <p:cNvSpPr txBox="1"/>
          <p:nvPr/>
        </p:nvSpPr>
        <p:spPr>
          <a:xfrm>
            <a:off x="8183880" y="365760"/>
            <a:ext cx="502920" cy="502920"/>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03</a:t>
            </a:r>
            <a:endParaRPr lang="en-US" sz="1400" dirty="0"/>
          </a:p>
        </p:txBody>
      </p:sp>
      <p:sp>
        <p:nvSpPr>
          <p:cNvPr id="6" name="Text 4"/>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
        <p:nvSpPr>
          <p:cNvPr id="8" name="Shape 6"/>
          <p:cNvSpPr/>
          <p:nvPr/>
        </p:nvSpPr>
        <p:spPr>
          <a:xfrm>
            <a:off x="457200" y="1371600"/>
            <a:ext cx="8229600" cy="960120"/>
          </a:xfrm>
          <a:prstGeom prst="roundRect">
            <a:avLst>
              <a:gd name="adj" fmla="val 9524"/>
            </a:avLst>
          </a:prstGeom>
          <a:solidFill>
            <a:srgbClr val="FFF0E6"/>
          </a:solidFill>
          <a:ln w="9525">
            <a:solidFill>
              <a:srgbClr val="FFF0E6"/>
            </a:solidFill>
            <a:prstDash val="solid"/>
          </a:ln>
        </p:spPr>
        <p:txBody>
          <a:bodyPr/>
          <a:lstStyle/>
          <a:p>
            <a:endParaRPr lang="en-US"/>
          </a:p>
        </p:txBody>
      </p:sp>
      <p:sp>
        <p:nvSpPr>
          <p:cNvPr id="9" name="Text 7"/>
          <p:cNvSpPr txBox="1"/>
          <p:nvPr/>
        </p:nvSpPr>
        <p:spPr>
          <a:xfrm>
            <a:off x="685800" y="1463040"/>
            <a:ext cx="2743200" cy="201168"/>
          </a:xfrm>
          <a:prstGeom prst="rect">
            <a:avLst/>
          </a:prstGeom>
          <a:noFill/>
          <a:ln/>
        </p:spPr>
        <p:txBody>
          <a:bodyPr wrap="square" lIns="0" tIns="0" rIns="0" bIns="0" rtlCol="0" anchor="ctr"/>
          <a:lstStyle/>
          <a:p>
            <a:pPr marL="0" indent="0">
              <a:buNone/>
            </a:pPr>
            <a:r>
              <a:rPr lang="en-US" sz="950" b="1" kern="0" spc="300" dirty="0">
                <a:solidFill>
                  <a:srgbClr val="FF6A00"/>
                </a:solidFill>
                <a:latin typeface="Calibri" pitchFamily="34" charset="0"/>
                <a:ea typeface="Calibri" pitchFamily="34" charset="-122"/>
                <a:cs typeface="Calibri" pitchFamily="34" charset="-120"/>
              </a:rPr>
              <a:t>BACKGROUND</a:t>
            </a:r>
            <a:endParaRPr lang="en-US" sz="950" dirty="0"/>
          </a:p>
        </p:txBody>
      </p:sp>
      <p:sp>
        <p:nvSpPr>
          <p:cNvPr id="10" name="Text 8"/>
          <p:cNvSpPr txBox="1"/>
          <p:nvPr/>
        </p:nvSpPr>
        <p:spPr>
          <a:xfrm>
            <a:off x="685800" y="1691640"/>
            <a:ext cx="7772400" cy="548640"/>
          </a:xfrm>
          <a:prstGeom prst="rect">
            <a:avLst/>
          </a:prstGeom>
          <a:noFill/>
          <a:ln/>
        </p:spPr>
        <p:txBody>
          <a:bodyPr wrap="square" lIns="0" tIns="0" rIns="0" bIns="0" rtlCol="0" anchor="t"/>
          <a:lstStyle/>
          <a:p>
            <a:pPr marL="0" indent="0">
              <a:buNone/>
            </a:pPr>
            <a:r>
              <a:rPr lang="en-US" sz="1200" dirty="0">
                <a:solidFill>
                  <a:srgbClr val="222222"/>
                </a:solidFill>
                <a:latin typeface="Calibri" pitchFamily="34" charset="0"/>
                <a:ea typeface="Calibri" pitchFamily="34" charset="-122"/>
                <a:cs typeface="Calibri" pitchFamily="34" charset="-120"/>
              </a:rPr>
              <a:t>Excelerate connects learners with growth opportunities. This project analyzes learner and opportunity data to reveal what drives engagement, where learners drop off, and how opportunity delivery can improve.</a:t>
            </a:r>
            <a:endParaRPr lang="en-US" sz="1200" dirty="0"/>
          </a:p>
        </p:txBody>
      </p:sp>
      <p:sp>
        <p:nvSpPr>
          <p:cNvPr id="11" name="Shape 9"/>
          <p:cNvSpPr/>
          <p:nvPr/>
        </p:nvSpPr>
        <p:spPr>
          <a:xfrm>
            <a:off x="457200" y="2560320"/>
            <a:ext cx="2590495" cy="1965960"/>
          </a:xfrm>
          <a:prstGeom prst="roundRect">
            <a:avLst>
              <a:gd name="adj" fmla="val 4651"/>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640080" y="2743200"/>
            <a:ext cx="457200" cy="457200"/>
          </a:xfrm>
          <a:prstGeom prst="ellipse">
            <a:avLst/>
          </a:prstGeom>
          <a:solidFill>
            <a:srgbClr val="FF6A00"/>
          </a:solidFill>
          <a:ln w="12700">
            <a:solidFill>
              <a:srgbClr val="FF6A00"/>
            </a:solidFill>
            <a:prstDash val="solid"/>
          </a:ln>
        </p:spPr>
        <p:txBody>
          <a:bodyPr/>
          <a:lstStyle/>
          <a:p>
            <a:endParaRPr lang="en-US"/>
          </a:p>
        </p:txBody>
      </p:sp>
      <p:pic>
        <p:nvPicPr>
          <p:cNvPr id="13" name="Image 0" descr="preencoded.png"/>
          <p:cNvPicPr>
            <a:picLocks noChangeAspect="1"/>
          </p:cNvPicPr>
          <p:nvPr/>
        </p:nvPicPr>
        <p:blipFill>
          <a:blip r:embed="rId3"/>
          <a:stretch>
            <a:fillRect/>
          </a:stretch>
        </p:blipFill>
        <p:spPr>
          <a:xfrm>
            <a:off x="754380" y="2857500"/>
            <a:ext cx="228600" cy="228600"/>
          </a:xfrm>
          <a:prstGeom prst="rect">
            <a:avLst/>
          </a:prstGeom>
        </p:spPr>
      </p:pic>
      <p:sp>
        <p:nvSpPr>
          <p:cNvPr id="14" name="Text 11"/>
          <p:cNvSpPr txBox="1"/>
          <p:nvPr/>
        </p:nvSpPr>
        <p:spPr>
          <a:xfrm>
            <a:off x="640080" y="3337560"/>
            <a:ext cx="2194560" cy="292608"/>
          </a:xfrm>
          <a:prstGeom prst="rect">
            <a:avLst/>
          </a:prstGeom>
          <a:noFill/>
          <a:ln/>
        </p:spPr>
        <p:txBody>
          <a:bodyPr wrap="square" lIns="0" tIns="0" rIns="0" bIns="0" rtlCol="0" anchor="ctr"/>
          <a:lstStyle/>
          <a:p>
            <a:pPr marL="0" indent="0">
              <a:buNone/>
            </a:pPr>
            <a:r>
              <a:rPr lang="en-US" sz="1500" b="1" dirty="0">
                <a:solidFill>
                  <a:srgbClr val="111111"/>
                </a:solidFill>
                <a:latin typeface="Cambria" pitchFamily="34" charset="0"/>
                <a:ea typeface="Cambria" pitchFamily="34" charset="-122"/>
                <a:cs typeface="Cambria" pitchFamily="34" charset="-120"/>
              </a:rPr>
              <a:t>Objectives</a:t>
            </a:r>
            <a:endParaRPr lang="en-US" sz="1500" dirty="0"/>
          </a:p>
        </p:txBody>
      </p:sp>
      <p:sp>
        <p:nvSpPr>
          <p:cNvPr id="15" name="Text 12"/>
          <p:cNvSpPr txBox="1"/>
          <p:nvPr/>
        </p:nvSpPr>
        <p:spPr>
          <a:xfrm>
            <a:off x="640080" y="3703320"/>
            <a:ext cx="2240280" cy="7315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Profile learner engagement</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Identify drop-off points</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Guide opportunity matching</a:t>
            </a:r>
            <a:endParaRPr lang="en-US" sz="1100" dirty="0"/>
          </a:p>
        </p:txBody>
      </p:sp>
      <p:sp>
        <p:nvSpPr>
          <p:cNvPr id="16" name="Shape 13"/>
          <p:cNvSpPr/>
          <p:nvPr/>
        </p:nvSpPr>
        <p:spPr>
          <a:xfrm>
            <a:off x="3276295" y="2560320"/>
            <a:ext cx="2590495" cy="1965960"/>
          </a:xfrm>
          <a:prstGeom prst="roundRect">
            <a:avLst>
              <a:gd name="adj" fmla="val 4651"/>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17" name="Shape 14"/>
          <p:cNvSpPr/>
          <p:nvPr/>
        </p:nvSpPr>
        <p:spPr>
          <a:xfrm>
            <a:off x="3459175" y="2743200"/>
            <a:ext cx="457200" cy="457200"/>
          </a:xfrm>
          <a:prstGeom prst="ellipse">
            <a:avLst/>
          </a:prstGeom>
          <a:solidFill>
            <a:srgbClr val="FF6A00"/>
          </a:solidFill>
          <a:ln w="12700">
            <a:solidFill>
              <a:srgbClr val="FF6A00"/>
            </a:solidFill>
            <a:prstDash val="solid"/>
          </a:ln>
        </p:spPr>
        <p:txBody>
          <a:bodyPr/>
          <a:lstStyle/>
          <a:p>
            <a:endParaRPr lang="en-US"/>
          </a:p>
        </p:txBody>
      </p:sp>
      <p:pic>
        <p:nvPicPr>
          <p:cNvPr id="18" name="Image 1" descr="preencoded.png"/>
          <p:cNvPicPr>
            <a:picLocks noChangeAspect="1"/>
          </p:cNvPicPr>
          <p:nvPr/>
        </p:nvPicPr>
        <p:blipFill>
          <a:blip r:embed="rId4"/>
          <a:stretch>
            <a:fillRect/>
          </a:stretch>
        </p:blipFill>
        <p:spPr>
          <a:xfrm>
            <a:off x="3573475" y="2857500"/>
            <a:ext cx="228600" cy="228600"/>
          </a:xfrm>
          <a:prstGeom prst="rect">
            <a:avLst/>
          </a:prstGeom>
        </p:spPr>
      </p:pic>
      <p:sp>
        <p:nvSpPr>
          <p:cNvPr id="19" name="Text 15"/>
          <p:cNvSpPr txBox="1"/>
          <p:nvPr/>
        </p:nvSpPr>
        <p:spPr>
          <a:xfrm>
            <a:off x="3459175" y="3337560"/>
            <a:ext cx="2194560" cy="292608"/>
          </a:xfrm>
          <a:prstGeom prst="rect">
            <a:avLst/>
          </a:prstGeom>
          <a:noFill/>
          <a:ln/>
        </p:spPr>
        <p:txBody>
          <a:bodyPr wrap="square" lIns="0" tIns="0" rIns="0" bIns="0" rtlCol="0" anchor="ctr"/>
          <a:lstStyle/>
          <a:p>
            <a:pPr marL="0" indent="0">
              <a:buNone/>
            </a:pPr>
            <a:r>
              <a:rPr lang="en-US" sz="1500" b="1" dirty="0">
                <a:solidFill>
                  <a:srgbClr val="111111"/>
                </a:solidFill>
                <a:latin typeface="Cambria" pitchFamily="34" charset="0"/>
                <a:ea typeface="Cambria" pitchFamily="34" charset="-122"/>
                <a:cs typeface="Cambria" pitchFamily="34" charset="-120"/>
              </a:rPr>
              <a:t>Scope</a:t>
            </a:r>
            <a:endParaRPr lang="en-US" sz="1500" dirty="0"/>
          </a:p>
        </p:txBody>
      </p:sp>
      <p:sp>
        <p:nvSpPr>
          <p:cNvPr id="20" name="Text 16"/>
          <p:cNvSpPr txBox="1"/>
          <p:nvPr/>
        </p:nvSpPr>
        <p:spPr>
          <a:xfrm>
            <a:off x="3459175" y="3703320"/>
            <a:ext cx="2240280" cy="7315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Learner &amp; opportunity records</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Descriptive &amp; trend analysis</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Dashboard-based reporting</a:t>
            </a:r>
            <a:endParaRPr lang="en-US" sz="1100" dirty="0"/>
          </a:p>
        </p:txBody>
      </p:sp>
      <p:sp>
        <p:nvSpPr>
          <p:cNvPr id="21" name="Shape 17"/>
          <p:cNvSpPr/>
          <p:nvPr/>
        </p:nvSpPr>
        <p:spPr>
          <a:xfrm>
            <a:off x="6095390" y="2560320"/>
            <a:ext cx="2590495" cy="1965960"/>
          </a:xfrm>
          <a:prstGeom prst="roundRect">
            <a:avLst>
              <a:gd name="adj" fmla="val 4651"/>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22" name="Shape 18"/>
          <p:cNvSpPr/>
          <p:nvPr/>
        </p:nvSpPr>
        <p:spPr>
          <a:xfrm>
            <a:off x="6278270" y="2743200"/>
            <a:ext cx="457200" cy="457200"/>
          </a:xfrm>
          <a:prstGeom prst="ellipse">
            <a:avLst/>
          </a:prstGeom>
          <a:solidFill>
            <a:srgbClr val="FF6A00"/>
          </a:solidFill>
          <a:ln w="12700">
            <a:solidFill>
              <a:srgbClr val="FF6A00"/>
            </a:solidFill>
            <a:prstDash val="solid"/>
          </a:ln>
        </p:spPr>
        <p:txBody>
          <a:bodyPr/>
          <a:lstStyle/>
          <a:p>
            <a:endParaRPr lang="en-US"/>
          </a:p>
        </p:txBody>
      </p:sp>
      <p:pic>
        <p:nvPicPr>
          <p:cNvPr id="23" name="Image 2" descr="preencoded.png"/>
          <p:cNvPicPr>
            <a:picLocks noChangeAspect="1"/>
          </p:cNvPicPr>
          <p:nvPr/>
        </p:nvPicPr>
        <p:blipFill>
          <a:blip r:embed="rId5"/>
          <a:stretch>
            <a:fillRect/>
          </a:stretch>
        </p:blipFill>
        <p:spPr>
          <a:xfrm>
            <a:off x="6392570" y="2857500"/>
            <a:ext cx="228600" cy="228600"/>
          </a:xfrm>
          <a:prstGeom prst="rect">
            <a:avLst/>
          </a:prstGeom>
        </p:spPr>
      </p:pic>
      <p:sp>
        <p:nvSpPr>
          <p:cNvPr id="24" name="Text 19"/>
          <p:cNvSpPr txBox="1"/>
          <p:nvPr/>
        </p:nvSpPr>
        <p:spPr>
          <a:xfrm>
            <a:off x="6278270" y="3337560"/>
            <a:ext cx="2194560" cy="292608"/>
          </a:xfrm>
          <a:prstGeom prst="rect">
            <a:avLst/>
          </a:prstGeom>
          <a:noFill/>
          <a:ln/>
        </p:spPr>
        <p:txBody>
          <a:bodyPr wrap="square" lIns="0" tIns="0" rIns="0" bIns="0" rtlCol="0" anchor="ctr"/>
          <a:lstStyle/>
          <a:p>
            <a:pPr marL="0" indent="0">
              <a:buNone/>
            </a:pPr>
            <a:r>
              <a:rPr lang="en-US" sz="1500" b="1" dirty="0">
                <a:solidFill>
                  <a:srgbClr val="111111"/>
                </a:solidFill>
                <a:latin typeface="Cambria" pitchFamily="34" charset="0"/>
                <a:ea typeface="Cambria" pitchFamily="34" charset="-122"/>
                <a:cs typeface="Cambria" pitchFamily="34" charset="-120"/>
              </a:rPr>
              <a:t>Success Metrics</a:t>
            </a:r>
            <a:endParaRPr lang="en-US" sz="1500" dirty="0"/>
          </a:p>
        </p:txBody>
      </p:sp>
      <p:sp>
        <p:nvSpPr>
          <p:cNvPr id="25" name="Text 20"/>
          <p:cNvSpPr txBox="1"/>
          <p:nvPr/>
        </p:nvSpPr>
        <p:spPr>
          <a:xfrm>
            <a:off x="6278270" y="3703320"/>
            <a:ext cx="2240280" cy="7315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Clean, validated dataset</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Insights tied to key KPIs</a:t>
            </a:r>
            <a:endParaRPr lang="en-US" sz="1100" dirty="0"/>
          </a:p>
          <a:p>
            <a:pPr marL="342900" indent="-3429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Actionable recommendations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504754"/>
            <a:ext cx="8046720" cy="548640"/>
          </a:xfrm>
          <a:prstGeom prst="rect">
            <a:avLst/>
          </a:prstGeom>
          <a:noFill/>
          <a:ln/>
        </p:spPr>
        <p:txBody>
          <a:bodyPr wrap="square" lIns="0" tIns="0" rIns="0" bIns="0" rtlCol="0" anchor="ctr"/>
          <a:lstStyle/>
          <a:p>
            <a:pPr marL="0" indent="0">
              <a:buNone/>
            </a:pPr>
            <a:r>
              <a:rPr lang="en-US" sz="2800" b="1" dirty="0">
                <a:solidFill>
                  <a:srgbClr val="111111"/>
                </a:solidFill>
                <a:latin typeface="Cambria" panose="02040503050406030204" pitchFamily="18" charset="0"/>
                <a:ea typeface="Cambria" panose="02040503050406030204" pitchFamily="18" charset="0"/>
                <a:cs typeface="Calibri" pitchFamily="34" charset="-120"/>
              </a:rPr>
              <a:t>Dataset Overview</a:t>
            </a:r>
            <a:endParaRPr lang="en-US" sz="2800" dirty="0">
              <a:latin typeface="Cambria" panose="02040503050406030204" pitchFamily="18" charset="0"/>
              <a:ea typeface="Cambria" panose="02040503050406030204" pitchFamily="18" charset="0"/>
            </a:endParaRPr>
          </a:p>
        </p:txBody>
      </p:sp>
      <p:sp>
        <p:nvSpPr>
          <p:cNvPr id="3" name="Text 1"/>
          <p:cNvSpPr txBox="1"/>
          <p:nvPr/>
        </p:nvSpPr>
        <p:spPr>
          <a:xfrm>
            <a:off x="548640" y="1064696"/>
            <a:ext cx="8046720" cy="32004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Two tables profiled separately, then integrated with a LEFT JOIN</a:t>
            </a:r>
            <a:endParaRPr lang="en-US" sz="1300" dirty="0"/>
          </a:p>
        </p:txBody>
      </p:sp>
      <p:sp>
        <p:nvSpPr>
          <p:cNvPr id="4" name="Shape 2"/>
          <p:cNvSpPr/>
          <p:nvPr/>
        </p:nvSpPr>
        <p:spPr>
          <a:xfrm>
            <a:off x="517110" y="1613336"/>
            <a:ext cx="1705849" cy="1188720"/>
          </a:xfrm>
          <a:prstGeom prst="roundRect">
            <a:avLst>
              <a:gd name="adj" fmla="val 6154"/>
            </a:avLst>
          </a:prstGeom>
          <a:solidFill>
            <a:srgbClr val="111111"/>
          </a:solidFill>
          <a:ln w="12700">
            <a:solidFill>
              <a:srgbClr val="111111"/>
            </a:solidFill>
            <a:prstDash val="solid"/>
          </a:ln>
        </p:spPr>
        <p:txBody>
          <a:bodyPr/>
          <a:lstStyle/>
          <a:p>
            <a:endParaRPr lang="en-US"/>
          </a:p>
        </p:txBody>
      </p:sp>
      <p:sp>
        <p:nvSpPr>
          <p:cNvPr id="5" name="Text 3"/>
          <p:cNvSpPr txBox="1"/>
          <p:nvPr/>
        </p:nvSpPr>
        <p:spPr>
          <a:xfrm>
            <a:off x="699990" y="1750496"/>
            <a:ext cx="1292371" cy="548640"/>
          </a:xfrm>
          <a:prstGeom prst="rect">
            <a:avLst/>
          </a:prstGeom>
          <a:noFill/>
          <a:ln/>
        </p:spPr>
        <p:txBody>
          <a:bodyPr wrap="square" lIns="0" tIns="0" rIns="0" bIns="0" rtlCol="0" anchor="t"/>
          <a:lstStyle/>
          <a:p>
            <a:pPr marL="0" indent="0">
              <a:buNone/>
            </a:pPr>
            <a:r>
              <a:rPr lang="en-US" sz="3200" b="1" dirty="0">
                <a:solidFill>
                  <a:srgbClr val="FF6A00"/>
                </a:solidFill>
                <a:latin typeface="Calibri" pitchFamily="34" charset="0"/>
                <a:ea typeface="Calibri" pitchFamily="34" charset="-122"/>
                <a:cs typeface="Calibri" pitchFamily="34" charset="-120"/>
              </a:rPr>
              <a:t>5,733</a:t>
            </a:r>
            <a:endParaRPr lang="en-US" sz="3200" dirty="0"/>
          </a:p>
        </p:txBody>
      </p:sp>
      <p:sp>
        <p:nvSpPr>
          <p:cNvPr id="6" name="Text 4"/>
          <p:cNvSpPr txBox="1"/>
          <p:nvPr/>
        </p:nvSpPr>
        <p:spPr>
          <a:xfrm>
            <a:off x="699990" y="2344856"/>
            <a:ext cx="1292371" cy="320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opportunity_data</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33 columns</a:t>
            </a:r>
            <a:endParaRPr lang="en-US" sz="1200" dirty="0"/>
          </a:p>
        </p:txBody>
      </p:sp>
      <p:sp>
        <p:nvSpPr>
          <p:cNvPr id="7" name="Shape 5"/>
          <p:cNvSpPr/>
          <p:nvPr/>
        </p:nvSpPr>
        <p:spPr>
          <a:xfrm>
            <a:off x="2451025" y="1613336"/>
            <a:ext cx="1705850" cy="1188720"/>
          </a:xfrm>
          <a:prstGeom prst="roundRect">
            <a:avLst>
              <a:gd name="adj" fmla="val 6154"/>
            </a:avLst>
          </a:prstGeom>
          <a:solidFill>
            <a:srgbClr val="111111"/>
          </a:solidFill>
          <a:ln w="12700">
            <a:solidFill>
              <a:srgbClr val="111111"/>
            </a:solidFill>
            <a:prstDash val="solid"/>
          </a:ln>
        </p:spPr>
        <p:txBody>
          <a:bodyPr/>
          <a:lstStyle/>
          <a:p>
            <a:endParaRPr lang="en-US"/>
          </a:p>
        </p:txBody>
      </p:sp>
      <p:sp>
        <p:nvSpPr>
          <p:cNvPr id="8" name="Text 6"/>
          <p:cNvSpPr txBox="1"/>
          <p:nvPr/>
        </p:nvSpPr>
        <p:spPr>
          <a:xfrm>
            <a:off x="2633904" y="1750496"/>
            <a:ext cx="1262404" cy="548640"/>
          </a:xfrm>
          <a:prstGeom prst="rect">
            <a:avLst/>
          </a:prstGeom>
          <a:noFill/>
          <a:ln/>
        </p:spPr>
        <p:txBody>
          <a:bodyPr wrap="square" lIns="0" tIns="0" rIns="0" bIns="0" rtlCol="0" anchor="t"/>
          <a:lstStyle/>
          <a:p>
            <a:pPr marL="0" indent="0">
              <a:buNone/>
            </a:pPr>
            <a:r>
              <a:rPr lang="en-US" sz="3200" b="1" dirty="0">
                <a:solidFill>
                  <a:srgbClr val="FF6A00"/>
                </a:solidFill>
                <a:latin typeface="Calibri" pitchFamily="34" charset="0"/>
                <a:ea typeface="Calibri" pitchFamily="34" charset="-122"/>
                <a:cs typeface="Calibri" pitchFamily="34" charset="-120"/>
              </a:rPr>
              <a:t>15,397</a:t>
            </a:r>
            <a:endParaRPr lang="en-US" sz="3200" dirty="0"/>
          </a:p>
        </p:txBody>
      </p:sp>
      <p:sp>
        <p:nvSpPr>
          <p:cNvPr id="9" name="Text 7"/>
          <p:cNvSpPr txBox="1"/>
          <p:nvPr/>
        </p:nvSpPr>
        <p:spPr>
          <a:xfrm>
            <a:off x="2633905" y="2344856"/>
            <a:ext cx="1012718" cy="320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learner_tbl</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43 columns</a:t>
            </a:r>
            <a:endParaRPr lang="en-US" sz="1200" dirty="0"/>
          </a:p>
        </p:txBody>
      </p:sp>
      <p:sp>
        <p:nvSpPr>
          <p:cNvPr id="10" name="Shape 8"/>
          <p:cNvSpPr/>
          <p:nvPr/>
        </p:nvSpPr>
        <p:spPr>
          <a:xfrm>
            <a:off x="4416456" y="1613336"/>
            <a:ext cx="2432932" cy="1188720"/>
          </a:xfrm>
          <a:prstGeom prst="roundRect">
            <a:avLst>
              <a:gd name="adj" fmla="val 6154"/>
            </a:avLst>
          </a:prstGeom>
          <a:solidFill>
            <a:srgbClr val="111111"/>
          </a:solidFill>
          <a:ln w="12700">
            <a:solidFill>
              <a:srgbClr val="111111"/>
            </a:solidFill>
            <a:prstDash val="solid"/>
          </a:ln>
        </p:spPr>
        <p:txBody>
          <a:bodyPr/>
          <a:lstStyle/>
          <a:p>
            <a:endParaRPr lang="en-US"/>
          </a:p>
        </p:txBody>
      </p:sp>
      <p:sp>
        <p:nvSpPr>
          <p:cNvPr id="11" name="Text 9"/>
          <p:cNvSpPr txBox="1"/>
          <p:nvPr/>
        </p:nvSpPr>
        <p:spPr>
          <a:xfrm>
            <a:off x="4599336" y="1750496"/>
            <a:ext cx="2085371" cy="548640"/>
          </a:xfrm>
          <a:prstGeom prst="rect">
            <a:avLst/>
          </a:prstGeom>
          <a:noFill/>
          <a:ln/>
        </p:spPr>
        <p:txBody>
          <a:bodyPr wrap="square" lIns="0" tIns="0" rIns="0" bIns="0" rtlCol="0" anchor="t"/>
          <a:lstStyle/>
          <a:p>
            <a:pPr marL="0" indent="0">
              <a:buNone/>
            </a:pPr>
            <a:r>
              <a:rPr lang="en-US" sz="2600" b="1" dirty="0">
                <a:solidFill>
                  <a:srgbClr val="FF6A00"/>
                </a:solidFill>
                <a:latin typeface="Calibri" pitchFamily="34" charset="0"/>
                <a:ea typeface="Calibri" pitchFamily="34" charset="-122"/>
                <a:cs typeface="Calibri" pitchFamily="34" charset="-120"/>
              </a:rPr>
              <a:t>15,397 × 76</a:t>
            </a:r>
            <a:endParaRPr lang="en-US" sz="2600" dirty="0"/>
          </a:p>
        </p:txBody>
      </p:sp>
      <p:sp>
        <p:nvSpPr>
          <p:cNvPr id="12" name="Text 10"/>
          <p:cNvSpPr txBox="1"/>
          <p:nvPr/>
        </p:nvSpPr>
        <p:spPr>
          <a:xfrm>
            <a:off x="4599336" y="2344856"/>
            <a:ext cx="2085371" cy="320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integrated, all columns text at this stage</a:t>
            </a:r>
            <a:endParaRPr lang="en-US" sz="1200" dirty="0"/>
          </a:p>
        </p:txBody>
      </p:sp>
      <p:sp>
        <p:nvSpPr>
          <p:cNvPr id="13" name="Text 11"/>
          <p:cNvSpPr txBox="1"/>
          <p:nvPr/>
        </p:nvSpPr>
        <p:spPr>
          <a:xfrm>
            <a:off x="548640" y="3030656"/>
            <a:ext cx="8046720" cy="502920"/>
          </a:xfrm>
          <a:prstGeom prst="rect">
            <a:avLst/>
          </a:prstGeom>
          <a:noFill/>
          <a:ln/>
        </p:spPr>
        <p:txBody>
          <a:bodyPr wrap="square" lIns="0" tIns="0" rIns="0" bIns="0" rtlCol="0" anchor="ctr"/>
          <a:lstStyle/>
          <a:p>
            <a:pPr marL="0" indent="0">
              <a:buNone/>
            </a:pPr>
            <a:r>
              <a:rPr lang="en-US" sz="1200" b="1" dirty="0">
                <a:solidFill>
                  <a:srgbClr val="FF6A00"/>
                </a:solidFill>
                <a:latin typeface="Calibri" pitchFamily="34" charset="0"/>
                <a:ea typeface="Calibri" pitchFamily="34" charset="-122"/>
                <a:cs typeface="Calibri" pitchFamily="34" charset="-120"/>
              </a:rPr>
              <a:t>Join: </a:t>
            </a:r>
            <a:r>
              <a:rPr lang="en-US" sz="1200" dirty="0">
                <a:solidFill>
                  <a:srgbClr val="111111"/>
                </a:solidFill>
                <a:latin typeface="Calibri" pitchFamily="34" charset="0"/>
                <a:ea typeface="Calibri" pitchFamily="34" charset="-122"/>
                <a:cs typeface="Calibri" pitchFamily="34" charset="-120"/>
              </a:rPr>
              <a:t>learner_tbl.sk = opportunity_data.opportunity_id, after normalising the Learner# / Opportunity# format. Learner-side records are kept.</a:t>
            </a:r>
            <a:endParaRPr lang="en-US" sz="1200" dirty="0"/>
          </a:p>
        </p:txBody>
      </p:sp>
      <p:sp>
        <p:nvSpPr>
          <p:cNvPr id="14" name="Text 12"/>
          <p:cNvSpPr txBox="1"/>
          <p:nvPr/>
        </p:nvSpPr>
        <p:spPr>
          <a:xfrm>
            <a:off x="548640" y="3670736"/>
            <a:ext cx="8046720" cy="27432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Three levels of measure</a:t>
            </a:r>
            <a:endParaRPr lang="en-US" sz="1400" dirty="0"/>
          </a:p>
        </p:txBody>
      </p:sp>
      <p:sp>
        <p:nvSpPr>
          <p:cNvPr id="15" name="Text 13"/>
          <p:cNvSpPr txBox="1"/>
          <p:nvPr/>
        </p:nvSpPr>
        <p:spPr>
          <a:xfrm>
            <a:off x="548640" y="4036496"/>
            <a:ext cx="2560320" cy="914400"/>
          </a:xfrm>
          <a:prstGeom prst="rect">
            <a:avLst/>
          </a:prstGeom>
          <a:noFill/>
          <a:ln/>
        </p:spPr>
        <p:txBody>
          <a:bodyPr wrap="square" lIns="0" tIns="0" rIns="0" bIns="0" rtlCol="0" anchor="t"/>
          <a:lstStyle/>
          <a:p>
            <a:pPr marL="0" indent="0">
              <a:buNone/>
            </a:pPr>
            <a:r>
              <a:rPr lang="en-US" sz="1200" b="1" dirty="0">
                <a:solidFill>
                  <a:srgbClr val="FF6A00"/>
                </a:solidFill>
                <a:latin typeface="Calibri" pitchFamily="34" charset="0"/>
                <a:ea typeface="Calibri" pitchFamily="34" charset="-122"/>
                <a:cs typeface="Calibri" pitchFamily="34" charset="-120"/>
              </a:rPr>
              <a:t>Record-level</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Every row; not all are applications</a:t>
            </a:r>
            <a:endParaRPr lang="en-US" sz="1200" dirty="0"/>
          </a:p>
        </p:txBody>
      </p:sp>
      <p:sp>
        <p:nvSpPr>
          <p:cNvPr id="16" name="Text 14"/>
          <p:cNvSpPr txBox="1"/>
          <p:nvPr/>
        </p:nvSpPr>
        <p:spPr>
          <a:xfrm>
            <a:off x="3291840" y="4036496"/>
            <a:ext cx="2560320" cy="914400"/>
          </a:xfrm>
          <a:prstGeom prst="rect">
            <a:avLst/>
          </a:prstGeom>
          <a:noFill/>
          <a:ln/>
        </p:spPr>
        <p:txBody>
          <a:bodyPr wrap="square" lIns="0" tIns="0" rIns="0" bIns="0" rtlCol="0" anchor="t"/>
          <a:lstStyle/>
          <a:p>
            <a:pPr marL="0" indent="0">
              <a:buNone/>
            </a:pPr>
            <a:r>
              <a:rPr lang="en-US" sz="1200" b="1" dirty="0">
                <a:solidFill>
                  <a:srgbClr val="FF6A00"/>
                </a:solidFill>
                <a:latin typeface="Calibri" pitchFamily="34" charset="0"/>
                <a:ea typeface="Calibri" pitchFamily="34" charset="-122"/>
                <a:cs typeface="Calibri" pitchFamily="34" charset="-120"/>
              </a:rPr>
              <a:t>Application-level</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Only rows with an application_id (completion, acceptance)</a:t>
            </a:r>
            <a:endParaRPr lang="en-US" sz="1200" dirty="0"/>
          </a:p>
        </p:txBody>
      </p:sp>
      <p:sp>
        <p:nvSpPr>
          <p:cNvPr id="17" name="Text 15"/>
          <p:cNvSpPr txBox="1"/>
          <p:nvPr/>
        </p:nvSpPr>
        <p:spPr>
          <a:xfrm>
            <a:off x="6035040" y="4036496"/>
            <a:ext cx="2560320" cy="914400"/>
          </a:xfrm>
          <a:prstGeom prst="rect">
            <a:avLst/>
          </a:prstGeom>
          <a:noFill/>
          <a:ln/>
        </p:spPr>
        <p:txBody>
          <a:bodyPr wrap="square" lIns="0" tIns="0" rIns="0" bIns="0" rtlCol="0" anchor="t"/>
          <a:lstStyle/>
          <a:p>
            <a:pPr marL="0" indent="0">
              <a:buNone/>
            </a:pPr>
            <a:r>
              <a:rPr lang="en-US" sz="1200" b="1" dirty="0">
                <a:solidFill>
                  <a:srgbClr val="FF6A00"/>
                </a:solidFill>
                <a:latin typeface="Calibri" pitchFamily="34" charset="0"/>
                <a:ea typeface="Calibri" pitchFamily="34" charset="-122"/>
                <a:cs typeface="Calibri" pitchFamily="34" charset="-120"/>
              </a:rPr>
              <a:t>Opportunity-level</a:t>
            </a:r>
            <a:endParaRPr lang="en-US" sz="1200" dirty="0"/>
          </a:p>
          <a:p>
            <a:pPr marL="0" indent="0">
              <a:buNone/>
            </a:pPr>
            <a:r>
              <a:rPr lang="en-US" sz="1200" dirty="0">
                <a:solidFill>
                  <a:srgbClr val="111111"/>
                </a:solidFill>
                <a:latin typeface="Calibri" pitchFamily="34" charset="0"/>
                <a:ea typeface="Calibri" pitchFamily="34" charset="-122"/>
                <a:cs typeface="Calibri" pitchFamily="34" charset="-120"/>
              </a:rPr>
              <a:t>Fee, duration, scholarship, reward repeat per opportunity; normalise before summing</a:t>
            </a:r>
            <a:endParaRPr lang="en-US" sz="1200" dirty="0"/>
          </a:p>
        </p:txBody>
      </p:sp>
      <p:sp>
        <p:nvSpPr>
          <p:cNvPr id="19" name="Text 0">
            <a:extLst>
              <a:ext uri="{FF2B5EF4-FFF2-40B4-BE49-F238E27FC236}">
                <a16:creationId xmlns:a16="http://schemas.microsoft.com/office/drawing/2014/main" id="{41123429-5893-F2CB-0628-29B8124EB985}"/>
              </a:ext>
            </a:extLst>
          </p:cNvPr>
          <p:cNvSpPr txBox="1"/>
          <p:nvPr/>
        </p:nvSpPr>
        <p:spPr>
          <a:xfrm>
            <a:off x="457200" y="282098"/>
            <a:ext cx="5486400" cy="228600"/>
          </a:xfrm>
          <a:prstGeom prst="rect">
            <a:avLst/>
          </a:prstGeom>
          <a:noFill/>
          <a:ln/>
        </p:spPr>
        <p:txBody>
          <a:bodyPr wrap="square" lIns="0" tIns="0" rIns="0" bIns="0" rtlCol="0" anchor="ctr"/>
          <a:lstStyle/>
          <a:p>
            <a:pPr marL="0" indent="0">
              <a:buNone/>
            </a:pPr>
            <a:r>
              <a:rPr lang="en-US" sz="1050" b="1" kern="0" spc="300" dirty="0">
                <a:solidFill>
                  <a:srgbClr val="FF6A00"/>
                </a:solidFill>
                <a:latin typeface="Calibri" pitchFamily="34" charset="0"/>
                <a:ea typeface="Calibri" pitchFamily="34" charset="-122"/>
                <a:cs typeface="Calibri" pitchFamily="34" charset="-120"/>
              </a:rPr>
              <a:t>PART B  ·  ANALYSIS</a:t>
            </a:r>
            <a:endParaRPr lang="en-US" sz="1050" dirty="0"/>
          </a:p>
        </p:txBody>
      </p:sp>
      <p:sp>
        <p:nvSpPr>
          <p:cNvPr id="20" name="Shape 2">
            <a:extLst>
              <a:ext uri="{FF2B5EF4-FFF2-40B4-BE49-F238E27FC236}">
                <a16:creationId xmlns:a16="http://schemas.microsoft.com/office/drawing/2014/main" id="{F6099F28-922D-7E9E-EE3D-72B3160859F3}"/>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22" name="Text 3">
            <a:extLst>
              <a:ext uri="{FF2B5EF4-FFF2-40B4-BE49-F238E27FC236}">
                <a16:creationId xmlns:a16="http://schemas.microsoft.com/office/drawing/2014/main" id="{4596F344-6792-969A-FDB8-37F07543BB50}"/>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04</a:t>
            </a:r>
            <a:endParaRPr lang="en-US" sz="1400" dirty="0"/>
          </a:p>
        </p:txBody>
      </p:sp>
      <p:sp>
        <p:nvSpPr>
          <p:cNvPr id="26" name="Shape 2">
            <a:extLst>
              <a:ext uri="{FF2B5EF4-FFF2-40B4-BE49-F238E27FC236}">
                <a16:creationId xmlns:a16="http://schemas.microsoft.com/office/drawing/2014/main" id="{81AE256F-0A9A-6475-D360-51AA6667EF9D}"/>
              </a:ext>
            </a:extLst>
          </p:cNvPr>
          <p:cNvSpPr/>
          <p:nvPr/>
        </p:nvSpPr>
        <p:spPr>
          <a:xfrm>
            <a:off x="7091308" y="1608080"/>
            <a:ext cx="1705849" cy="1188720"/>
          </a:xfrm>
          <a:prstGeom prst="roundRect">
            <a:avLst>
              <a:gd name="adj" fmla="val 6154"/>
            </a:avLst>
          </a:prstGeom>
          <a:solidFill>
            <a:srgbClr val="111111"/>
          </a:solidFill>
          <a:ln w="12700">
            <a:solidFill>
              <a:srgbClr val="111111"/>
            </a:solidFill>
            <a:prstDash val="solid"/>
          </a:ln>
        </p:spPr>
        <p:txBody>
          <a:bodyPr/>
          <a:lstStyle/>
          <a:p>
            <a:endParaRPr lang="en-US"/>
          </a:p>
        </p:txBody>
      </p:sp>
      <p:sp>
        <p:nvSpPr>
          <p:cNvPr id="27" name="Text 3">
            <a:extLst>
              <a:ext uri="{FF2B5EF4-FFF2-40B4-BE49-F238E27FC236}">
                <a16:creationId xmlns:a16="http://schemas.microsoft.com/office/drawing/2014/main" id="{364BB159-6412-970C-CB4A-4388235DAA0E}"/>
              </a:ext>
            </a:extLst>
          </p:cNvPr>
          <p:cNvSpPr txBox="1"/>
          <p:nvPr/>
        </p:nvSpPr>
        <p:spPr>
          <a:xfrm>
            <a:off x="7274188" y="1745240"/>
            <a:ext cx="1292371" cy="548640"/>
          </a:xfrm>
          <a:prstGeom prst="rect">
            <a:avLst/>
          </a:prstGeom>
          <a:noFill/>
          <a:ln/>
        </p:spPr>
        <p:txBody>
          <a:bodyPr wrap="square" lIns="0" tIns="0" rIns="0" bIns="0" rtlCol="0" anchor="t"/>
          <a:lstStyle/>
          <a:p>
            <a:pPr marL="0" indent="0">
              <a:buNone/>
            </a:pPr>
            <a:r>
              <a:rPr lang="en-US" sz="2800" b="1" dirty="0">
                <a:solidFill>
                  <a:srgbClr val="FF6A00"/>
                </a:solidFill>
                <a:latin typeface="Calibri" pitchFamily="34" charset="0"/>
                <a:ea typeface="Calibri" pitchFamily="34" charset="-122"/>
                <a:cs typeface="Calibri" pitchFamily="34" charset="-120"/>
              </a:rPr>
              <a:t>~4years</a:t>
            </a:r>
            <a:endParaRPr lang="en-US" sz="2800" dirty="0"/>
          </a:p>
        </p:txBody>
      </p:sp>
      <p:sp>
        <p:nvSpPr>
          <p:cNvPr id="28" name="Text 4">
            <a:extLst>
              <a:ext uri="{FF2B5EF4-FFF2-40B4-BE49-F238E27FC236}">
                <a16:creationId xmlns:a16="http://schemas.microsoft.com/office/drawing/2014/main" id="{E446070C-ABFE-6811-CA78-001059BC8061}"/>
              </a:ext>
            </a:extLst>
          </p:cNvPr>
          <p:cNvSpPr txBox="1"/>
          <p:nvPr/>
        </p:nvSpPr>
        <p:spPr>
          <a:xfrm>
            <a:off x="7274188" y="2339600"/>
            <a:ext cx="1292371" cy="3200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Time span across dataset, </a:t>
            </a:r>
            <a:r>
              <a:rPr lang="en-US" sz="1200" dirty="0" err="1">
                <a:solidFill>
                  <a:srgbClr val="FFFFFF"/>
                </a:solidFill>
                <a:latin typeface="Calibri" pitchFamily="34" charset="0"/>
                <a:ea typeface="Calibri" pitchFamily="34" charset="-122"/>
                <a:cs typeface="Calibri" pitchFamily="34" charset="-120"/>
              </a:rPr>
              <a:t>apply_date</a:t>
            </a:r>
            <a:r>
              <a:rPr lang="en-US" sz="1200"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4">
            <a:extLst>
              <a:ext uri="{FF2B5EF4-FFF2-40B4-BE49-F238E27FC236}">
                <a16:creationId xmlns:a16="http://schemas.microsoft.com/office/drawing/2014/main" id="{6D625408-E9C8-54F3-9303-1965946E7CA6}"/>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ctr"/>
          <a:lstStyle/>
          <a:p>
            <a:pPr marL="0" indent="0">
              <a:buNone/>
            </a:pPr>
            <a:r>
              <a:rPr lang="en-US" sz="1050" b="1" kern="0" spc="300" dirty="0">
                <a:solidFill>
                  <a:srgbClr val="FF6A00"/>
                </a:solidFill>
                <a:latin typeface="Calibri" pitchFamily="34" charset="0"/>
                <a:ea typeface="Calibri" pitchFamily="34" charset="-122"/>
                <a:cs typeface="Calibri" pitchFamily="34" charset="-120"/>
              </a:rPr>
              <a:t>PART B  ·  ANALYSIS</a:t>
            </a:r>
            <a:endParaRPr lang="en-US" sz="1050" dirty="0"/>
          </a:p>
        </p:txBody>
      </p:sp>
      <p:sp>
        <p:nvSpPr>
          <p:cNvPr id="3" name="Text 1"/>
          <p:cNvSpPr txBox="1"/>
          <p:nvPr/>
        </p:nvSpPr>
        <p:spPr>
          <a:xfrm>
            <a:off x="457200" y="527620"/>
            <a:ext cx="7315200" cy="594360"/>
          </a:xfrm>
          <a:prstGeom prst="rect">
            <a:avLst/>
          </a:prstGeom>
          <a:noFill/>
          <a:ln/>
        </p:spPr>
        <p:txBody>
          <a:bodyPr wrap="square" lIns="0" tIns="0" rIns="0" bIns="0" rtlCol="0" anchor="ctr"/>
          <a:lstStyle/>
          <a:p>
            <a:pPr marL="0" indent="0">
              <a:buNone/>
            </a:pPr>
            <a:r>
              <a:rPr lang="en-US" sz="2800" b="1" dirty="0">
                <a:solidFill>
                  <a:srgbClr val="111111"/>
                </a:solidFill>
                <a:latin typeface="Cambria" panose="02040503050406030204" pitchFamily="18" charset="0"/>
                <a:ea typeface="Cambria" panose="02040503050406030204" pitchFamily="18" charset="0"/>
                <a:cs typeface="Cambria" pitchFamily="34" charset="-120"/>
              </a:rPr>
              <a:t>Analysis Approach</a:t>
            </a:r>
            <a:endParaRPr lang="en-US" sz="2800" dirty="0">
              <a:latin typeface="Cambria" panose="02040503050406030204" pitchFamily="18" charset="0"/>
              <a:ea typeface="Cambria" panose="02040503050406030204" pitchFamily="18" charset="0"/>
            </a:endParaRPr>
          </a:p>
        </p:txBody>
      </p:sp>
      <p:sp>
        <p:nvSpPr>
          <p:cNvPr id="4" name="Shape 2"/>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5" name="Text 3"/>
          <p:cNvSpPr txBox="1"/>
          <p:nvPr/>
        </p:nvSpPr>
        <p:spPr>
          <a:xfrm>
            <a:off x="8183880" y="365760"/>
            <a:ext cx="502920" cy="502920"/>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05</a:t>
            </a:r>
            <a:endParaRPr lang="en-US" sz="1400" dirty="0"/>
          </a:p>
        </p:txBody>
      </p:sp>
      <p:sp>
        <p:nvSpPr>
          <p:cNvPr id="6" name="Text 4"/>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
        <p:nvSpPr>
          <p:cNvPr id="8" name="Shape 6"/>
          <p:cNvSpPr/>
          <p:nvPr/>
        </p:nvSpPr>
        <p:spPr>
          <a:xfrm>
            <a:off x="1225296" y="1828800"/>
            <a:ext cx="6693408" cy="0"/>
          </a:xfrm>
          <a:prstGeom prst="line">
            <a:avLst/>
          </a:prstGeom>
          <a:noFill/>
          <a:ln w="25400">
            <a:solidFill>
              <a:srgbClr val="BFBFBF"/>
            </a:solidFill>
            <a:prstDash val="solid"/>
          </a:ln>
        </p:spPr>
        <p:txBody>
          <a:bodyPr/>
          <a:lstStyle/>
          <a:p>
            <a:endParaRPr lang="en-US"/>
          </a:p>
        </p:txBody>
      </p:sp>
      <p:sp>
        <p:nvSpPr>
          <p:cNvPr id="9" name="Shape 7"/>
          <p:cNvSpPr/>
          <p:nvPr/>
        </p:nvSpPr>
        <p:spPr>
          <a:xfrm>
            <a:off x="882396" y="1481328"/>
            <a:ext cx="685800" cy="685800"/>
          </a:xfrm>
          <a:prstGeom prst="ellipse">
            <a:avLst/>
          </a:prstGeom>
          <a:solidFill>
            <a:srgbClr val="FF6A00"/>
          </a:solidFill>
          <a:ln w="12700">
            <a:solidFill>
              <a:srgbClr val="FF6A00"/>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1053846" y="1652778"/>
            <a:ext cx="342900" cy="342900"/>
          </a:xfrm>
          <a:prstGeom prst="rect">
            <a:avLst/>
          </a:prstGeom>
        </p:spPr>
      </p:pic>
      <p:sp>
        <p:nvSpPr>
          <p:cNvPr id="11" name="Shape 8"/>
          <p:cNvSpPr/>
          <p:nvPr/>
        </p:nvSpPr>
        <p:spPr>
          <a:xfrm>
            <a:off x="457200" y="2377440"/>
            <a:ext cx="1536192" cy="1600200"/>
          </a:xfrm>
          <a:prstGeom prst="roundRect">
            <a:avLst>
              <a:gd name="adj" fmla="val 5952"/>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12" name="Text 9"/>
          <p:cNvSpPr txBox="1"/>
          <p:nvPr/>
        </p:nvSpPr>
        <p:spPr>
          <a:xfrm>
            <a:off x="594360" y="2487168"/>
            <a:ext cx="1188720" cy="182880"/>
          </a:xfrm>
          <a:prstGeom prst="rect">
            <a:avLst/>
          </a:prstGeom>
          <a:noFill/>
          <a:ln/>
        </p:spPr>
        <p:txBody>
          <a:bodyPr wrap="square" lIns="0" tIns="0" rIns="0" bIns="0" rtlCol="0" anchor="ctr"/>
          <a:lstStyle/>
          <a:p>
            <a:pPr marL="0" indent="0">
              <a:buNone/>
            </a:pPr>
            <a:r>
              <a:rPr lang="en-US" sz="900" b="1" kern="0" spc="200" dirty="0">
                <a:solidFill>
                  <a:srgbClr val="FF6A00"/>
                </a:solidFill>
                <a:latin typeface="Calibri" pitchFamily="34" charset="0"/>
                <a:ea typeface="Calibri" pitchFamily="34" charset="-122"/>
                <a:cs typeface="Calibri" pitchFamily="34" charset="-120"/>
              </a:rPr>
              <a:t>STEP 1</a:t>
            </a:r>
            <a:endParaRPr lang="en-US" sz="900" dirty="0"/>
          </a:p>
        </p:txBody>
      </p:sp>
      <p:sp>
        <p:nvSpPr>
          <p:cNvPr id="15" name="Shape 12"/>
          <p:cNvSpPr/>
          <p:nvPr/>
        </p:nvSpPr>
        <p:spPr>
          <a:xfrm>
            <a:off x="2555748" y="1481328"/>
            <a:ext cx="685800" cy="685800"/>
          </a:xfrm>
          <a:prstGeom prst="ellipse">
            <a:avLst/>
          </a:prstGeom>
          <a:solidFill>
            <a:srgbClr val="FF6A00"/>
          </a:solidFill>
          <a:ln w="12700">
            <a:solidFill>
              <a:srgbClr val="FF6A00"/>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2727198" y="1652778"/>
            <a:ext cx="342900" cy="342900"/>
          </a:xfrm>
          <a:prstGeom prst="rect">
            <a:avLst/>
          </a:prstGeom>
        </p:spPr>
      </p:pic>
      <p:sp>
        <p:nvSpPr>
          <p:cNvPr id="17" name="Shape 13"/>
          <p:cNvSpPr/>
          <p:nvPr/>
        </p:nvSpPr>
        <p:spPr>
          <a:xfrm>
            <a:off x="2130552" y="2377440"/>
            <a:ext cx="1536192" cy="1600200"/>
          </a:xfrm>
          <a:prstGeom prst="roundRect">
            <a:avLst>
              <a:gd name="adj" fmla="val 5952"/>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18" name="Text 14"/>
          <p:cNvSpPr txBox="1"/>
          <p:nvPr/>
        </p:nvSpPr>
        <p:spPr>
          <a:xfrm>
            <a:off x="2267712" y="2487168"/>
            <a:ext cx="1188720" cy="182880"/>
          </a:xfrm>
          <a:prstGeom prst="rect">
            <a:avLst/>
          </a:prstGeom>
          <a:noFill/>
          <a:ln/>
        </p:spPr>
        <p:txBody>
          <a:bodyPr wrap="square" lIns="0" tIns="0" rIns="0" bIns="0" rtlCol="0" anchor="ctr"/>
          <a:lstStyle/>
          <a:p>
            <a:pPr marL="0" indent="0">
              <a:buNone/>
            </a:pPr>
            <a:r>
              <a:rPr lang="en-US" sz="900" b="1" kern="0" spc="200" dirty="0">
                <a:solidFill>
                  <a:srgbClr val="FF6A00"/>
                </a:solidFill>
                <a:latin typeface="Calibri" pitchFamily="34" charset="0"/>
                <a:ea typeface="Calibri" pitchFamily="34" charset="-122"/>
                <a:cs typeface="Calibri" pitchFamily="34" charset="-120"/>
              </a:rPr>
              <a:t>STEP 2</a:t>
            </a:r>
            <a:endParaRPr lang="en-US" sz="900" dirty="0"/>
          </a:p>
        </p:txBody>
      </p:sp>
      <p:sp>
        <p:nvSpPr>
          <p:cNvPr id="19" name="Text 15"/>
          <p:cNvSpPr txBox="1"/>
          <p:nvPr/>
        </p:nvSpPr>
        <p:spPr>
          <a:xfrm>
            <a:off x="609889" y="2798064"/>
            <a:ext cx="1280160" cy="420624"/>
          </a:xfrm>
          <a:prstGeom prst="rect">
            <a:avLst/>
          </a:prstGeom>
          <a:noFill/>
          <a:ln/>
        </p:spPr>
        <p:txBody>
          <a:bodyPr wrap="square" lIns="0" tIns="0" rIns="0" bIns="0" rtlCol="0" anchor="t"/>
          <a:lstStyle/>
          <a:p>
            <a:pPr marL="0" indent="0">
              <a:buNone/>
            </a:pPr>
            <a:r>
              <a:rPr lang="en-US" sz="1250" b="1" dirty="0">
                <a:solidFill>
                  <a:srgbClr val="111111"/>
                </a:solidFill>
                <a:latin typeface="Cambria" pitchFamily="34" charset="0"/>
                <a:ea typeface="Cambria" pitchFamily="34" charset="-122"/>
                <a:cs typeface="Cambria" pitchFamily="34" charset="-120"/>
              </a:rPr>
              <a:t>Collect &amp; Prepare Data</a:t>
            </a:r>
            <a:endParaRPr lang="en-US" sz="1250" dirty="0"/>
          </a:p>
        </p:txBody>
      </p:sp>
      <p:sp>
        <p:nvSpPr>
          <p:cNvPr id="20" name="Text 16"/>
          <p:cNvSpPr txBox="1"/>
          <p:nvPr/>
        </p:nvSpPr>
        <p:spPr>
          <a:xfrm>
            <a:off x="609889" y="3255264"/>
            <a:ext cx="1280160" cy="73152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Consolidate source files and standardize structure.</a:t>
            </a:r>
            <a:endParaRPr lang="en-US" sz="1050" dirty="0"/>
          </a:p>
        </p:txBody>
      </p:sp>
      <p:sp>
        <p:nvSpPr>
          <p:cNvPr id="21" name="Shape 17"/>
          <p:cNvSpPr/>
          <p:nvPr/>
        </p:nvSpPr>
        <p:spPr>
          <a:xfrm>
            <a:off x="4229100" y="1481328"/>
            <a:ext cx="685800" cy="685800"/>
          </a:xfrm>
          <a:prstGeom prst="ellipse">
            <a:avLst/>
          </a:prstGeom>
          <a:solidFill>
            <a:srgbClr val="FF6A00"/>
          </a:solidFill>
          <a:ln w="12700">
            <a:solidFill>
              <a:srgbClr val="FF6A00"/>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4400550" y="1652778"/>
            <a:ext cx="342900" cy="342900"/>
          </a:xfrm>
          <a:prstGeom prst="rect">
            <a:avLst/>
          </a:prstGeom>
        </p:spPr>
      </p:pic>
      <p:sp>
        <p:nvSpPr>
          <p:cNvPr id="23" name="Shape 18"/>
          <p:cNvSpPr/>
          <p:nvPr/>
        </p:nvSpPr>
        <p:spPr>
          <a:xfrm>
            <a:off x="3803904" y="2377440"/>
            <a:ext cx="1536192" cy="1600200"/>
          </a:xfrm>
          <a:prstGeom prst="roundRect">
            <a:avLst>
              <a:gd name="adj" fmla="val 5952"/>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24" name="Text 19"/>
          <p:cNvSpPr txBox="1"/>
          <p:nvPr/>
        </p:nvSpPr>
        <p:spPr>
          <a:xfrm>
            <a:off x="3941064" y="2487168"/>
            <a:ext cx="1188720" cy="182880"/>
          </a:xfrm>
          <a:prstGeom prst="rect">
            <a:avLst/>
          </a:prstGeom>
          <a:noFill/>
          <a:ln/>
        </p:spPr>
        <p:txBody>
          <a:bodyPr wrap="square" lIns="0" tIns="0" rIns="0" bIns="0" rtlCol="0" anchor="ctr"/>
          <a:lstStyle/>
          <a:p>
            <a:pPr marL="0" indent="0">
              <a:buNone/>
            </a:pPr>
            <a:r>
              <a:rPr lang="en-US" sz="900" b="1" kern="0" spc="200" dirty="0">
                <a:solidFill>
                  <a:srgbClr val="FF6A00"/>
                </a:solidFill>
                <a:latin typeface="Calibri" pitchFamily="34" charset="0"/>
                <a:ea typeface="Calibri" pitchFamily="34" charset="-122"/>
                <a:cs typeface="Calibri" pitchFamily="34" charset="-120"/>
              </a:rPr>
              <a:t>STEP 3</a:t>
            </a:r>
            <a:endParaRPr lang="en-US" sz="900" dirty="0"/>
          </a:p>
        </p:txBody>
      </p:sp>
      <p:sp>
        <p:nvSpPr>
          <p:cNvPr id="25" name="Text 20"/>
          <p:cNvSpPr txBox="1"/>
          <p:nvPr/>
        </p:nvSpPr>
        <p:spPr>
          <a:xfrm>
            <a:off x="2277184" y="2798064"/>
            <a:ext cx="1280160" cy="420624"/>
          </a:xfrm>
          <a:prstGeom prst="rect">
            <a:avLst/>
          </a:prstGeom>
          <a:noFill/>
          <a:ln/>
        </p:spPr>
        <p:txBody>
          <a:bodyPr wrap="square" lIns="0" tIns="0" rIns="0" bIns="0" rtlCol="0" anchor="t"/>
          <a:lstStyle/>
          <a:p>
            <a:pPr marL="0" indent="0">
              <a:buNone/>
            </a:pPr>
            <a:r>
              <a:rPr lang="en-US" sz="1250" b="1" dirty="0">
                <a:solidFill>
                  <a:srgbClr val="111111"/>
                </a:solidFill>
                <a:latin typeface="Cambria" pitchFamily="34" charset="0"/>
                <a:ea typeface="Cambria" pitchFamily="34" charset="-122"/>
                <a:cs typeface="Cambria" pitchFamily="34" charset="-120"/>
              </a:rPr>
              <a:t>Explore Data</a:t>
            </a:r>
            <a:endParaRPr lang="en-US" sz="1250" dirty="0"/>
          </a:p>
        </p:txBody>
      </p:sp>
      <p:sp>
        <p:nvSpPr>
          <p:cNvPr id="26" name="Text 21"/>
          <p:cNvSpPr txBox="1"/>
          <p:nvPr/>
        </p:nvSpPr>
        <p:spPr>
          <a:xfrm>
            <a:off x="2277184" y="3255264"/>
            <a:ext cx="1280160" cy="73152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Profile distributions, spot gaps, outliers and patterns.</a:t>
            </a:r>
            <a:endParaRPr lang="en-US" sz="1050" dirty="0"/>
          </a:p>
        </p:txBody>
      </p:sp>
      <p:sp>
        <p:nvSpPr>
          <p:cNvPr id="27" name="Shape 22"/>
          <p:cNvSpPr/>
          <p:nvPr/>
        </p:nvSpPr>
        <p:spPr>
          <a:xfrm>
            <a:off x="5902452" y="1481328"/>
            <a:ext cx="685800" cy="685800"/>
          </a:xfrm>
          <a:prstGeom prst="ellipse">
            <a:avLst/>
          </a:prstGeom>
          <a:solidFill>
            <a:srgbClr val="FF6A00"/>
          </a:solidFill>
          <a:ln w="12700">
            <a:solidFill>
              <a:srgbClr val="FF6A00"/>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6073902" y="1652778"/>
            <a:ext cx="342900" cy="342900"/>
          </a:xfrm>
          <a:prstGeom prst="rect">
            <a:avLst/>
          </a:prstGeom>
        </p:spPr>
      </p:pic>
      <p:sp>
        <p:nvSpPr>
          <p:cNvPr id="29" name="Shape 23"/>
          <p:cNvSpPr/>
          <p:nvPr/>
        </p:nvSpPr>
        <p:spPr>
          <a:xfrm>
            <a:off x="5477256" y="2377440"/>
            <a:ext cx="1536192" cy="1600200"/>
          </a:xfrm>
          <a:prstGeom prst="roundRect">
            <a:avLst>
              <a:gd name="adj" fmla="val 5952"/>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30" name="Text 24"/>
          <p:cNvSpPr txBox="1"/>
          <p:nvPr/>
        </p:nvSpPr>
        <p:spPr>
          <a:xfrm>
            <a:off x="5614416" y="2487168"/>
            <a:ext cx="1188720" cy="182880"/>
          </a:xfrm>
          <a:prstGeom prst="rect">
            <a:avLst/>
          </a:prstGeom>
          <a:noFill/>
          <a:ln/>
        </p:spPr>
        <p:txBody>
          <a:bodyPr wrap="square" lIns="0" tIns="0" rIns="0" bIns="0" rtlCol="0" anchor="ctr"/>
          <a:lstStyle/>
          <a:p>
            <a:pPr marL="0" indent="0">
              <a:buNone/>
            </a:pPr>
            <a:r>
              <a:rPr lang="en-US" sz="900" b="1" kern="0" spc="200" dirty="0">
                <a:solidFill>
                  <a:srgbClr val="FF6A00"/>
                </a:solidFill>
                <a:latin typeface="Calibri" pitchFamily="34" charset="0"/>
                <a:ea typeface="Calibri" pitchFamily="34" charset="-122"/>
                <a:cs typeface="Calibri" pitchFamily="34" charset="-120"/>
              </a:rPr>
              <a:t>STEP 4</a:t>
            </a:r>
            <a:endParaRPr lang="en-US" sz="900" dirty="0"/>
          </a:p>
        </p:txBody>
      </p:sp>
      <p:sp>
        <p:nvSpPr>
          <p:cNvPr id="31" name="Text 25"/>
          <p:cNvSpPr txBox="1"/>
          <p:nvPr/>
        </p:nvSpPr>
        <p:spPr>
          <a:xfrm>
            <a:off x="5614416" y="2697480"/>
            <a:ext cx="1280160" cy="420624"/>
          </a:xfrm>
          <a:prstGeom prst="rect">
            <a:avLst/>
          </a:prstGeom>
          <a:noFill/>
          <a:ln/>
        </p:spPr>
        <p:txBody>
          <a:bodyPr wrap="square" lIns="0" tIns="0" rIns="0" bIns="0" rtlCol="0" anchor="t"/>
          <a:lstStyle/>
          <a:p>
            <a:pPr marL="0" indent="0">
              <a:buNone/>
            </a:pPr>
            <a:r>
              <a:rPr lang="en-US" sz="1250" b="1" dirty="0">
                <a:solidFill>
                  <a:srgbClr val="111111"/>
                </a:solidFill>
                <a:latin typeface="Cambria" pitchFamily="34" charset="0"/>
                <a:ea typeface="Cambria" pitchFamily="34" charset="-122"/>
                <a:cs typeface="Cambria" pitchFamily="34" charset="-120"/>
              </a:rPr>
              <a:t>Analyze &amp; Segment</a:t>
            </a:r>
            <a:endParaRPr lang="en-US" sz="1250" dirty="0"/>
          </a:p>
        </p:txBody>
      </p:sp>
      <p:sp>
        <p:nvSpPr>
          <p:cNvPr id="32" name="Text 26"/>
          <p:cNvSpPr txBox="1"/>
          <p:nvPr/>
        </p:nvSpPr>
        <p:spPr>
          <a:xfrm>
            <a:off x="5614416" y="3154680"/>
            <a:ext cx="1280160" cy="73152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Compare trends and engagement drivers.</a:t>
            </a:r>
            <a:endParaRPr lang="en-US" sz="1050" dirty="0"/>
          </a:p>
        </p:txBody>
      </p:sp>
      <p:sp>
        <p:nvSpPr>
          <p:cNvPr id="33" name="Shape 27"/>
          <p:cNvSpPr/>
          <p:nvPr/>
        </p:nvSpPr>
        <p:spPr>
          <a:xfrm>
            <a:off x="7575804" y="1481328"/>
            <a:ext cx="685800" cy="685800"/>
          </a:xfrm>
          <a:prstGeom prst="ellipse">
            <a:avLst/>
          </a:prstGeom>
          <a:solidFill>
            <a:srgbClr val="FF6A00"/>
          </a:solidFill>
          <a:ln w="12700">
            <a:solidFill>
              <a:srgbClr val="FF6A00"/>
            </a:solidFill>
            <a:prstDash val="solid"/>
          </a:ln>
        </p:spPr>
        <p:txBody>
          <a:bodyPr/>
          <a:lstStyle/>
          <a:p>
            <a:endParaRPr lang="en-US"/>
          </a:p>
        </p:txBody>
      </p:sp>
      <p:pic>
        <p:nvPicPr>
          <p:cNvPr id="34" name="Image 4" descr="preencoded.png"/>
          <p:cNvPicPr>
            <a:picLocks noChangeAspect="1"/>
          </p:cNvPicPr>
          <p:nvPr/>
        </p:nvPicPr>
        <p:blipFill>
          <a:blip r:embed="rId7"/>
          <a:stretch>
            <a:fillRect/>
          </a:stretch>
        </p:blipFill>
        <p:spPr>
          <a:xfrm>
            <a:off x="7747254" y="1652778"/>
            <a:ext cx="342900" cy="342900"/>
          </a:xfrm>
          <a:prstGeom prst="rect">
            <a:avLst/>
          </a:prstGeom>
        </p:spPr>
      </p:pic>
      <p:sp>
        <p:nvSpPr>
          <p:cNvPr id="35" name="Shape 28"/>
          <p:cNvSpPr/>
          <p:nvPr/>
        </p:nvSpPr>
        <p:spPr>
          <a:xfrm>
            <a:off x="7150608" y="2377440"/>
            <a:ext cx="1536192" cy="1600200"/>
          </a:xfrm>
          <a:prstGeom prst="roundRect">
            <a:avLst>
              <a:gd name="adj" fmla="val 5952"/>
            </a:avLst>
          </a:prstGeom>
          <a:solidFill>
            <a:srgbClr val="FFFFFF"/>
          </a:solidFill>
          <a:ln w="9525">
            <a:solidFill>
              <a:srgbClr val="E6E6E6"/>
            </a:solidFill>
            <a:prstDash val="solid"/>
          </a:ln>
          <a:effectLst>
            <a:outerShdw blurRad="101600" dist="25400" dir="5400000" algn="bl" rotWithShape="0">
              <a:srgbClr val="000000">
                <a:alpha val="12000"/>
              </a:srgbClr>
            </a:outerShdw>
          </a:effectLst>
        </p:spPr>
        <p:txBody>
          <a:bodyPr/>
          <a:lstStyle/>
          <a:p>
            <a:endParaRPr lang="en-US"/>
          </a:p>
        </p:txBody>
      </p:sp>
      <p:sp>
        <p:nvSpPr>
          <p:cNvPr id="36" name="Text 29"/>
          <p:cNvSpPr txBox="1"/>
          <p:nvPr/>
        </p:nvSpPr>
        <p:spPr>
          <a:xfrm>
            <a:off x="7287768" y="2487168"/>
            <a:ext cx="1188720" cy="182880"/>
          </a:xfrm>
          <a:prstGeom prst="rect">
            <a:avLst/>
          </a:prstGeom>
          <a:noFill/>
          <a:ln/>
        </p:spPr>
        <p:txBody>
          <a:bodyPr wrap="square" lIns="0" tIns="0" rIns="0" bIns="0" rtlCol="0" anchor="ctr"/>
          <a:lstStyle/>
          <a:p>
            <a:pPr marL="0" indent="0">
              <a:buNone/>
            </a:pPr>
            <a:r>
              <a:rPr lang="en-US" sz="900" b="1" kern="0" spc="200" dirty="0">
                <a:solidFill>
                  <a:srgbClr val="FF6A00"/>
                </a:solidFill>
                <a:latin typeface="Calibri" pitchFamily="34" charset="0"/>
                <a:ea typeface="Calibri" pitchFamily="34" charset="-122"/>
                <a:cs typeface="Calibri" pitchFamily="34" charset="-120"/>
              </a:rPr>
              <a:t>STEP 5</a:t>
            </a:r>
            <a:endParaRPr lang="en-US" sz="900" dirty="0"/>
          </a:p>
        </p:txBody>
      </p:sp>
      <p:sp>
        <p:nvSpPr>
          <p:cNvPr id="37" name="Text 30"/>
          <p:cNvSpPr txBox="1"/>
          <p:nvPr/>
        </p:nvSpPr>
        <p:spPr>
          <a:xfrm>
            <a:off x="7287768" y="2697480"/>
            <a:ext cx="1280160" cy="420624"/>
          </a:xfrm>
          <a:prstGeom prst="rect">
            <a:avLst/>
          </a:prstGeom>
          <a:noFill/>
          <a:ln/>
        </p:spPr>
        <p:txBody>
          <a:bodyPr wrap="square" lIns="0" tIns="0" rIns="0" bIns="0" rtlCol="0" anchor="t"/>
          <a:lstStyle/>
          <a:p>
            <a:pPr marL="0" indent="0">
              <a:buNone/>
            </a:pPr>
            <a:r>
              <a:rPr lang="en-US" sz="1250" b="1" dirty="0">
                <a:solidFill>
                  <a:srgbClr val="111111"/>
                </a:solidFill>
                <a:latin typeface="Cambria" pitchFamily="34" charset="0"/>
                <a:ea typeface="Cambria" pitchFamily="34" charset="-122"/>
                <a:cs typeface="Cambria" pitchFamily="34" charset="-120"/>
              </a:rPr>
              <a:t>Visualize &amp; Report</a:t>
            </a:r>
            <a:endParaRPr lang="en-US" sz="1250" dirty="0"/>
          </a:p>
        </p:txBody>
      </p:sp>
      <p:sp>
        <p:nvSpPr>
          <p:cNvPr id="38" name="Text 31"/>
          <p:cNvSpPr txBox="1"/>
          <p:nvPr/>
        </p:nvSpPr>
        <p:spPr>
          <a:xfrm>
            <a:off x="7287768" y="3154680"/>
            <a:ext cx="1280160" cy="73152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Build dashboards and translate findings into actions.</a:t>
            </a:r>
            <a:endParaRPr lang="en-US" sz="1050" dirty="0"/>
          </a:p>
        </p:txBody>
      </p:sp>
      <p:sp>
        <p:nvSpPr>
          <p:cNvPr id="39" name="Text 32"/>
          <p:cNvSpPr txBox="1"/>
          <p:nvPr/>
        </p:nvSpPr>
        <p:spPr>
          <a:xfrm>
            <a:off x="457200" y="4233672"/>
            <a:ext cx="1188720" cy="274320"/>
          </a:xfrm>
          <a:prstGeom prst="rect">
            <a:avLst/>
          </a:prstGeom>
          <a:noFill/>
          <a:ln/>
        </p:spPr>
        <p:txBody>
          <a:bodyPr wrap="square" lIns="0" tIns="0" rIns="0" bIns="0" rtlCol="0" anchor="ctr"/>
          <a:lstStyle/>
          <a:p>
            <a:pPr marL="0" indent="0">
              <a:buNone/>
            </a:pPr>
            <a:r>
              <a:rPr lang="en-US" sz="950" b="1" kern="0" spc="300" dirty="0">
                <a:solidFill>
                  <a:srgbClr val="FF6A00"/>
                </a:solidFill>
                <a:latin typeface="Calibri" pitchFamily="34" charset="0"/>
                <a:ea typeface="Calibri" pitchFamily="34" charset="-122"/>
                <a:cs typeface="Calibri" pitchFamily="34" charset="-120"/>
              </a:rPr>
              <a:t>TECHNIQUES</a:t>
            </a:r>
            <a:endParaRPr lang="en-US" sz="950" dirty="0"/>
          </a:p>
        </p:txBody>
      </p:sp>
      <p:sp>
        <p:nvSpPr>
          <p:cNvPr id="40" name="Shape 33"/>
          <p:cNvSpPr/>
          <p:nvPr/>
        </p:nvSpPr>
        <p:spPr>
          <a:xfrm>
            <a:off x="1691640" y="4206240"/>
            <a:ext cx="1691640" cy="329184"/>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41" name="Text 34"/>
          <p:cNvSpPr txBox="1"/>
          <p:nvPr/>
        </p:nvSpPr>
        <p:spPr>
          <a:xfrm>
            <a:off x="1691640" y="4206240"/>
            <a:ext cx="169164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Descriptive statistics</a:t>
            </a:r>
            <a:endParaRPr lang="en-US" sz="1050" dirty="0"/>
          </a:p>
        </p:txBody>
      </p:sp>
      <p:sp>
        <p:nvSpPr>
          <p:cNvPr id="42" name="Shape 35"/>
          <p:cNvSpPr/>
          <p:nvPr/>
        </p:nvSpPr>
        <p:spPr>
          <a:xfrm>
            <a:off x="3520440" y="4206240"/>
            <a:ext cx="1280160" cy="329184"/>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43" name="Text 36"/>
          <p:cNvSpPr txBox="1"/>
          <p:nvPr/>
        </p:nvSpPr>
        <p:spPr>
          <a:xfrm>
            <a:off x="3520440" y="4206240"/>
            <a:ext cx="128016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Segmentation</a:t>
            </a:r>
            <a:endParaRPr lang="en-US" sz="1050" dirty="0"/>
          </a:p>
        </p:txBody>
      </p:sp>
      <p:sp>
        <p:nvSpPr>
          <p:cNvPr id="44" name="Shape 37"/>
          <p:cNvSpPr/>
          <p:nvPr/>
        </p:nvSpPr>
        <p:spPr>
          <a:xfrm>
            <a:off x="4937760" y="4206240"/>
            <a:ext cx="1280160" cy="329184"/>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45" name="Text 38"/>
          <p:cNvSpPr txBox="1"/>
          <p:nvPr/>
        </p:nvSpPr>
        <p:spPr>
          <a:xfrm>
            <a:off x="4937760" y="4206240"/>
            <a:ext cx="128016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Trend analysis</a:t>
            </a:r>
            <a:endParaRPr lang="en-US" sz="1050" dirty="0"/>
          </a:p>
        </p:txBody>
      </p:sp>
      <p:sp>
        <p:nvSpPr>
          <p:cNvPr id="46" name="Shape 39"/>
          <p:cNvSpPr/>
          <p:nvPr/>
        </p:nvSpPr>
        <p:spPr>
          <a:xfrm>
            <a:off x="6355080" y="4206240"/>
            <a:ext cx="1645920" cy="329184"/>
          </a:xfrm>
          <a:prstGeom prst="roundRect">
            <a:avLst>
              <a:gd name="adj" fmla="val 50000"/>
            </a:avLst>
          </a:prstGeom>
          <a:solidFill>
            <a:srgbClr val="111111"/>
          </a:solidFill>
          <a:ln w="12700">
            <a:solidFill>
              <a:srgbClr val="111111"/>
            </a:solidFill>
            <a:prstDash val="solid"/>
          </a:ln>
        </p:spPr>
        <p:txBody>
          <a:bodyPr/>
          <a:lstStyle/>
          <a:p>
            <a:endParaRPr lang="en-US"/>
          </a:p>
        </p:txBody>
      </p:sp>
      <p:sp>
        <p:nvSpPr>
          <p:cNvPr id="47" name="Text 40"/>
          <p:cNvSpPr txBox="1"/>
          <p:nvPr/>
        </p:nvSpPr>
        <p:spPr>
          <a:xfrm>
            <a:off x="6355080" y="4206240"/>
            <a:ext cx="164592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Correlation analysis</a:t>
            </a:r>
            <a:endParaRPr lang="en-US" sz="1050" dirty="0"/>
          </a:p>
        </p:txBody>
      </p:sp>
      <p:sp>
        <p:nvSpPr>
          <p:cNvPr id="53" name="Text 10">
            <a:extLst>
              <a:ext uri="{FF2B5EF4-FFF2-40B4-BE49-F238E27FC236}">
                <a16:creationId xmlns:a16="http://schemas.microsoft.com/office/drawing/2014/main" id="{B7088359-C106-016F-F5FA-04FC5A9E246C}"/>
              </a:ext>
            </a:extLst>
          </p:cNvPr>
          <p:cNvSpPr txBox="1"/>
          <p:nvPr/>
        </p:nvSpPr>
        <p:spPr>
          <a:xfrm>
            <a:off x="3941064" y="2697480"/>
            <a:ext cx="1280160" cy="420624"/>
          </a:xfrm>
          <a:prstGeom prst="rect">
            <a:avLst/>
          </a:prstGeom>
          <a:noFill/>
          <a:ln/>
        </p:spPr>
        <p:txBody>
          <a:bodyPr wrap="square" lIns="0" tIns="0" rIns="0" bIns="0" rtlCol="0" anchor="t"/>
          <a:lstStyle/>
          <a:p>
            <a:pPr marL="0" indent="0">
              <a:buNone/>
            </a:pPr>
            <a:r>
              <a:rPr lang="en-US" sz="1250" b="1" dirty="0">
                <a:solidFill>
                  <a:srgbClr val="111111"/>
                </a:solidFill>
                <a:latin typeface="Cambria" pitchFamily="34" charset="0"/>
                <a:ea typeface="Cambria" pitchFamily="34" charset="-122"/>
                <a:cs typeface="Cambria" pitchFamily="34" charset="-120"/>
              </a:rPr>
              <a:t>Clean Data &amp; Define Objectives</a:t>
            </a:r>
            <a:endParaRPr lang="en-US" sz="1250" dirty="0"/>
          </a:p>
        </p:txBody>
      </p:sp>
      <p:sp>
        <p:nvSpPr>
          <p:cNvPr id="55" name="Text 11">
            <a:extLst>
              <a:ext uri="{FF2B5EF4-FFF2-40B4-BE49-F238E27FC236}">
                <a16:creationId xmlns:a16="http://schemas.microsoft.com/office/drawing/2014/main" id="{E71500AF-645D-BD5B-BC21-46F11658D9DE}"/>
              </a:ext>
            </a:extLst>
          </p:cNvPr>
          <p:cNvSpPr txBox="1"/>
          <p:nvPr/>
        </p:nvSpPr>
        <p:spPr>
          <a:xfrm>
            <a:off x="3941064" y="3154680"/>
            <a:ext cx="1280160" cy="731520"/>
          </a:xfrm>
          <a:prstGeom prst="rect">
            <a:avLst/>
          </a:prstGeom>
          <a:noFill/>
          <a:ln/>
        </p:spPr>
        <p:txBody>
          <a:bodyPr wrap="square" lIns="0" tIns="0" rIns="0" bIns="0" rtlCol="0" anchor="t"/>
          <a:lstStyle/>
          <a:p>
            <a:pPr marL="0" indent="0">
              <a:buNone/>
            </a:pPr>
            <a:r>
              <a:rPr lang="en-US" sz="1050" dirty="0">
                <a:solidFill>
                  <a:srgbClr val="444444"/>
                </a:solidFill>
                <a:latin typeface="Calibri" pitchFamily="34" charset="0"/>
                <a:ea typeface="Calibri" pitchFamily="34" charset="-122"/>
                <a:cs typeface="Calibri" pitchFamily="34" charset="-120"/>
              </a:rPr>
              <a:t>Clean &amp; Set business questions, KPIs and scope with stakeholders.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marL="0" indent="0">
              <a:buNone/>
            </a:pPr>
            <a:r>
              <a:rPr lang="en-US" sz="2800" b="1" dirty="0">
                <a:solidFill>
                  <a:srgbClr val="111111"/>
                </a:solidFill>
                <a:latin typeface="Cambria" panose="02040503050406030204" pitchFamily="18" charset="0"/>
                <a:ea typeface="Cambria" panose="02040503050406030204" pitchFamily="18" charset="0"/>
                <a:cs typeface="Calibri" pitchFamily="34" charset="-120"/>
              </a:rPr>
              <a:t>Exploratory Findings: Opportunity Structure</a:t>
            </a:r>
            <a:endParaRPr lang="en-US" sz="2800" dirty="0">
              <a:latin typeface="Cambria" panose="02040503050406030204" pitchFamily="18" charset="0"/>
              <a:ea typeface="Cambria" panose="02040503050406030204" pitchFamily="18" charset="0"/>
            </a:endParaRPr>
          </a:p>
        </p:txBody>
      </p:sp>
      <p:sp>
        <p:nvSpPr>
          <p:cNvPr id="3" name="Text 1"/>
          <p:cNvSpPr txBox="1"/>
          <p:nvPr/>
        </p:nvSpPr>
        <p:spPr>
          <a:xfrm>
            <a:off x="548640" y="822960"/>
            <a:ext cx="8046720" cy="32004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Based on 5,733 opportunity listings</a:t>
            </a:r>
            <a:endParaRPr lang="en-US" sz="1300" dirty="0"/>
          </a:p>
        </p:txBody>
      </p:sp>
      <p:sp>
        <p:nvSpPr>
          <p:cNvPr id="4" name="Shape 2"/>
          <p:cNvSpPr/>
          <p:nvPr/>
        </p:nvSpPr>
        <p:spPr>
          <a:xfrm>
            <a:off x="548640" y="1371600"/>
            <a:ext cx="2560320" cy="1737360"/>
          </a:xfrm>
          <a:prstGeom prst="roundRect">
            <a:avLst>
              <a:gd name="adj" fmla="val 4211"/>
            </a:avLst>
          </a:prstGeom>
          <a:solidFill>
            <a:srgbClr val="111111"/>
          </a:solidFill>
          <a:ln w="12700">
            <a:solidFill>
              <a:srgbClr val="111111"/>
            </a:solidFill>
            <a:prstDash val="solid"/>
          </a:ln>
        </p:spPr>
        <p:txBody>
          <a:bodyPr/>
          <a:lstStyle/>
          <a:p>
            <a:endParaRPr lang="en-US"/>
          </a:p>
        </p:txBody>
      </p:sp>
      <p:sp>
        <p:nvSpPr>
          <p:cNvPr id="5" name="Text 3"/>
          <p:cNvSpPr txBox="1"/>
          <p:nvPr/>
        </p:nvSpPr>
        <p:spPr>
          <a:xfrm>
            <a:off x="731520" y="1508760"/>
            <a:ext cx="2194560" cy="548640"/>
          </a:xfrm>
          <a:prstGeom prst="rect">
            <a:avLst/>
          </a:prstGeom>
          <a:noFill/>
          <a:ln/>
        </p:spPr>
        <p:txBody>
          <a:bodyPr wrap="square" lIns="0" tIns="0" rIns="0" bIns="0" rtlCol="0" anchor="t"/>
          <a:lstStyle/>
          <a:p>
            <a:pPr marL="0" indent="0">
              <a:buNone/>
            </a:pPr>
            <a:r>
              <a:rPr lang="en-US" sz="2600" b="1" dirty="0">
                <a:solidFill>
                  <a:srgbClr val="FF6A00"/>
                </a:solidFill>
                <a:latin typeface="Calibri" pitchFamily="34" charset="0"/>
                <a:ea typeface="Calibri" pitchFamily="34" charset="-122"/>
                <a:cs typeface="Calibri" pitchFamily="34" charset="-120"/>
              </a:rPr>
              <a:t>46.7%</a:t>
            </a:r>
            <a:endParaRPr lang="en-US" sz="2600" dirty="0"/>
          </a:p>
        </p:txBody>
      </p:sp>
      <p:sp>
        <p:nvSpPr>
          <p:cNvPr id="6" name="Text 4"/>
          <p:cNvSpPr txBox="1"/>
          <p:nvPr/>
        </p:nvSpPr>
        <p:spPr>
          <a:xfrm>
            <a:off x="731520" y="2103120"/>
            <a:ext cx="2194560" cy="8686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Internship (27.75%) + Career (18.98%) of all listings</a:t>
            </a:r>
            <a:endParaRPr lang="en-US" sz="1200" dirty="0"/>
          </a:p>
        </p:txBody>
      </p:sp>
      <p:sp>
        <p:nvSpPr>
          <p:cNvPr id="7" name="Shape 5"/>
          <p:cNvSpPr/>
          <p:nvPr/>
        </p:nvSpPr>
        <p:spPr>
          <a:xfrm>
            <a:off x="3291840" y="1371600"/>
            <a:ext cx="2560320" cy="1737360"/>
          </a:xfrm>
          <a:prstGeom prst="roundRect">
            <a:avLst>
              <a:gd name="adj" fmla="val 4211"/>
            </a:avLst>
          </a:prstGeom>
          <a:solidFill>
            <a:srgbClr val="111111"/>
          </a:solidFill>
          <a:ln w="12700">
            <a:solidFill>
              <a:srgbClr val="111111"/>
            </a:solidFill>
            <a:prstDash val="solid"/>
          </a:ln>
        </p:spPr>
        <p:txBody>
          <a:bodyPr/>
          <a:lstStyle/>
          <a:p>
            <a:endParaRPr lang="en-US"/>
          </a:p>
        </p:txBody>
      </p:sp>
      <p:sp>
        <p:nvSpPr>
          <p:cNvPr id="8" name="Text 6"/>
          <p:cNvSpPr txBox="1"/>
          <p:nvPr/>
        </p:nvSpPr>
        <p:spPr>
          <a:xfrm>
            <a:off x="3474720" y="1508760"/>
            <a:ext cx="2194560" cy="548640"/>
          </a:xfrm>
          <a:prstGeom prst="rect">
            <a:avLst/>
          </a:prstGeom>
          <a:noFill/>
          <a:ln/>
        </p:spPr>
        <p:txBody>
          <a:bodyPr wrap="square" lIns="0" tIns="0" rIns="0" bIns="0" rtlCol="0" anchor="t"/>
          <a:lstStyle/>
          <a:p>
            <a:pPr marL="0" indent="0">
              <a:buNone/>
            </a:pPr>
            <a:r>
              <a:rPr lang="en-US" sz="2600" b="1" dirty="0">
                <a:solidFill>
                  <a:srgbClr val="FF6A00"/>
                </a:solidFill>
                <a:latin typeface="Calibri" pitchFamily="34" charset="0"/>
                <a:ea typeface="Calibri" pitchFamily="34" charset="-122"/>
                <a:cs typeface="Calibri" pitchFamily="34" charset="-120"/>
              </a:rPr>
              <a:t>78.8%</a:t>
            </a:r>
            <a:endParaRPr lang="en-US" sz="2600" dirty="0"/>
          </a:p>
        </p:txBody>
      </p:sp>
      <p:sp>
        <p:nvSpPr>
          <p:cNvPr id="9" name="Text 7"/>
          <p:cNvSpPr txBox="1"/>
          <p:nvPr/>
        </p:nvSpPr>
        <p:spPr>
          <a:xfrm>
            <a:off x="3474720" y="2103120"/>
            <a:ext cx="2194560" cy="8686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no fee charged: 4,518 of 5,733 opportunities</a:t>
            </a:r>
            <a:endParaRPr lang="en-US" sz="1200" dirty="0"/>
          </a:p>
        </p:txBody>
      </p:sp>
      <p:sp>
        <p:nvSpPr>
          <p:cNvPr id="10" name="Shape 8"/>
          <p:cNvSpPr/>
          <p:nvPr/>
        </p:nvSpPr>
        <p:spPr>
          <a:xfrm>
            <a:off x="6035040" y="1371600"/>
            <a:ext cx="2560320" cy="1737360"/>
          </a:xfrm>
          <a:prstGeom prst="roundRect">
            <a:avLst>
              <a:gd name="adj" fmla="val 4211"/>
            </a:avLst>
          </a:prstGeom>
          <a:solidFill>
            <a:srgbClr val="111111"/>
          </a:solidFill>
          <a:ln w="12700">
            <a:solidFill>
              <a:srgbClr val="111111"/>
            </a:solidFill>
            <a:prstDash val="solid"/>
          </a:ln>
        </p:spPr>
        <p:txBody>
          <a:bodyPr/>
          <a:lstStyle/>
          <a:p>
            <a:endParaRPr lang="en-US"/>
          </a:p>
        </p:txBody>
      </p:sp>
      <p:sp>
        <p:nvSpPr>
          <p:cNvPr id="11" name="Text 9"/>
          <p:cNvSpPr txBox="1"/>
          <p:nvPr/>
        </p:nvSpPr>
        <p:spPr>
          <a:xfrm>
            <a:off x="6217920" y="1508760"/>
            <a:ext cx="2194560" cy="548640"/>
          </a:xfrm>
          <a:prstGeom prst="rect">
            <a:avLst/>
          </a:prstGeom>
          <a:noFill/>
          <a:ln/>
        </p:spPr>
        <p:txBody>
          <a:bodyPr wrap="square" lIns="0" tIns="0" rIns="0" bIns="0" rtlCol="0" anchor="t"/>
          <a:lstStyle/>
          <a:p>
            <a:pPr marL="0" indent="0">
              <a:buNone/>
            </a:pPr>
            <a:r>
              <a:rPr lang="en-US" sz="2600" b="1" dirty="0">
                <a:solidFill>
                  <a:srgbClr val="FF6A00"/>
                </a:solidFill>
                <a:latin typeface="Calibri" pitchFamily="34" charset="0"/>
                <a:ea typeface="Calibri" pitchFamily="34" charset="-122"/>
                <a:cs typeface="Calibri" pitchFamily="34" charset="-120"/>
              </a:rPr>
              <a:t>74.8%</a:t>
            </a:r>
            <a:endParaRPr lang="en-US" sz="2600" dirty="0"/>
          </a:p>
        </p:txBody>
      </p:sp>
      <p:sp>
        <p:nvSpPr>
          <p:cNvPr id="12" name="Text 10"/>
          <p:cNvSpPr txBox="1"/>
          <p:nvPr/>
        </p:nvSpPr>
        <p:spPr>
          <a:xfrm>
            <a:off x="6217920" y="2103120"/>
            <a:ext cx="2194560" cy="8686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of duration records are week / weeks; months, days, hours, minutes and years need standardising</a:t>
            </a:r>
            <a:endParaRPr lang="en-US" sz="1200" dirty="0"/>
          </a:p>
        </p:txBody>
      </p:sp>
      <p:sp>
        <p:nvSpPr>
          <p:cNvPr id="13" name="Text 11"/>
          <p:cNvSpPr txBox="1"/>
          <p:nvPr/>
        </p:nvSpPr>
        <p:spPr>
          <a:xfrm>
            <a:off x="548640" y="3383280"/>
            <a:ext cx="8046720" cy="1280160"/>
          </a:xfrm>
          <a:prstGeom prst="rect">
            <a:avLst/>
          </a:prstGeom>
          <a:noFill/>
          <a:ln/>
        </p:spPr>
        <p:txBody>
          <a:bodyPr wrap="square" lIns="0" tIns="0" rIns="0" bIns="0" rtlCol="0" anchor="t"/>
          <a:lstStyle/>
          <a:p>
            <a:r>
              <a:rPr lang="en-US" sz="1300" b="1" dirty="0">
                <a:solidFill>
                  <a:srgbClr val="FF6A00"/>
                </a:solidFill>
                <a:latin typeface="Calibri" pitchFamily="34" charset="0"/>
                <a:ea typeface="Calibri" pitchFamily="34" charset="-122"/>
                <a:cs typeface="Calibri" pitchFamily="34" charset="-120"/>
              </a:rPr>
              <a:t>Fee outliers: </a:t>
            </a:r>
            <a:r>
              <a:rPr lang="en-US" sz="1300" dirty="0">
                <a:solidFill>
                  <a:srgbClr val="111111"/>
                </a:solidFill>
                <a:latin typeface="Calibri" pitchFamily="34" charset="0"/>
                <a:ea typeface="Calibri" pitchFamily="34" charset="-122"/>
                <a:cs typeface="Calibri" pitchFamily="34" charset="-120"/>
              </a:rPr>
              <a:t>A handful of extreme outliers 3 rows above $10,000 up to a genuine $200,000, plus one corrupted value of $6,000,000,000,000 written in scientific notation would badly distort any average-fee calculation if not excluded separately.</a:t>
            </a:r>
            <a:endParaRPr lang="en-US" sz="1300" dirty="0"/>
          </a:p>
          <a:p>
            <a:pPr marL="0" indent="0">
              <a:buNone/>
            </a:pPr>
            <a:endParaRPr lang="en-US" sz="1300" dirty="0"/>
          </a:p>
          <a:p>
            <a:pPr marL="0" indent="0">
              <a:buNone/>
            </a:pPr>
            <a:r>
              <a:rPr lang="en-US" sz="1300" b="1" dirty="0">
                <a:solidFill>
                  <a:srgbClr val="FF6A00"/>
                </a:solidFill>
                <a:latin typeface="Calibri" pitchFamily="34" charset="0"/>
                <a:ea typeface="Calibri" pitchFamily="34" charset="-122"/>
                <a:cs typeface="Calibri" pitchFamily="34" charset="-120"/>
              </a:rPr>
              <a:t>Corrupted listings: </a:t>
            </a:r>
            <a:r>
              <a:rPr lang="en-US" sz="1300" dirty="0">
                <a:solidFill>
                  <a:srgbClr val="111111"/>
                </a:solidFill>
                <a:latin typeface="Calibri" pitchFamily="34" charset="0"/>
                <a:ea typeface="Calibri" pitchFamily="34" charset="-122"/>
                <a:cs typeface="Calibri" pitchFamily="34" charset="-120"/>
              </a:rPr>
              <a:t>3 of 5,733 raw records (0.03%) held leaked UI / form-configuration content and were flagged, not interpreted.</a:t>
            </a:r>
            <a:endParaRPr lang="en-US" sz="1300" dirty="0"/>
          </a:p>
        </p:txBody>
      </p:sp>
      <p:sp>
        <p:nvSpPr>
          <p:cNvPr id="15" name="Shape 2">
            <a:extLst>
              <a:ext uri="{FF2B5EF4-FFF2-40B4-BE49-F238E27FC236}">
                <a16:creationId xmlns:a16="http://schemas.microsoft.com/office/drawing/2014/main" id="{104953AF-B4EB-E276-6D16-967894CE9914}"/>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17" name="Text 3">
            <a:extLst>
              <a:ext uri="{FF2B5EF4-FFF2-40B4-BE49-F238E27FC236}">
                <a16:creationId xmlns:a16="http://schemas.microsoft.com/office/drawing/2014/main" id="{9F1AFDD1-8F1D-13EA-1702-DD0358850EAF}"/>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06</a:t>
            </a:r>
            <a:endParaRPr lang="en-US" sz="1400" dirty="0"/>
          </a:p>
        </p:txBody>
      </p:sp>
      <p:sp>
        <p:nvSpPr>
          <p:cNvPr id="16" name="Text 4">
            <a:extLst>
              <a:ext uri="{FF2B5EF4-FFF2-40B4-BE49-F238E27FC236}">
                <a16:creationId xmlns:a16="http://schemas.microsoft.com/office/drawing/2014/main" id="{F8ACE381-E277-5894-0ECD-8276D24ACC8E}"/>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extLst>
      <p:ext uri="{BB962C8B-B14F-4D97-AF65-F5344CB8AC3E}">
        <p14:creationId xmlns:p14="http://schemas.microsoft.com/office/powerpoint/2010/main" val="1021618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marL="0" indent="0">
              <a:buNone/>
            </a:pPr>
            <a:r>
              <a:rPr lang="en-US" sz="2800" b="1" dirty="0">
                <a:solidFill>
                  <a:srgbClr val="111111"/>
                </a:solidFill>
                <a:latin typeface="Cambria" panose="02040503050406030204" pitchFamily="18" charset="0"/>
                <a:ea typeface="Cambria" panose="02040503050406030204" pitchFamily="18" charset="0"/>
                <a:cs typeface="Calibri" pitchFamily="34" charset="-120"/>
              </a:rPr>
              <a:t>Exploratory Findings: Participation</a:t>
            </a:r>
            <a:endParaRPr lang="en-US" sz="2800" dirty="0">
              <a:latin typeface="Cambria" panose="02040503050406030204" pitchFamily="18" charset="0"/>
              <a:ea typeface="Cambria" panose="02040503050406030204" pitchFamily="18" charset="0"/>
            </a:endParaRPr>
          </a:p>
        </p:txBody>
      </p:sp>
      <p:sp>
        <p:nvSpPr>
          <p:cNvPr id="3" name="Text 1"/>
          <p:cNvSpPr txBox="1"/>
          <p:nvPr/>
        </p:nvSpPr>
        <p:spPr>
          <a:xfrm>
            <a:off x="548640" y="822960"/>
            <a:ext cx="8046720" cy="32004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Different denominators for different metrics</a:t>
            </a:r>
            <a:endParaRPr lang="en-US" sz="1300" dirty="0"/>
          </a:p>
        </p:txBody>
      </p:sp>
      <p:graphicFrame>
        <p:nvGraphicFramePr>
          <p:cNvPr id="4" name="Chart 0"/>
          <p:cNvGraphicFramePr/>
          <p:nvPr>
            <p:extLst>
              <p:ext uri="{D42A27DB-BD31-4B8C-83A1-F6EECF244321}">
                <p14:modId xmlns:p14="http://schemas.microsoft.com/office/powerpoint/2010/main" val="1273002126"/>
              </p:ext>
            </p:extLst>
          </p:nvPr>
        </p:nvGraphicFramePr>
        <p:xfrm>
          <a:off x="548640" y="1280160"/>
          <a:ext cx="40233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4343400"/>
            <a:ext cx="4023360" cy="291662"/>
          </a:xfrm>
          <a:prstGeom prst="rect">
            <a:avLst/>
          </a:prstGeom>
          <a:noFill/>
          <a:ln/>
        </p:spPr>
        <p:txBody>
          <a:bodyPr wrap="square" lIns="0" tIns="0" rIns="0" bIns="0" rtlCol="0" anchor="t"/>
          <a:lstStyle/>
          <a:p>
            <a:pPr marL="0" indent="0">
              <a:buNone/>
            </a:pPr>
            <a:r>
              <a:rPr lang="en-US" sz="1050" i="1" dirty="0">
                <a:solidFill>
                  <a:srgbClr val="555555"/>
                </a:solidFill>
                <a:latin typeface="Calibri" pitchFamily="34" charset="0"/>
                <a:ea typeface="Calibri" pitchFamily="34" charset="-122"/>
                <a:cs typeface="Calibri" pitchFamily="34" charset="-120"/>
              </a:rPr>
              <a:t>Completion = completed ÷ application-bearing records (not all records). </a:t>
            </a:r>
            <a:endParaRPr lang="en-US" sz="1050" dirty="0"/>
          </a:p>
        </p:txBody>
      </p:sp>
      <p:sp>
        <p:nvSpPr>
          <p:cNvPr id="6" name="Shape 3"/>
          <p:cNvSpPr/>
          <p:nvPr/>
        </p:nvSpPr>
        <p:spPr>
          <a:xfrm>
            <a:off x="4846320" y="1280160"/>
            <a:ext cx="3749040" cy="1291590"/>
          </a:xfrm>
          <a:prstGeom prst="roundRect">
            <a:avLst>
              <a:gd name="adj" fmla="val 5161"/>
            </a:avLst>
          </a:prstGeom>
          <a:solidFill>
            <a:srgbClr val="111111"/>
          </a:solidFill>
          <a:ln w="12700">
            <a:solidFill>
              <a:srgbClr val="111111"/>
            </a:solidFill>
            <a:prstDash val="solid"/>
          </a:ln>
        </p:spPr>
        <p:txBody>
          <a:bodyPr/>
          <a:lstStyle/>
          <a:p>
            <a:endParaRPr lang="en-US"/>
          </a:p>
        </p:txBody>
      </p:sp>
      <p:sp>
        <p:nvSpPr>
          <p:cNvPr id="7" name="Text 4"/>
          <p:cNvSpPr txBox="1"/>
          <p:nvPr/>
        </p:nvSpPr>
        <p:spPr>
          <a:xfrm>
            <a:off x="5029200" y="1385790"/>
            <a:ext cx="3383280" cy="548640"/>
          </a:xfrm>
          <a:prstGeom prst="rect">
            <a:avLst/>
          </a:prstGeom>
          <a:noFill/>
          <a:ln/>
        </p:spPr>
        <p:txBody>
          <a:bodyPr wrap="square" lIns="0" tIns="0" rIns="0" bIns="0" rtlCol="0" anchor="t"/>
          <a:lstStyle/>
          <a:p>
            <a:pPr marL="0" indent="0">
              <a:buNone/>
            </a:pPr>
            <a:r>
              <a:rPr lang="en-US" sz="2000" b="1" dirty="0">
                <a:solidFill>
                  <a:srgbClr val="FF6A00"/>
                </a:solidFill>
                <a:latin typeface="Calibri" pitchFamily="34" charset="0"/>
                <a:ea typeface="Calibri" pitchFamily="34" charset="-122"/>
                <a:cs typeface="Calibri" pitchFamily="34" charset="-120"/>
              </a:rPr>
              <a:t>8,529 unpaid · 6,363 paid</a:t>
            </a:r>
            <a:endParaRPr lang="en-US" sz="2000" dirty="0"/>
          </a:p>
        </p:txBody>
      </p:sp>
      <p:sp>
        <p:nvSpPr>
          <p:cNvPr id="8" name="Text 5"/>
          <p:cNvSpPr txBox="1"/>
          <p:nvPr/>
        </p:nvSpPr>
        <p:spPr>
          <a:xfrm>
            <a:off x="5029200" y="1980150"/>
            <a:ext cx="3383280" cy="34527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Paid conversion uses only records with a payment status; blanks are not counted as unpaid.</a:t>
            </a:r>
            <a:endParaRPr lang="en-US" sz="1150" dirty="0"/>
          </a:p>
        </p:txBody>
      </p:sp>
      <p:sp>
        <p:nvSpPr>
          <p:cNvPr id="9" name="Shape 6"/>
          <p:cNvSpPr/>
          <p:nvPr/>
        </p:nvSpPr>
        <p:spPr>
          <a:xfrm>
            <a:off x="4846320" y="2761069"/>
            <a:ext cx="3749040" cy="2000111"/>
          </a:xfrm>
          <a:prstGeom prst="roundRect">
            <a:avLst>
              <a:gd name="adj" fmla="val 4000"/>
            </a:avLst>
          </a:prstGeom>
          <a:solidFill>
            <a:srgbClr val="111111"/>
          </a:solidFill>
          <a:ln w="12700">
            <a:solidFill>
              <a:srgbClr val="111111"/>
            </a:solidFill>
            <a:prstDash val="solid"/>
          </a:ln>
        </p:spPr>
        <p:txBody>
          <a:bodyPr/>
          <a:lstStyle/>
          <a:p>
            <a:endParaRPr lang="en-US"/>
          </a:p>
        </p:txBody>
      </p:sp>
      <p:sp>
        <p:nvSpPr>
          <p:cNvPr id="10" name="Text 7"/>
          <p:cNvSpPr txBox="1"/>
          <p:nvPr/>
        </p:nvSpPr>
        <p:spPr>
          <a:xfrm>
            <a:off x="5029200" y="2898230"/>
            <a:ext cx="3383280" cy="432499"/>
          </a:xfrm>
          <a:prstGeom prst="rect">
            <a:avLst/>
          </a:prstGeom>
          <a:noFill/>
          <a:ln/>
        </p:spPr>
        <p:txBody>
          <a:bodyPr wrap="square" lIns="0" tIns="0" rIns="0" bIns="0" rtlCol="0" anchor="t"/>
          <a:lstStyle/>
          <a:p>
            <a:pPr marL="0" indent="0">
              <a:buNone/>
            </a:pPr>
            <a:r>
              <a:rPr lang="en-US" sz="2000" b="1" dirty="0">
                <a:solidFill>
                  <a:srgbClr val="FF6A00"/>
                </a:solidFill>
                <a:latin typeface="Calibri" pitchFamily="34" charset="0"/>
                <a:ea typeface="Calibri" pitchFamily="34" charset="-122"/>
                <a:cs typeface="Calibri" pitchFamily="34" charset="-120"/>
              </a:rPr>
              <a:t>Application Level</a:t>
            </a:r>
            <a:endParaRPr lang="en-US" sz="2000" dirty="0"/>
          </a:p>
        </p:txBody>
      </p:sp>
      <p:sp>
        <p:nvSpPr>
          <p:cNvPr id="11" name="Text 8"/>
          <p:cNvSpPr txBox="1"/>
          <p:nvPr/>
        </p:nvSpPr>
        <p:spPr>
          <a:xfrm>
            <a:off x="5029200" y="3477870"/>
            <a:ext cx="3383280" cy="1283310"/>
          </a:xfrm>
          <a:prstGeom prst="rect">
            <a:avLst/>
          </a:prstGeom>
          <a:noFill/>
          <a:ln/>
        </p:spPr>
        <p:txBody>
          <a:bodyPr wrap="square" lIns="0" tIns="0" rIns="0" bIns="0" rtlCol="0" anchor="t"/>
          <a:lstStyle/>
          <a:p>
            <a:r>
              <a:rPr lang="en-US" sz="1200" dirty="0">
                <a:solidFill>
                  <a:schemeClr val="bg1"/>
                </a:solidFill>
              </a:rPr>
              <a:t>Only </a:t>
            </a:r>
            <a:r>
              <a:rPr lang="en-US" sz="1200" b="1" dirty="0">
                <a:solidFill>
                  <a:schemeClr val="bg1"/>
                </a:solidFill>
              </a:rPr>
              <a:t>10.76% of records</a:t>
            </a:r>
            <a:r>
              <a:rPr lang="en-US" sz="1200" dirty="0">
                <a:solidFill>
                  <a:schemeClr val="bg1"/>
                </a:solidFill>
              </a:rPr>
              <a:t> contain a value in </a:t>
            </a:r>
            <a:r>
              <a:rPr lang="en-US" sz="1400" b="1" dirty="0" err="1">
                <a:solidFill>
                  <a:schemeClr val="bg1"/>
                </a:solidFill>
              </a:rPr>
              <a:t>application_id</a:t>
            </a:r>
            <a:r>
              <a:rPr lang="en-US" sz="1200" dirty="0">
                <a:solidFill>
                  <a:schemeClr val="bg1"/>
                </a:solidFill>
              </a:rPr>
              <a:t>, and the field includes question responses and placeholders rather than reliable IDs. However, its presence provides a useful indicator of </a:t>
            </a:r>
            <a:r>
              <a:rPr lang="en-US" sz="1200" b="1" dirty="0">
                <a:solidFill>
                  <a:schemeClr val="bg1"/>
                </a:solidFill>
              </a:rPr>
              <a:t>application-stage progression </a:t>
            </a:r>
            <a:r>
              <a:rPr lang="en-US" sz="1200" dirty="0">
                <a:solidFill>
                  <a:schemeClr val="bg1"/>
                </a:solidFill>
              </a:rPr>
              <a:t>while acknowledging the field's data-quality limitation.</a:t>
            </a:r>
            <a:endParaRPr lang="en-US" sz="1150" dirty="0">
              <a:solidFill>
                <a:schemeClr val="bg1"/>
              </a:solidFill>
            </a:endParaRPr>
          </a:p>
        </p:txBody>
      </p:sp>
      <p:sp>
        <p:nvSpPr>
          <p:cNvPr id="13" name="Shape 2">
            <a:extLst>
              <a:ext uri="{FF2B5EF4-FFF2-40B4-BE49-F238E27FC236}">
                <a16:creationId xmlns:a16="http://schemas.microsoft.com/office/drawing/2014/main" id="{5E172137-A14A-9422-92D2-8C9445BADA39}"/>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15" name="Text 3">
            <a:extLst>
              <a:ext uri="{FF2B5EF4-FFF2-40B4-BE49-F238E27FC236}">
                <a16:creationId xmlns:a16="http://schemas.microsoft.com/office/drawing/2014/main" id="{92207A60-6CC2-9DDB-E14C-EC54BA52E1A4}"/>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07</a:t>
            </a:r>
            <a:endParaRPr lang="en-US" sz="1400" dirty="0"/>
          </a:p>
        </p:txBody>
      </p:sp>
      <p:sp>
        <p:nvSpPr>
          <p:cNvPr id="14" name="Text 4">
            <a:extLst>
              <a:ext uri="{FF2B5EF4-FFF2-40B4-BE49-F238E27FC236}">
                <a16:creationId xmlns:a16="http://schemas.microsoft.com/office/drawing/2014/main" id="{7739EDF5-1294-23DF-F26C-825EE67A610A}"/>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extLst>
      <p:ext uri="{BB962C8B-B14F-4D97-AF65-F5344CB8AC3E}">
        <p14:creationId xmlns:p14="http://schemas.microsoft.com/office/powerpoint/2010/main" val="1007615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441181"/>
            <a:ext cx="8046720" cy="548640"/>
          </a:xfrm>
          <a:prstGeom prst="rect">
            <a:avLst/>
          </a:prstGeom>
          <a:noFill/>
          <a:ln/>
        </p:spPr>
        <p:txBody>
          <a:bodyPr wrap="square" lIns="0" tIns="0" rIns="0" bIns="0" rtlCol="0" anchor="ctr"/>
          <a:lstStyle/>
          <a:p>
            <a:pPr marL="0" indent="0">
              <a:buNone/>
            </a:pPr>
            <a:r>
              <a:rPr lang="en-US" sz="2800" b="1" dirty="0">
                <a:solidFill>
                  <a:srgbClr val="111111"/>
                </a:solidFill>
                <a:latin typeface="Cambria" panose="02040503050406030204" pitchFamily="18" charset="0"/>
                <a:ea typeface="Cambria" panose="02040503050406030204" pitchFamily="18" charset="0"/>
                <a:cs typeface="Calibri" pitchFamily="34" charset="-120"/>
              </a:rPr>
              <a:t>Data Cleaning: Integrity &amp; Identifiers</a:t>
            </a:r>
            <a:endParaRPr lang="en-US" sz="2800" dirty="0">
              <a:latin typeface="Cambria" panose="02040503050406030204" pitchFamily="18" charset="0"/>
              <a:ea typeface="Cambria" panose="02040503050406030204" pitchFamily="18" charset="0"/>
            </a:endParaRPr>
          </a:p>
        </p:txBody>
      </p:sp>
      <p:sp>
        <p:nvSpPr>
          <p:cNvPr id="3" name="Text 1"/>
          <p:cNvSpPr txBox="1"/>
          <p:nvPr/>
        </p:nvSpPr>
        <p:spPr>
          <a:xfrm>
            <a:off x="548640" y="970115"/>
            <a:ext cx="8046720" cy="32004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What was found and how it was treated</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646475532"/>
              </p:ext>
            </p:extLst>
          </p:nvPr>
        </p:nvGraphicFramePr>
        <p:xfrm>
          <a:off x="548640" y="1473035"/>
          <a:ext cx="8046720" cy="2887980"/>
        </p:xfrm>
        <a:graphic>
          <a:graphicData uri="http://schemas.openxmlformats.org/drawingml/2006/table">
            <a:tbl>
              <a:tblPr/>
              <a:tblGrid>
                <a:gridCol w="12801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Issue</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was found</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Treatment</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FF6A00"/>
                          </a:solidFill>
                          <a:latin typeface="Calibri" pitchFamily="34" charset="0"/>
                          <a:ea typeface="Calibri" pitchFamily="34" charset="-122"/>
                          <a:cs typeface="Calibri" pitchFamily="34" charset="-120"/>
                        </a:rPr>
                        <a:t>Learner pk</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r>
                        <a:rPr lang="en-US" sz="1050" dirty="0"/>
                        <a:t>5,730 of 15,397 records (37.2%) were linked to a distinct learner PK containing only a bare </a:t>
                      </a:r>
                      <a:r>
                        <a:rPr lang="en-US" sz="1100" kern="1200" dirty="0">
                          <a:solidFill>
                            <a:schemeClr val="tx1"/>
                          </a:solidFill>
                          <a:latin typeface="+mn-lt"/>
                          <a:ea typeface="+mn-ea"/>
                          <a:cs typeface="+mn-cs"/>
                        </a:rPr>
                        <a:t>Learner#</a:t>
                      </a:r>
                      <a:r>
                        <a:rPr lang="en-US" sz="1050" dirty="0"/>
                        <a:t> value, separate from the damaged PK records. In addition, 368 records had blank learner IDs, while 236 contained corrupted values such as Base64 or JSON fragments.</a:t>
                      </a: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err="1">
                          <a:solidFill>
                            <a:srgbClr val="111111"/>
                          </a:solidFill>
                          <a:latin typeface="Calibri" pitchFamily="34" charset="0"/>
                          <a:ea typeface="Calibri" pitchFamily="34" charset="-122"/>
                          <a:cs typeface="Calibri" pitchFamily="34" charset="-120"/>
                        </a:rPr>
                        <a:t>sk</a:t>
                      </a:r>
                      <a:r>
                        <a:rPr lang="en-US" sz="1050" dirty="0">
                          <a:solidFill>
                            <a:srgbClr val="111111"/>
                          </a:solidFill>
                          <a:latin typeface="Calibri" pitchFamily="34" charset="0"/>
                          <a:ea typeface="Calibri" pitchFamily="34" charset="-122"/>
                          <a:cs typeface="Calibri" pitchFamily="34" charset="-120"/>
                        </a:rPr>
                        <a:t> used independently of damaged pk; 5730 </a:t>
                      </a:r>
                      <a:r>
                        <a:rPr lang="en-US" sz="1050" dirty="0" err="1">
                          <a:solidFill>
                            <a:srgbClr val="111111"/>
                          </a:solidFill>
                          <a:latin typeface="Calibri" pitchFamily="34" charset="0"/>
                          <a:ea typeface="Calibri" pitchFamily="34" charset="-122"/>
                          <a:cs typeface="Calibri" pitchFamily="34" charset="-120"/>
                        </a:rPr>
                        <a:t>sk</a:t>
                      </a:r>
                      <a:r>
                        <a:rPr lang="en-US" sz="1050" dirty="0">
                          <a:solidFill>
                            <a:srgbClr val="111111"/>
                          </a:solidFill>
                          <a:latin typeface="Calibri" pitchFamily="34" charset="0"/>
                          <a:ea typeface="Calibri" pitchFamily="34" charset="-122"/>
                          <a:cs typeface="Calibri" pitchFamily="34" charset="-120"/>
                        </a:rPr>
                        <a:t> tied to distinct bare </a:t>
                      </a:r>
                      <a:r>
                        <a:rPr lang="en-US" sz="1050" dirty="0" err="1">
                          <a:solidFill>
                            <a:srgbClr val="111111"/>
                          </a:solidFill>
                          <a:latin typeface="Calibri" pitchFamily="34" charset="0"/>
                          <a:ea typeface="Calibri" pitchFamily="34" charset="-122"/>
                          <a:cs typeface="Calibri" pitchFamily="34" charset="-120"/>
                        </a:rPr>
                        <a:t>learner_ID</a:t>
                      </a:r>
                      <a:r>
                        <a:rPr lang="en-US" sz="1050" dirty="0">
                          <a:solidFill>
                            <a:srgbClr val="111111"/>
                          </a:solidFill>
                          <a:latin typeface="Calibri" pitchFamily="34" charset="0"/>
                          <a:ea typeface="Calibri" pitchFamily="34" charset="-122"/>
                          <a:cs typeface="Calibri" pitchFamily="34" charset="-120"/>
                        </a:rPr>
                        <a:t> + 368 blank + 236 corrupted rows removed (unrecoverable)</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50" b="1" dirty="0">
                          <a:solidFill>
                            <a:srgbClr val="FF6A00"/>
                          </a:solidFill>
                          <a:latin typeface="Calibri" pitchFamily="34" charset="0"/>
                          <a:ea typeface="Calibri" pitchFamily="34" charset="-122"/>
                          <a:cs typeface="Calibri" pitchFamily="34" charset="-120"/>
                        </a:rPr>
                        <a:t>Unmatched join</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solidFill>
                            <a:srgbClr val="111111"/>
                          </a:solidFill>
                          <a:latin typeface="Calibri" pitchFamily="34" charset="0"/>
                          <a:ea typeface="Calibri" pitchFamily="34" charset="-122"/>
                          <a:cs typeface="Calibri" pitchFamily="34" charset="-120"/>
                        </a:rPr>
                        <a:t>598 learner records had no opportunity match</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solidFill>
                            <a:srgbClr val="111111"/>
                          </a:solidFill>
                          <a:latin typeface="Calibri" pitchFamily="34" charset="0"/>
                          <a:ea typeface="Calibri" pitchFamily="34" charset="-122"/>
                          <a:cs typeface="Calibri" pitchFamily="34" charset="-120"/>
                        </a:rPr>
                        <a:t>Matched the records removed in identifier cleaning; a data-quality finding, not proof of non-applicants</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1050" b="1" dirty="0">
                          <a:solidFill>
                            <a:srgbClr val="FF6A00"/>
                          </a:solidFill>
                          <a:latin typeface="Calibri" pitchFamily="34" charset="0"/>
                          <a:ea typeface="Calibri" pitchFamily="34" charset="-122"/>
                          <a:cs typeface="Calibri" pitchFamily="34" charset="-120"/>
                        </a:rPr>
                        <a:t>Exact duplicates</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111111"/>
                          </a:solidFill>
                          <a:latin typeface="Calibri" pitchFamily="34" charset="0"/>
                          <a:ea typeface="Calibri" pitchFamily="34" charset="-122"/>
                          <a:cs typeface="Calibri" pitchFamily="34" charset="-120"/>
                        </a:rPr>
                        <a:t>538 of 15,397 rows (3.5%) identical across all 76 columns</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50" dirty="0">
                          <a:solidFill>
                            <a:srgbClr val="111111"/>
                          </a:solidFill>
                          <a:latin typeface="Calibri" pitchFamily="34" charset="0"/>
                          <a:ea typeface="Calibri" pitchFamily="34" charset="-122"/>
                          <a:cs typeface="Calibri" pitchFamily="34" charset="-120"/>
                        </a:rPr>
                        <a:t>Deduplicated to keep one copy; audited separately.</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50" b="1" dirty="0" err="1">
                          <a:solidFill>
                            <a:srgbClr val="FF6A00"/>
                          </a:solidFill>
                          <a:latin typeface="Calibri" pitchFamily="34" charset="0"/>
                          <a:ea typeface="Calibri" pitchFamily="34" charset="-122"/>
                          <a:cs typeface="Calibri" pitchFamily="34" charset="-120"/>
                        </a:rPr>
                        <a:t>Application_id</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solidFill>
                            <a:srgbClr val="111111"/>
                          </a:solidFill>
                          <a:latin typeface="Calibri" pitchFamily="34" charset="0"/>
                          <a:ea typeface="Calibri" pitchFamily="34" charset="-122"/>
                          <a:cs typeface="Calibri" pitchFamily="34" charset="-120"/>
                        </a:rPr>
                        <a:t>Populated in 1,657 rows (10.76%), only 248 distinct values; includes essay text and placeholders such as 111111</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solidFill>
                            <a:srgbClr val="111111"/>
                          </a:solidFill>
                          <a:latin typeface="Calibri" pitchFamily="34" charset="0"/>
                          <a:ea typeface="Calibri" pitchFamily="34" charset="-122"/>
                          <a:cs typeface="Calibri" pitchFamily="34" charset="-120"/>
                        </a:rPr>
                        <a:t>Not used as a row key; application metrics use only rows with a usable value, with limits noted</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buNone/>
                      </a:pPr>
                      <a:r>
                        <a:rPr lang="en-US" sz="1050" b="1" dirty="0">
                          <a:solidFill>
                            <a:schemeClr val="accent2"/>
                          </a:solidFill>
                          <a:latin typeface="Calibri" charset="0"/>
                          <a:ea typeface="Calibri" charset="0"/>
                          <a:cs typeface="Calibri" charset="0"/>
                        </a:rPr>
                        <a:t>Duration</a:t>
                      </a: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t>139 records (15 opportunities) had a duration over 4 years, using </a:t>
                      </a:r>
                      <a:r>
                        <a:rPr lang="en-US" sz="1050" kern="1200" dirty="0">
                          <a:solidFill>
                            <a:schemeClr val="tx1"/>
                          </a:solidFill>
                          <a:latin typeface="+mn-lt"/>
                          <a:ea typeface="+mn-ea"/>
                          <a:cs typeface="+mn-cs"/>
                        </a:rPr>
                        <a:t>duration</a:t>
                      </a:r>
                      <a:r>
                        <a:rPr lang="en-US" sz="1050" dirty="0"/>
                        <a:t> and </a:t>
                      </a:r>
                      <a:r>
                        <a:rPr lang="en-US" sz="1050" kern="1200" dirty="0" err="1">
                          <a:solidFill>
                            <a:schemeClr val="tx1"/>
                          </a:solidFill>
                          <a:latin typeface="+mn-lt"/>
                          <a:ea typeface="+mn-ea"/>
                          <a:cs typeface="+mn-cs"/>
                        </a:rPr>
                        <a:t>duration_type</a:t>
                      </a:r>
                      <a:r>
                        <a:rPr lang="en-US" sz="1050" dirty="0"/>
                        <a:t>. </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latin typeface="Calibri" charset="0"/>
                          <a:ea typeface="Calibri" charset="0"/>
                          <a:cs typeface="Calibri" charset="0"/>
                        </a:rPr>
                        <a:t>Values are flagged errors and record were removed</a:t>
                      </a: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629131658"/>
                  </a:ext>
                </a:extLst>
              </a:tr>
              <a:tr h="0">
                <a:tc>
                  <a:txBody>
                    <a:bodyPr/>
                    <a:lstStyle/>
                    <a:p>
                      <a:pPr marL="0" indent="0">
                        <a:buNone/>
                      </a:pPr>
                      <a:r>
                        <a:rPr lang="en-US" sz="1050" b="1" dirty="0">
                          <a:solidFill>
                            <a:schemeClr val="accent2"/>
                          </a:solidFill>
                          <a:latin typeface="Calibri" charset="0"/>
                          <a:ea typeface="Calibri" charset="0"/>
                          <a:cs typeface="Calibri" charset="0"/>
                        </a:rPr>
                        <a:t>Role(Test)</a:t>
                      </a: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t>447 records (112 opportunities) had a role containing "test".</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50" dirty="0"/>
                        <a:t>Test records are flagged not real activity and removed.</a:t>
                      </a:r>
                      <a:endParaRPr lang="en-US" sz="105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554129215"/>
                  </a:ext>
                </a:extLst>
              </a:tr>
            </a:tbl>
          </a:graphicData>
        </a:graphic>
      </p:graphicFrame>
      <p:sp>
        <p:nvSpPr>
          <p:cNvPr id="8" name="Shape 2">
            <a:extLst>
              <a:ext uri="{FF2B5EF4-FFF2-40B4-BE49-F238E27FC236}">
                <a16:creationId xmlns:a16="http://schemas.microsoft.com/office/drawing/2014/main" id="{A06A41C6-2DF4-54CB-963B-1A8D15F38EFF}"/>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10" name="Text 3">
            <a:extLst>
              <a:ext uri="{FF2B5EF4-FFF2-40B4-BE49-F238E27FC236}">
                <a16:creationId xmlns:a16="http://schemas.microsoft.com/office/drawing/2014/main" id="{874D878F-981A-0A37-91FF-774D803D949F}"/>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08</a:t>
            </a:r>
            <a:endParaRPr lang="en-US" sz="1400" dirty="0"/>
          </a:p>
        </p:txBody>
      </p:sp>
      <p:sp>
        <p:nvSpPr>
          <p:cNvPr id="6" name="Text 4">
            <a:extLst>
              <a:ext uri="{FF2B5EF4-FFF2-40B4-BE49-F238E27FC236}">
                <a16:creationId xmlns:a16="http://schemas.microsoft.com/office/drawing/2014/main" id="{7F7DCAC6-C28E-B31C-3DD2-0557F95FBC3B}"/>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2990"/>
            <a:ext cx="8046720" cy="548640"/>
          </a:xfrm>
          <a:prstGeom prst="rect">
            <a:avLst/>
          </a:prstGeom>
          <a:noFill/>
          <a:ln/>
        </p:spPr>
        <p:txBody>
          <a:bodyPr wrap="square" lIns="0" tIns="0" rIns="0" bIns="0" rtlCol="0" anchor="ctr"/>
          <a:lstStyle/>
          <a:p>
            <a:pPr marL="0" indent="0">
              <a:buNone/>
            </a:pPr>
            <a:r>
              <a:rPr lang="en-US" sz="2800" b="1" dirty="0">
                <a:solidFill>
                  <a:srgbClr val="111111"/>
                </a:solidFill>
                <a:latin typeface="Cambria" panose="02040503050406030204" pitchFamily="18" charset="0"/>
                <a:ea typeface="Cambria" panose="02040503050406030204" pitchFamily="18" charset="0"/>
                <a:cs typeface="Calibri" pitchFamily="34" charset="-120"/>
              </a:rPr>
              <a:t>Data Cleaning: Types, Nulls &amp; Categories</a:t>
            </a:r>
            <a:endParaRPr lang="en-US" sz="2800" dirty="0">
              <a:latin typeface="Cambria" panose="02040503050406030204" pitchFamily="18" charset="0"/>
              <a:ea typeface="Cambria" panose="02040503050406030204" pitchFamily="18" charset="0"/>
            </a:endParaRPr>
          </a:p>
        </p:txBody>
      </p:sp>
      <p:sp>
        <p:nvSpPr>
          <p:cNvPr id="3" name="Text 1"/>
          <p:cNvSpPr txBox="1"/>
          <p:nvPr/>
        </p:nvSpPr>
        <p:spPr>
          <a:xfrm>
            <a:off x="548640" y="1001630"/>
            <a:ext cx="8046720" cy="32004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Standardising values so filters and comparisons are reliable</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685423139"/>
              </p:ext>
            </p:extLst>
          </p:nvPr>
        </p:nvGraphicFramePr>
        <p:xfrm>
          <a:off x="548640" y="1458830"/>
          <a:ext cx="8046720" cy="2225040"/>
        </p:xfrm>
        <a:graphic>
          <a:graphicData uri="http://schemas.openxmlformats.org/drawingml/2006/table">
            <a:tbl>
              <a:tblPr/>
              <a:tblGrid>
                <a:gridCol w="137160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Issue</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was found</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Treatment</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0">
                <a:tc>
                  <a:txBody>
                    <a:bodyPr/>
                    <a:lstStyle/>
                    <a:p>
                      <a:pPr marL="0" indent="0">
                        <a:buNone/>
                      </a:pPr>
                      <a:r>
                        <a:rPr lang="en-US" sz="1000" b="1" dirty="0">
                          <a:solidFill>
                            <a:srgbClr val="FF6A00"/>
                          </a:solidFill>
                          <a:latin typeface="Calibri" pitchFamily="34" charset="0"/>
                          <a:ea typeface="Calibri" pitchFamily="34" charset="-122"/>
                          <a:cs typeface="Calibri" pitchFamily="34" charset="-120"/>
                        </a:rPr>
                        <a:t>Text-typed columns</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All 76 columns text; AVG(fee) failed with "avg(text) does not exist"</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Explicit type conversion; fee validated to a usable range (6-trillion value excluded)</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000" b="1" dirty="0">
                          <a:solidFill>
                            <a:srgbClr val="FF6A00"/>
                          </a:solidFill>
                          <a:latin typeface="Calibri" pitchFamily="34" charset="0"/>
                          <a:ea typeface="Calibri" pitchFamily="34" charset="-122"/>
                          <a:cs typeface="Calibri" pitchFamily="34" charset="-120"/>
                        </a:rPr>
                        <a:t>Literal "null"</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"null", "Null", "NULL" text: 3,720 integrated location rows; 466 in the opportunity table</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Converted to true SQL NULL</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0">
                <a:tc>
                  <a:txBody>
                    <a:bodyPr/>
                    <a:lstStyle/>
                    <a:p>
                      <a:pPr marL="0" indent="0">
                        <a:buNone/>
                      </a:pPr>
                      <a:r>
                        <a:rPr lang="en-US" sz="1000" b="1" dirty="0">
                          <a:solidFill>
                            <a:srgbClr val="FF6A00"/>
                          </a:solidFill>
                          <a:latin typeface="Calibri" pitchFamily="34" charset="0"/>
                          <a:ea typeface="Calibri" pitchFamily="34" charset="-122"/>
                          <a:cs typeface="Calibri" pitchFamily="34" charset="-120"/>
                        </a:rPr>
                        <a:t>Inconsistent categories</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Location had 23 spellings; duration_type had week/weeks, month/months, "da", "yearssss"; EUR vs EURO</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Location reduced to 3 values; six duration units; EURO mapped to EUR</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000" b="1" dirty="0">
                          <a:solidFill>
                            <a:srgbClr val="FF6A00"/>
                          </a:solidFill>
                          <a:latin typeface="Calibri" pitchFamily="34" charset="0"/>
                          <a:ea typeface="Calibri" pitchFamily="34" charset="-122"/>
                          <a:cs typeface="Calibri" pitchFamily="34" charset="-120"/>
                        </a:rPr>
                        <a:t>Export corruption</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10–12 records across both tables with leaked JSON / form-config text</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Flagged and quarantined, not reconstructed</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0">
                <a:tc>
                  <a:txBody>
                    <a:bodyPr/>
                    <a:lstStyle/>
                    <a:p>
                      <a:pPr marL="0" indent="0">
                        <a:buNone/>
                      </a:pPr>
                      <a:r>
                        <a:rPr lang="en-US" sz="1000" b="1" dirty="0">
                          <a:solidFill>
                            <a:srgbClr val="FF6A00"/>
                          </a:solidFill>
                          <a:latin typeface="Calibri" pitchFamily="34" charset="0"/>
                          <a:ea typeface="Calibri" pitchFamily="34" charset="-122"/>
                          <a:cs typeface="Calibri" pitchFamily="34" charset="-120"/>
                        </a:rPr>
                        <a:t>Fee / category mismatch</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~9,050 apparent mismatches across 14,799 matched rows; learner-side blank in 62.7%; only 5 genuine conflicts</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000" dirty="0">
                          <a:solidFill>
                            <a:srgbClr val="111111"/>
                          </a:solidFill>
                          <a:latin typeface="Calibri" pitchFamily="34" charset="0"/>
                          <a:ea typeface="Calibri" pitchFamily="34" charset="-122"/>
                          <a:cs typeface="Calibri" pitchFamily="34" charset="-120"/>
                        </a:rPr>
                        <a:t>Opportunity-side values treated as authoritative; the 5 conflicts kept for review</a:t>
                      </a:r>
                      <a:endParaRPr lang="en-US" sz="1000" dirty="0">
                        <a:latin typeface="Calibri" charset="0"/>
                        <a:ea typeface="Calibri" charset="0"/>
                        <a:cs typeface="Calibri"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2">
            <a:extLst>
              <a:ext uri="{FF2B5EF4-FFF2-40B4-BE49-F238E27FC236}">
                <a16:creationId xmlns:a16="http://schemas.microsoft.com/office/drawing/2014/main" id="{5C6703F5-65F2-ACFE-EA98-A7CF7EC8741A}"/>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9" name="Text 3">
            <a:extLst>
              <a:ext uri="{FF2B5EF4-FFF2-40B4-BE49-F238E27FC236}">
                <a16:creationId xmlns:a16="http://schemas.microsoft.com/office/drawing/2014/main" id="{E0EE4463-F74C-702D-E2B8-6B7BA8E5C280}"/>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09</a:t>
            </a:r>
            <a:endParaRPr lang="en-US" sz="1400" dirty="0"/>
          </a:p>
        </p:txBody>
      </p:sp>
      <p:sp>
        <p:nvSpPr>
          <p:cNvPr id="7" name="Text 4">
            <a:extLst>
              <a:ext uri="{FF2B5EF4-FFF2-40B4-BE49-F238E27FC236}">
                <a16:creationId xmlns:a16="http://schemas.microsoft.com/office/drawing/2014/main" id="{538D3FBA-31B5-3180-EB29-EE67040CE071}"/>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91092941-3E69-63DD-234F-36AD4D333241}"/>
              </a:ext>
            </a:extLst>
          </p:cNvPr>
          <p:cNvSpPr txBox="1"/>
          <p:nvPr/>
        </p:nvSpPr>
        <p:spPr>
          <a:xfrm>
            <a:off x="548640" y="320040"/>
            <a:ext cx="8046720" cy="548640"/>
          </a:xfrm>
          <a:prstGeom prst="rect">
            <a:avLst/>
          </a:prstGeom>
          <a:noFill/>
          <a:ln/>
        </p:spPr>
        <p:txBody>
          <a:bodyPr wrap="square" lIns="0" tIns="0" rIns="0" bIns="0" rtlCol="0" anchor="ctr"/>
          <a:lstStyle/>
          <a:p>
            <a:pPr marL="0" indent="0">
              <a:buNone/>
            </a:pPr>
            <a:r>
              <a:rPr lang="en-US" sz="2800" b="1" dirty="0">
                <a:solidFill>
                  <a:schemeClr val="tx1">
                    <a:lumMod val="95000"/>
                    <a:lumOff val="5000"/>
                  </a:schemeClr>
                </a:solidFill>
                <a:latin typeface="Cambria" panose="02040503050406030204" pitchFamily="18" charset="0"/>
                <a:ea typeface="Cambria" panose="02040503050406030204" pitchFamily="18" charset="0"/>
                <a:cs typeface="Calibri" pitchFamily="34" charset="-120"/>
              </a:rPr>
              <a:t>Data Quality Improvements</a:t>
            </a:r>
            <a:endParaRPr lang="en-US" sz="2800" dirty="0">
              <a:solidFill>
                <a:schemeClr val="tx1">
                  <a:lumMod val="95000"/>
                  <a:lumOff val="5000"/>
                </a:schemeClr>
              </a:solidFill>
              <a:latin typeface="Cambria" panose="02040503050406030204" pitchFamily="18" charset="0"/>
              <a:ea typeface="Cambria" panose="02040503050406030204" pitchFamily="18" charset="0"/>
            </a:endParaRPr>
          </a:p>
        </p:txBody>
      </p:sp>
      <p:sp>
        <p:nvSpPr>
          <p:cNvPr id="5" name="Text 1">
            <a:extLst>
              <a:ext uri="{FF2B5EF4-FFF2-40B4-BE49-F238E27FC236}">
                <a16:creationId xmlns:a16="http://schemas.microsoft.com/office/drawing/2014/main" id="{0FE1512F-0DFD-1D6B-4304-5E1661567C72}"/>
              </a:ext>
            </a:extLst>
          </p:cNvPr>
          <p:cNvSpPr txBox="1"/>
          <p:nvPr/>
        </p:nvSpPr>
        <p:spPr>
          <a:xfrm>
            <a:off x="548640" y="868680"/>
            <a:ext cx="8046720" cy="365760"/>
          </a:xfrm>
          <a:prstGeom prst="rect">
            <a:avLst/>
          </a:prstGeom>
          <a:noFill/>
          <a:ln/>
        </p:spPr>
        <p:txBody>
          <a:bodyPr wrap="square" lIns="0" tIns="0" rIns="0" bIns="0" rtlCol="0" anchor="ctr"/>
          <a:lstStyle/>
          <a:p>
            <a:pPr marL="0" indent="0">
              <a:buNone/>
            </a:pPr>
            <a:r>
              <a:rPr lang="en-US" sz="1400" dirty="0">
                <a:solidFill>
                  <a:schemeClr val="tx1">
                    <a:lumMod val="95000"/>
                    <a:lumOff val="5000"/>
                  </a:schemeClr>
                </a:solidFill>
                <a:latin typeface="Calibri" pitchFamily="34" charset="0"/>
                <a:ea typeface="Calibri" pitchFamily="34" charset="-122"/>
                <a:cs typeface="Calibri" pitchFamily="34" charset="-120"/>
              </a:rPr>
              <a:t>What the cleaned data now guarantees</a:t>
            </a:r>
            <a:endParaRPr lang="en-US" sz="1400" dirty="0">
              <a:solidFill>
                <a:schemeClr val="tx1">
                  <a:lumMod val="95000"/>
                  <a:lumOff val="5000"/>
                </a:schemeClr>
              </a:solidFill>
            </a:endParaRPr>
          </a:p>
        </p:txBody>
      </p:sp>
      <p:sp>
        <p:nvSpPr>
          <p:cNvPr id="7" name="Shape 2">
            <a:extLst>
              <a:ext uri="{FF2B5EF4-FFF2-40B4-BE49-F238E27FC236}">
                <a16:creationId xmlns:a16="http://schemas.microsoft.com/office/drawing/2014/main" id="{10D76E10-C6F3-D99B-B339-53F70BADA450}"/>
              </a:ext>
            </a:extLst>
          </p:cNvPr>
          <p:cNvSpPr/>
          <p:nvPr/>
        </p:nvSpPr>
        <p:spPr>
          <a:xfrm>
            <a:off x="548640" y="1417320"/>
            <a:ext cx="2560320" cy="1508760"/>
          </a:xfrm>
          <a:prstGeom prst="roundRect">
            <a:avLst>
              <a:gd name="adj" fmla="val 4848"/>
            </a:avLst>
          </a:prstGeom>
          <a:solidFill>
            <a:schemeClr val="bg1">
              <a:lumMod val="95000"/>
            </a:schemeClr>
          </a:solidFill>
          <a:ln w="12700">
            <a:solidFill>
              <a:srgbClr val="F1F5F9"/>
            </a:solidFill>
            <a:prstDash val="solid"/>
          </a:ln>
        </p:spPr>
        <p:txBody>
          <a:bodyPr/>
          <a:lstStyle/>
          <a:p>
            <a:endParaRPr lang="en-US"/>
          </a:p>
        </p:txBody>
      </p:sp>
      <p:sp>
        <p:nvSpPr>
          <p:cNvPr id="9" name="Text 3">
            <a:extLst>
              <a:ext uri="{FF2B5EF4-FFF2-40B4-BE49-F238E27FC236}">
                <a16:creationId xmlns:a16="http://schemas.microsoft.com/office/drawing/2014/main" id="{70A869B4-FEA1-EFB2-25C5-FF07A019BE86}"/>
              </a:ext>
            </a:extLst>
          </p:cNvPr>
          <p:cNvSpPr txBox="1"/>
          <p:nvPr/>
        </p:nvSpPr>
        <p:spPr>
          <a:xfrm>
            <a:off x="731520" y="1554480"/>
            <a:ext cx="219456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01  Analysis-ready types</a:t>
            </a:r>
            <a:endParaRPr lang="en-US" sz="1400" dirty="0">
              <a:solidFill>
                <a:schemeClr val="accent2"/>
              </a:solidFill>
            </a:endParaRPr>
          </a:p>
        </p:txBody>
      </p:sp>
      <p:sp>
        <p:nvSpPr>
          <p:cNvPr id="11" name="Text 4">
            <a:extLst>
              <a:ext uri="{FF2B5EF4-FFF2-40B4-BE49-F238E27FC236}">
                <a16:creationId xmlns:a16="http://schemas.microsoft.com/office/drawing/2014/main" id="{67EF59E4-61EF-091F-62BC-A901F6796065}"/>
              </a:ext>
            </a:extLst>
          </p:cNvPr>
          <p:cNvSpPr txBox="1"/>
          <p:nvPr/>
        </p:nvSpPr>
        <p:spPr>
          <a:xfrm>
            <a:off x="731520" y="2057400"/>
            <a:ext cx="2194560" cy="731520"/>
          </a:xfrm>
          <a:prstGeom prst="rect">
            <a:avLst/>
          </a:prstGeom>
          <a:noFill/>
          <a:ln/>
        </p:spPr>
        <p:txBody>
          <a:bodyPr wrap="square" lIns="0" tIns="0" rIns="0" bIns="0" rtlCol="0" anchor="t"/>
          <a:lstStyle/>
          <a:p>
            <a:pPr marL="0" indent="0">
              <a:buNone/>
            </a:pPr>
            <a:r>
              <a:rPr lang="en-US" sz="1200" dirty="0">
                <a:solidFill>
                  <a:schemeClr val="tx1">
                    <a:lumMod val="95000"/>
                    <a:lumOff val="5000"/>
                  </a:schemeClr>
                </a:solidFill>
                <a:latin typeface="Calibri" pitchFamily="34" charset="0"/>
                <a:ea typeface="Calibri" pitchFamily="34" charset="-122"/>
                <a:cs typeface="Calibri" pitchFamily="34" charset="-120"/>
              </a:rPr>
              <a:t>Text dates, numbers and categories converted</a:t>
            </a:r>
            <a:endParaRPr lang="en-US" sz="1200" dirty="0">
              <a:solidFill>
                <a:schemeClr val="tx1">
                  <a:lumMod val="95000"/>
                  <a:lumOff val="5000"/>
                </a:schemeClr>
              </a:solidFill>
            </a:endParaRPr>
          </a:p>
        </p:txBody>
      </p:sp>
      <p:sp>
        <p:nvSpPr>
          <p:cNvPr id="13" name="Shape 5">
            <a:extLst>
              <a:ext uri="{FF2B5EF4-FFF2-40B4-BE49-F238E27FC236}">
                <a16:creationId xmlns:a16="http://schemas.microsoft.com/office/drawing/2014/main" id="{2665157D-9D8C-372C-01D8-3DC1292FE9E9}"/>
              </a:ext>
            </a:extLst>
          </p:cNvPr>
          <p:cNvSpPr/>
          <p:nvPr/>
        </p:nvSpPr>
        <p:spPr>
          <a:xfrm>
            <a:off x="3291840" y="1417320"/>
            <a:ext cx="2560320" cy="1508760"/>
          </a:xfrm>
          <a:prstGeom prst="roundRect">
            <a:avLst>
              <a:gd name="adj" fmla="val 4848"/>
            </a:avLst>
          </a:prstGeom>
          <a:solidFill>
            <a:schemeClr val="bg1">
              <a:lumMod val="95000"/>
            </a:schemeClr>
          </a:solidFill>
          <a:ln w="12700">
            <a:solidFill>
              <a:srgbClr val="F1F5F9"/>
            </a:solidFill>
            <a:prstDash val="solid"/>
          </a:ln>
        </p:spPr>
        <p:txBody>
          <a:bodyPr/>
          <a:lstStyle/>
          <a:p>
            <a:endParaRPr lang="en-US"/>
          </a:p>
        </p:txBody>
      </p:sp>
      <p:sp>
        <p:nvSpPr>
          <p:cNvPr id="15" name="Text 6">
            <a:extLst>
              <a:ext uri="{FF2B5EF4-FFF2-40B4-BE49-F238E27FC236}">
                <a16:creationId xmlns:a16="http://schemas.microsoft.com/office/drawing/2014/main" id="{F5AEEBD0-5C4F-8601-C4D0-12406981FF0A}"/>
              </a:ext>
            </a:extLst>
          </p:cNvPr>
          <p:cNvSpPr txBox="1"/>
          <p:nvPr/>
        </p:nvSpPr>
        <p:spPr>
          <a:xfrm>
            <a:off x="3474720" y="1554480"/>
            <a:ext cx="219456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02  Reliable records</a:t>
            </a:r>
            <a:endParaRPr lang="en-US" sz="1400" dirty="0">
              <a:solidFill>
                <a:schemeClr val="accent2"/>
              </a:solidFill>
            </a:endParaRPr>
          </a:p>
        </p:txBody>
      </p:sp>
      <p:sp>
        <p:nvSpPr>
          <p:cNvPr id="17" name="Text 7">
            <a:extLst>
              <a:ext uri="{FF2B5EF4-FFF2-40B4-BE49-F238E27FC236}">
                <a16:creationId xmlns:a16="http://schemas.microsoft.com/office/drawing/2014/main" id="{BD891A05-A882-7760-E4AE-57414CAF978B}"/>
              </a:ext>
            </a:extLst>
          </p:cNvPr>
          <p:cNvSpPr txBox="1"/>
          <p:nvPr/>
        </p:nvSpPr>
        <p:spPr>
          <a:xfrm>
            <a:off x="3474720" y="2057400"/>
            <a:ext cx="2194560" cy="731520"/>
          </a:xfrm>
          <a:prstGeom prst="rect">
            <a:avLst/>
          </a:prstGeom>
          <a:noFill/>
          <a:ln/>
        </p:spPr>
        <p:txBody>
          <a:bodyPr wrap="square" lIns="0" tIns="0" rIns="0" bIns="0" rtlCol="0" anchor="t"/>
          <a:lstStyle/>
          <a:p>
            <a:pPr marL="0" indent="0">
              <a:buNone/>
            </a:pPr>
            <a:r>
              <a:rPr lang="en-US" sz="1200" dirty="0">
                <a:solidFill>
                  <a:schemeClr val="tx1">
                    <a:lumMod val="95000"/>
                    <a:lumOff val="5000"/>
                  </a:schemeClr>
                </a:solidFill>
                <a:latin typeface="Calibri" pitchFamily="34" charset="0"/>
                <a:ea typeface="Calibri" pitchFamily="34" charset="-122"/>
                <a:cs typeface="Calibri" pitchFamily="34" charset="-120"/>
              </a:rPr>
              <a:t>Blank, corrupt and duplicate rows excluded</a:t>
            </a:r>
            <a:endParaRPr lang="en-US" sz="1200" dirty="0">
              <a:solidFill>
                <a:schemeClr val="tx1">
                  <a:lumMod val="95000"/>
                  <a:lumOff val="5000"/>
                </a:schemeClr>
              </a:solidFill>
            </a:endParaRPr>
          </a:p>
        </p:txBody>
      </p:sp>
      <p:sp>
        <p:nvSpPr>
          <p:cNvPr id="19" name="Shape 8">
            <a:extLst>
              <a:ext uri="{FF2B5EF4-FFF2-40B4-BE49-F238E27FC236}">
                <a16:creationId xmlns:a16="http://schemas.microsoft.com/office/drawing/2014/main" id="{A72FE749-4520-E64C-3097-71D4F9DE4949}"/>
              </a:ext>
            </a:extLst>
          </p:cNvPr>
          <p:cNvSpPr/>
          <p:nvPr/>
        </p:nvSpPr>
        <p:spPr>
          <a:xfrm>
            <a:off x="6035040" y="1417320"/>
            <a:ext cx="2560320" cy="1508760"/>
          </a:xfrm>
          <a:prstGeom prst="roundRect">
            <a:avLst>
              <a:gd name="adj" fmla="val 4848"/>
            </a:avLst>
          </a:prstGeom>
          <a:solidFill>
            <a:schemeClr val="bg1">
              <a:lumMod val="95000"/>
            </a:schemeClr>
          </a:solidFill>
          <a:ln w="12700">
            <a:solidFill>
              <a:srgbClr val="F1F5F9"/>
            </a:solidFill>
            <a:prstDash val="solid"/>
          </a:ln>
        </p:spPr>
        <p:txBody>
          <a:bodyPr/>
          <a:lstStyle/>
          <a:p>
            <a:endParaRPr lang="en-US"/>
          </a:p>
        </p:txBody>
      </p:sp>
      <p:sp>
        <p:nvSpPr>
          <p:cNvPr id="21" name="Text 9">
            <a:extLst>
              <a:ext uri="{FF2B5EF4-FFF2-40B4-BE49-F238E27FC236}">
                <a16:creationId xmlns:a16="http://schemas.microsoft.com/office/drawing/2014/main" id="{0319E8F3-321F-9B06-BD0D-7F2DC1119F60}"/>
              </a:ext>
            </a:extLst>
          </p:cNvPr>
          <p:cNvSpPr txBox="1"/>
          <p:nvPr/>
        </p:nvSpPr>
        <p:spPr>
          <a:xfrm>
            <a:off x="6217920" y="1554480"/>
            <a:ext cx="219456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03  Consistent missing values</a:t>
            </a:r>
            <a:endParaRPr lang="en-US" sz="1400" dirty="0">
              <a:solidFill>
                <a:schemeClr val="accent2"/>
              </a:solidFill>
            </a:endParaRPr>
          </a:p>
        </p:txBody>
      </p:sp>
      <p:sp>
        <p:nvSpPr>
          <p:cNvPr id="23" name="Text 10">
            <a:extLst>
              <a:ext uri="{FF2B5EF4-FFF2-40B4-BE49-F238E27FC236}">
                <a16:creationId xmlns:a16="http://schemas.microsoft.com/office/drawing/2014/main" id="{D1438336-A002-2C77-6035-B51453280170}"/>
              </a:ext>
            </a:extLst>
          </p:cNvPr>
          <p:cNvSpPr txBox="1"/>
          <p:nvPr/>
        </p:nvSpPr>
        <p:spPr>
          <a:xfrm>
            <a:off x="6217920" y="2057400"/>
            <a:ext cx="2194560" cy="731520"/>
          </a:xfrm>
          <a:prstGeom prst="rect">
            <a:avLst/>
          </a:prstGeom>
          <a:noFill/>
          <a:ln/>
        </p:spPr>
        <p:txBody>
          <a:bodyPr wrap="square" lIns="0" tIns="0" rIns="0" bIns="0" rtlCol="0" anchor="t"/>
          <a:lstStyle/>
          <a:p>
            <a:pPr marL="0" indent="0">
              <a:buNone/>
            </a:pPr>
            <a:r>
              <a:rPr lang="en-US" sz="1200" dirty="0">
                <a:solidFill>
                  <a:schemeClr val="tx1">
                    <a:lumMod val="95000"/>
                    <a:lumOff val="5000"/>
                  </a:schemeClr>
                </a:solidFill>
                <a:latin typeface="Calibri" pitchFamily="34" charset="0"/>
                <a:ea typeface="Calibri" pitchFamily="34" charset="-122"/>
                <a:cs typeface="Calibri" pitchFamily="34" charset="-120"/>
              </a:rPr>
              <a:t>Text "null" became real NULL</a:t>
            </a:r>
            <a:endParaRPr lang="en-US" sz="1200" dirty="0">
              <a:solidFill>
                <a:schemeClr val="tx1">
                  <a:lumMod val="95000"/>
                  <a:lumOff val="5000"/>
                </a:schemeClr>
              </a:solidFill>
            </a:endParaRPr>
          </a:p>
        </p:txBody>
      </p:sp>
      <p:sp>
        <p:nvSpPr>
          <p:cNvPr id="25" name="Shape 11">
            <a:extLst>
              <a:ext uri="{FF2B5EF4-FFF2-40B4-BE49-F238E27FC236}">
                <a16:creationId xmlns:a16="http://schemas.microsoft.com/office/drawing/2014/main" id="{BBB94C1A-EF3C-2657-165C-684BCFF3C94D}"/>
              </a:ext>
            </a:extLst>
          </p:cNvPr>
          <p:cNvSpPr/>
          <p:nvPr/>
        </p:nvSpPr>
        <p:spPr>
          <a:xfrm>
            <a:off x="548640" y="3108960"/>
            <a:ext cx="2560320" cy="1508760"/>
          </a:xfrm>
          <a:prstGeom prst="roundRect">
            <a:avLst>
              <a:gd name="adj" fmla="val 4848"/>
            </a:avLst>
          </a:prstGeom>
          <a:solidFill>
            <a:schemeClr val="bg1">
              <a:lumMod val="95000"/>
            </a:schemeClr>
          </a:solidFill>
          <a:ln w="12700">
            <a:solidFill>
              <a:srgbClr val="F1F5F9"/>
            </a:solidFill>
            <a:prstDash val="solid"/>
          </a:ln>
        </p:spPr>
        <p:txBody>
          <a:bodyPr/>
          <a:lstStyle/>
          <a:p>
            <a:endParaRPr lang="en-US"/>
          </a:p>
        </p:txBody>
      </p:sp>
      <p:sp>
        <p:nvSpPr>
          <p:cNvPr id="27" name="Text 12">
            <a:extLst>
              <a:ext uri="{FF2B5EF4-FFF2-40B4-BE49-F238E27FC236}">
                <a16:creationId xmlns:a16="http://schemas.microsoft.com/office/drawing/2014/main" id="{BBE585CE-1698-E3A9-6551-CBA44B698E14}"/>
              </a:ext>
            </a:extLst>
          </p:cNvPr>
          <p:cNvSpPr txBox="1"/>
          <p:nvPr/>
        </p:nvSpPr>
        <p:spPr>
          <a:xfrm>
            <a:off x="731520" y="3246120"/>
            <a:ext cx="219456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04  Clean categories</a:t>
            </a:r>
            <a:endParaRPr lang="en-US" sz="1400" dirty="0">
              <a:solidFill>
                <a:schemeClr val="accent2"/>
              </a:solidFill>
            </a:endParaRPr>
          </a:p>
        </p:txBody>
      </p:sp>
      <p:sp>
        <p:nvSpPr>
          <p:cNvPr id="29" name="Text 13">
            <a:extLst>
              <a:ext uri="{FF2B5EF4-FFF2-40B4-BE49-F238E27FC236}">
                <a16:creationId xmlns:a16="http://schemas.microsoft.com/office/drawing/2014/main" id="{8A84A4B0-082C-C034-8D0F-2DBA6BD6FB57}"/>
              </a:ext>
            </a:extLst>
          </p:cNvPr>
          <p:cNvSpPr txBox="1"/>
          <p:nvPr/>
        </p:nvSpPr>
        <p:spPr>
          <a:xfrm>
            <a:off x="731520" y="3749040"/>
            <a:ext cx="2194560" cy="731520"/>
          </a:xfrm>
          <a:prstGeom prst="rect">
            <a:avLst/>
          </a:prstGeom>
          <a:noFill/>
          <a:ln/>
        </p:spPr>
        <p:txBody>
          <a:bodyPr wrap="square" lIns="0" tIns="0" rIns="0" bIns="0" rtlCol="0" anchor="t"/>
          <a:lstStyle/>
          <a:p>
            <a:pPr marL="0" indent="0">
              <a:buNone/>
            </a:pPr>
            <a:r>
              <a:rPr lang="en-US" sz="1200" dirty="0">
                <a:solidFill>
                  <a:schemeClr val="tx1">
                    <a:lumMod val="95000"/>
                    <a:lumOff val="5000"/>
                  </a:schemeClr>
                </a:solidFill>
                <a:latin typeface="Calibri" pitchFamily="34" charset="0"/>
                <a:ea typeface="Calibri" pitchFamily="34" charset="-122"/>
                <a:cs typeface="Calibri" pitchFamily="34" charset="-120"/>
              </a:rPr>
              <a:t>Spellings, units and labels unified</a:t>
            </a:r>
            <a:endParaRPr lang="en-US" sz="1200" dirty="0">
              <a:solidFill>
                <a:schemeClr val="tx1">
                  <a:lumMod val="95000"/>
                  <a:lumOff val="5000"/>
                </a:schemeClr>
              </a:solidFill>
            </a:endParaRPr>
          </a:p>
        </p:txBody>
      </p:sp>
      <p:sp>
        <p:nvSpPr>
          <p:cNvPr id="31" name="Shape 14">
            <a:extLst>
              <a:ext uri="{FF2B5EF4-FFF2-40B4-BE49-F238E27FC236}">
                <a16:creationId xmlns:a16="http://schemas.microsoft.com/office/drawing/2014/main" id="{27ABEE81-48B3-3A61-7CB1-2813E1CDCCA5}"/>
              </a:ext>
            </a:extLst>
          </p:cNvPr>
          <p:cNvSpPr/>
          <p:nvPr/>
        </p:nvSpPr>
        <p:spPr>
          <a:xfrm>
            <a:off x="3291840" y="3108960"/>
            <a:ext cx="2560320" cy="1508760"/>
          </a:xfrm>
          <a:prstGeom prst="roundRect">
            <a:avLst>
              <a:gd name="adj" fmla="val 4848"/>
            </a:avLst>
          </a:prstGeom>
          <a:solidFill>
            <a:schemeClr val="bg1">
              <a:lumMod val="95000"/>
            </a:schemeClr>
          </a:solidFill>
          <a:ln w="12700">
            <a:solidFill>
              <a:srgbClr val="F1F5F9"/>
            </a:solidFill>
            <a:prstDash val="solid"/>
          </a:ln>
        </p:spPr>
        <p:txBody>
          <a:bodyPr/>
          <a:lstStyle/>
          <a:p>
            <a:endParaRPr lang="en-US"/>
          </a:p>
        </p:txBody>
      </p:sp>
      <p:sp>
        <p:nvSpPr>
          <p:cNvPr id="33" name="Text 15">
            <a:extLst>
              <a:ext uri="{FF2B5EF4-FFF2-40B4-BE49-F238E27FC236}">
                <a16:creationId xmlns:a16="http://schemas.microsoft.com/office/drawing/2014/main" id="{56FBC9B5-3D5C-70D8-604F-096E0854ECF9}"/>
              </a:ext>
            </a:extLst>
          </p:cNvPr>
          <p:cNvSpPr txBox="1"/>
          <p:nvPr/>
        </p:nvSpPr>
        <p:spPr>
          <a:xfrm>
            <a:off x="3474720" y="3246120"/>
            <a:ext cx="219456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05  No double counting</a:t>
            </a:r>
            <a:endParaRPr lang="en-US" sz="1400" dirty="0">
              <a:solidFill>
                <a:schemeClr val="accent2"/>
              </a:solidFill>
            </a:endParaRPr>
          </a:p>
        </p:txBody>
      </p:sp>
      <p:sp>
        <p:nvSpPr>
          <p:cNvPr id="35" name="Text 16">
            <a:extLst>
              <a:ext uri="{FF2B5EF4-FFF2-40B4-BE49-F238E27FC236}">
                <a16:creationId xmlns:a16="http://schemas.microsoft.com/office/drawing/2014/main" id="{48B8B0CE-B016-BF5A-641B-EA95811609B6}"/>
              </a:ext>
            </a:extLst>
          </p:cNvPr>
          <p:cNvSpPr txBox="1"/>
          <p:nvPr/>
        </p:nvSpPr>
        <p:spPr>
          <a:xfrm>
            <a:off x="3474720" y="3749040"/>
            <a:ext cx="2194560" cy="731520"/>
          </a:xfrm>
          <a:prstGeom prst="rect">
            <a:avLst/>
          </a:prstGeom>
          <a:noFill/>
          <a:ln/>
        </p:spPr>
        <p:txBody>
          <a:bodyPr wrap="square" lIns="0" tIns="0" rIns="0" bIns="0" rtlCol="0" anchor="t"/>
          <a:lstStyle/>
          <a:p>
            <a:pPr marL="0" indent="0">
              <a:buNone/>
            </a:pPr>
            <a:r>
              <a:rPr lang="en-US" sz="1200" dirty="0">
                <a:solidFill>
                  <a:schemeClr val="tx1">
                    <a:lumMod val="95000"/>
                    <a:lumOff val="5000"/>
                  </a:schemeClr>
                </a:solidFill>
                <a:latin typeface="Calibri" pitchFamily="34" charset="0"/>
                <a:ea typeface="Calibri" pitchFamily="34" charset="-122"/>
                <a:cs typeface="Calibri" pitchFamily="34" charset="-120"/>
              </a:rPr>
              <a:t>Scholarship and reward values normalised per opportunity</a:t>
            </a:r>
            <a:endParaRPr lang="en-US" sz="1200" dirty="0">
              <a:solidFill>
                <a:schemeClr val="tx1">
                  <a:lumMod val="95000"/>
                  <a:lumOff val="5000"/>
                </a:schemeClr>
              </a:solidFill>
            </a:endParaRPr>
          </a:p>
        </p:txBody>
      </p:sp>
      <p:sp>
        <p:nvSpPr>
          <p:cNvPr id="37" name="Shape 17">
            <a:extLst>
              <a:ext uri="{FF2B5EF4-FFF2-40B4-BE49-F238E27FC236}">
                <a16:creationId xmlns:a16="http://schemas.microsoft.com/office/drawing/2014/main" id="{4ED68DFD-ED70-CBA3-0257-762E54850923}"/>
              </a:ext>
            </a:extLst>
          </p:cNvPr>
          <p:cNvSpPr/>
          <p:nvPr/>
        </p:nvSpPr>
        <p:spPr>
          <a:xfrm>
            <a:off x="6035040" y="3108960"/>
            <a:ext cx="2560320" cy="1508760"/>
          </a:xfrm>
          <a:prstGeom prst="roundRect">
            <a:avLst>
              <a:gd name="adj" fmla="val 4848"/>
            </a:avLst>
          </a:prstGeom>
          <a:solidFill>
            <a:schemeClr val="bg1">
              <a:lumMod val="95000"/>
            </a:schemeClr>
          </a:solidFill>
          <a:ln w="12700">
            <a:solidFill>
              <a:srgbClr val="F1F5F9"/>
            </a:solidFill>
            <a:prstDash val="solid"/>
          </a:ln>
        </p:spPr>
        <p:txBody>
          <a:bodyPr/>
          <a:lstStyle/>
          <a:p>
            <a:endParaRPr lang="en-US"/>
          </a:p>
        </p:txBody>
      </p:sp>
      <p:sp>
        <p:nvSpPr>
          <p:cNvPr id="39" name="Text 18">
            <a:extLst>
              <a:ext uri="{FF2B5EF4-FFF2-40B4-BE49-F238E27FC236}">
                <a16:creationId xmlns:a16="http://schemas.microsoft.com/office/drawing/2014/main" id="{B7F5EAF3-3CFC-0629-D362-BC9D073A4CE5}"/>
              </a:ext>
            </a:extLst>
          </p:cNvPr>
          <p:cNvSpPr txBox="1"/>
          <p:nvPr/>
        </p:nvSpPr>
        <p:spPr>
          <a:xfrm>
            <a:off x="6217920" y="3246120"/>
            <a:ext cx="2194560" cy="457200"/>
          </a:xfrm>
          <a:prstGeom prst="rect">
            <a:avLst/>
          </a:prstGeom>
          <a:noFill/>
          <a:ln/>
        </p:spPr>
        <p:txBody>
          <a:bodyPr wrap="square" lIns="0" tIns="0" rIns="0" bIns="0" rtlCol="0" anchor="t"/>
          <a:lstStyle/>
          <a:p>
            <a:pPr marL="0" indent="0">
              <a:buNone/>
            </a:pPr>
            <a:r>
              <a:rPr lang="en-US" sz="1400" b="1" dirty="0">
                <a:solidFill>
                  <a:schemeClr val="accent2"/>
                </a:solidFill>
                <a:latin typeface="Calibri" pitchFamily="34" charset="0"/>
                <a:ea typeface="Calibri" pitchFamily="34" charset="-122"/>
                <a:cs typeface="Calibri" pitchFamily="34" charset="-120"/>
              </a:rPr>
              <a:t>06  Right populations</a:t>
            </a:r>
            <a:endParaRPr lang="en-US" sz="1400" dirty="0">
              <a:solidFill>
                <a:schemeClr val="accent2"/>
              </a:solidFill>
            </a:endParaRPr>
          </a:p>
        </p:txBody>
      </p:sp>
      <p:sp>
        <p:nvSpPr>
          <p:cNvPr id="41" name="Text 19">
            <a:extLst>
              <a:ext uri="{FF2B5EF4-FFF2-40B4-BE49-F238E27FC236}">
                <a16:creationId xmlns:a16="http://schemas.microsoft.com/office/drawing/2014/main" id="{1371D879-165C-619A-3D21-5356745D672C}"/>
              </a:ext>
            </a:extLst>
          </p:cNvPr>
          <p:cNvSpPr txBox="1"/>
          <p:nvPr/>
        </p:nvSpPr>
        <p:spPr>
          <a:xfrm>
            <a:off x="6217920" y="3749040"/>
            <a:ext cx="2194560" cy="731520"/>
          </a:xfrm>
          <a:prstGeom prst="rect">
            <a:avLst/>
          </a:prstGeom>
          <a:noFill/>
          <a:ln/>
        </p:spPr>
        <p:txBody>
          <a:bodyPr wrap="square" lIns="0" tIns="0" rIns="0" bIns="0" rtlCol="0" anchor="t"/>
          <a:lstStyle/>
          <a:p>
            <a:pPr marL="0" indent="0">
              <a:buNone/>
            </a:pPr>
            <a:r>
              <a:rPr lang="en-US" sz="1200" dirty="0">
                <a:solidFill>
                  <a:schemeClr val="tx1">
                    <a:lumMod val="95000"/>
                    <a:lumOff val="5000"/>
                  </a:schemeClr>
                </a:solidFill>
                <a:latin typeface="Calibri" pitchFamily="34" charset="0"/>
                <a:ea typeface="Calibri" pitchFamily="34" charset="-122"/>
                <a:cs typeface="Calibri" pitchFamily="34" charset="-120"/>
              </a:rPr>
              <a:t>Sign-ups kept separate from applications; minimum of 5 applications for opportunity comparisons</a:t>
            </a:r>
            <a:endParaRPr lang="en-US" sz="1200" dirty="0">
              <a:solidFill>
                <a:schemeClr val="tx1">
                  <a:lumMod val="95000"/>
                  <a:lumOff val="5000"/>
                </a:schemeClr>
              </a:solidFill>
            </a:endParaRPr>
          </a:p>
        </p:txBody>
      </p:sp>
      <p:sp>
        <p:nvSpPr>
          <p:cNvPr id="4" name="Shape 2">
            <a:extLst>
              <a:ext uri="{FF2B5EF4-FFF2-40B4-BE49-F238E27FC236}">
                <a16:creationId xmlns:a16="http://schemas.microsoft.com/office/drawing/2014/main" id="{A78D32CA-4F89-54A6-4CFD-C8B255F6D010}"/>
              </a:ext>
            </a:extLst>
          </p:cNvPr>
          <p:cNvSpPr/>
          <p:nvPr/>
        </p:nvSpPr>
        <p:spPr>
          <a:xfrm>
            <a:off x="8183880" y="365760"/>
            <a:ext cx="502920" cy="502920"/>
          </a:xfrm>
          <a:prstGeom prst="ellipse">
            <a:avLst/>
          </a:prstGeom>
          <a:solidFill>
            <a:srgbClr val="111111"/>
          </a:solidFill>
          <a:ln w="12700">
            <a:solidFill>
              <a:srgbClr val="111111"/>
            </a:solidFill>
            <a:prstDash val="solid"/>
          </a:ln>
        </p:spPr>
        <p:txBody>
          <a:bodyPr/>
          <a:lstStyle/>
          <a:p>
            <a:endParaRPr lang="en-US"/>
          </a:p>
        </p:txBody>
      </p:sp>
      <p:sp>
        <p:nvSpPr>
          <p:cNvPr id="8" name="Text 3">
            <a:extLst>
              <a:ext uri="{FF2B5EF4-FFF2-40B4-BE49-F238E27FC236}">
                <a16:creationId xmlns:a16="http://schemas.microsoft.com/office/drawing/2014/main" id="{E3FB8695-E73B-FDF3-3E4B-2A949CA2EC28}"/>
              </a:ext>
            </a:extLst>
          </p:cNvPr>
          <p:cNvSpPr txBox="1"/>
          <p:nvPr/>
        </p:nvSpPr>
        <p:spPr>
          <a:xfrm>
            <a:off x="8183880" y="4164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10</a:t>
            </a:r>
            <a:endParaRPr lang="en-US" sz="1400" dirty="0"/>
          </a:p>
        </p:txBody>
      </p:sp>
      <p:sp>
        <p:nvSpPr>
          <p:cNvPr id="6" name="Text 4">
            <a:extLst>
              <a:ext uri="{FF2B5EF4-FFF2-40B4-BE49-F238E27FC236}">
                <a16:creationId xmlns:a16="http://schemas.microsoft.com/office/drawing/2014/main" id="{E9C25149-53F0-5269-FBCE-5B3DBCF778FB}"/>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extLst>
      <p:ext uri="{BB962C8B-B14F-4D97-AF65-F5344CB8AC3E}">
        <p14:creationId xmlns:p14="http://schemas.microsoft.com/office/powerpoint/2010/main" val="2136485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anose="02040503050406030204" pitchFamily="18" charset="0"/>
                <a:ea typeface="Cambria" panose="02040503050406030204" pitchFamily="18" charset="0"/>
                <a:cs typeface="Calibri" pitchFamily="34" charset="-120"/>
              </a:rPr>
              <a:t>Net Effect of Cleaning</a:t>
            </a:r>
            <a:endParaRPr lang="en-US" sz="2800" dirty="0">
              <a:latin typeface="Cambria" panose="02040503050406030204" pitchFamily="18" charset="0"/>
              <a:ea typeface="Cambria" panose="02040503050406030204" pitchFamily="18" charset="0"/>
            </a:endParaRPr>
          </a:p>
        </p:txBody>
      </p:sp>
      <p:sp>
        <p:nvSpPr>
          <p:cNvPr id="3" name="Text 1"/>
          <p:cNvSpPr txBox="1"/>
          <p:nvPr/>
        </p:nvSpPr>
        <p:spPr>
          <a:xfrm>
            <a:off x="548640" y="914400"/>
            <a:ext cx="3657600" cy="548640"/>
          </a:xfrm>
          <a:prstGeom prst="rect">
            <a:avLst/>
          </a:prstGeom>
          <a:noFill/>
          <a:ln/>
        </p:spPr>
        <p:txBody>
          <a:bodyPr wrap="square" lIns="0" tIns="0" rIns="0" bIns="0" rtlCol="0" anchor="ctr"/>
          <a:lstStyle/>
          <a:p>
            <a:pPr marL="0" indent="0">
              <a:buNone/>
            </a:pPr>
            <a:r>
              <a:rPr lang="en-US" sz="3000" b="1" dirty="0">
                <a:solidFill>
                  <a:srgbClr val="FF6A00"/>
                </a:solidFill>
                <a:latin typeface="Calibri" pitchFamily="34" charset="0"/>
                <a:ea typeface="Calibri" pitchFamily="34" charset="-122"/>
                <a:cs typeface="Calibri" pitchFamily="34" charset="-120"/>
              </a:rPr>
              <a:t>15,397 → 8482 rows</a:t>
            </a:r>
            <a:endParaRPr lang="en-US" sz="3000" dirty="0"/>
          </a:p>
        </p:txBody>
      </p:sp>
      <p:sp>
        <p:nvSpPr>
          <p:cNvPr id="4" name="Text 2"/>
          <p:cNvSpPr txBox="1"/>
          <p:nvPr/>
        </p:nvSpPr>
        <p:spPr>
          <a:xfrm>
            <a:off x="548640" y="1600200"/>
            <a:ext cx="3291840" cy="201168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6915 removed on the identifier criteria (368 blank, 236 corrupted, 5730 bare learner identifier, 447 Role(test), 139 duration over float(&gt;4ears)).</a:t>
            </a:r>
          </a:p>
          <a:p>
            <a:pPr marL="0" indent="0">
              <a:buNone/>
            </a:pPr>
            <a:endParaRPr lang="en-US" sz="1300" dirty="0">
              <a:solidFill>
                <a:srgbClr val="FFFFFF"/>
              </a:solidFill>
              <a:latin typeface="Calibri" pitchFamily="34" charset="0"/>
              <a:ea typeface="Calibri" pitchFamily="34" charset="-122"/>
              <a:cs typeface="Calibri" pitchFamily="34" charset="-120"/>
            </a:endParaRPr>
          </a:p>
          <a:p>
            <a:pPr marL="0" indent="0">
              <a:buNone/>
            </a:pPr>
            <a:r>
              <a:rPr lang="en-US" sz="1300" dirty="0">
                <a:solidFill>
                  <a:srgbClr val="FFFFFF"/>
                </a:solidFill>
                <a:latin typeface="Calibri" pitchFamily="34" charset="0"/>
                <a:ea typeface="Calibri" pitchFamily="34" charset="-122"/>
                <a:cs typeface="Calibri" pitchFamily="34" charset="-120"/>
              </a:rPr>
              <a:t> The 538 duplicates were audited separately and are not an extra 538 removed unless the final dedup step removed them.</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441247204"/>
              </p:ext>
            </p:extLst>
          </p:nvPr>
        </p:nvGraphicFramePr>
        <p:xfrm>
          <a:off x="4114800" y="970630"/>
          <a:ext cx="4480560" cy="3657600"/>
        </p:xfrm>
        <a:graphic>
          <a:graphicData uri="http://schemas.openxmlformats.org/drawingml/2006/table">
            <a:tbl>
              <a:tblPr/>
              <a:tblGrid>
                <a:gridCol w="2286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F6A00"/>
                    </a:solidFill>
                  </a:tcPr>
                </a:tc>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Before</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F6A00"/>
                    </a:solidFill>
                  </a:tcPr>
                </a:tc>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FF6A00"/>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Total rows</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15,397</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8482</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Blank identifier rows</a:t>
                      </a: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368</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Corrupted identifier rows</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236</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Literal "null" locations</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3,720</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Location spellings</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COUNT(DISTINCT pk)</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597</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551</a:t>
                      </a:r>
                      <a:endParaRPr lang="en-US" sz="1200" dirty="0">
                        <a:latin typeface="Calibri" charset="0"/>
                        <a:ea typeface="Calibri" charset="0"/>
                        <a:cs typeface="Calibri" charset="0"/>
                      </a:endParaRP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10006"/>
                  </a:ext>
                </a:extLst>
              </a:tr>
              <a:tr h="457200">
                <a:tc>
                  <a:txBody>
                    <a:bodyPr/>
                    <a:lstStyle/>
                    <a:p>
                      <a:pPr marL="0" indent="0">
                        <a:buNone/>
                      </a:pPr>
                      <a:r>
                        <a:rPr lang="en-US" sz="1200" dirty="0">
                          <a:solidFill>
                            <a:schemeClr val="bg1"/>
                          </a:solidFill>
                          <a:latin typeface="Calibri" charset="0"/>
                          <a:ea typeface="Calibri" charset="0"/>
                          <a:cs typeface="Calibri" charset="0"/>
                        </a:rPr>
                        <a:t>COUNT(DISTINCT </a:t>
                      </a:r>
                      <a:r>
                        <a:rPr lang="en-US" sz="1200" dirty="0" err="1">
                          <a:solidFill>
                            <a:schemeClr val="bg1"/>
                          </a:solidFill>
                          <a:latin typeface="Calibri" charset="0"/>
                          <a:ea typeface="Calibri" charset="0"/>
                          <a:cs typeface="Calibri" charset="0"/>
                        </a:rPr>
                        <a:t>opportunity_ID</a:t>
                      </a:r>
                      <a:r>
                        <a:rPr lang="en-US" sz="1200" dirty="0">
                          <a:solidFill>
                            <a:schemeClr val="bg1"/>
                          </a:solidFill>
                          <a:latin typeface="Calibri" charset="0"/>
                          <a:ea typeface="Calibri" charset="0"/>
                          <a:cs typeface="Calibri" charset="0"/>
                        </a:rPr>
                        <a:t>)</a:t>
                      </a: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chemeClr val="bg1"/>
                          </a:solidFill>
                          <a:latin typeface="Calibri" charset="0"/>
                          <a:ea typeface="Calibri" charset="0"/>
                          <a:cs typeface="Calibri" charset="0"/>
                        </a:rPr>
                        <a:t>5733</a:t>
                      </a: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tc>
                  <a:txBody>
                    <a:bodyPr/>
                    <a:lstStyle/>
                    <a:p>
                      <a:pPr marL="0" indent="0">
                        <a:buNone/>
                      </a:pPr>
                      <a:r>
                        <a:rPr lang="en-US" sz="1200" dirty="0">
                          <a:solidFill>
                            <a:schemeClr val="bg1"/>
                          </a:solidFill>
                          <a:latin typeface="Calibri" charset="0"/>
                          <a:ea typeface="Calibri" charset="0"/>
                          <a:cs typeface="Calibri" charset="0"/>
                        </a:rPr>
                        <a:t>3045</a:t>
                      </a:r>
                    </a:p>
                  </a:txBody>
                  <a:tcP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22222"/>
                    </a:solidFill>
                  </a:tcPr>
                </a:tc>
                <a:extLst>
                  <a:ext uri="{0D108BD9-81ED-4DB2-BD59-A6C34878D82A}">
                    <a16:rowId xmlns:a16="http://schemas.microsoft.com/office/drawing/2014/main" val="988950437"/>
                  </a:ext>
                </a:extLst>
              </a:tr>
            </a:tbl>
          </a:graphicData>
        </a:graphic>
      </p:graphicFrame>
      <p:sp>
        <p:nvSpPr>
          <p:cNvPr id="7" name="Shape 2">
            <a:extLst>
              <a:ext uri="{FF2B5EF4-FFF2-40B4-BE49-F238E27FC236}">
                <a16:creationId xmlns:a16="http://schemas.microsoft.com/office/drawing/2014/main" id="{FF5D3279-0A72-CB75-AB5B-9BBD9F39E174}"/>
              </a:ext>
            </a:extLst>
          </p:cNvPr>
          <p:cNvSpPr/>
          <p:nvPr/>
        </p:nvSpPr>
        <p:spPr>
          <a:xfrm>
            <a:off x="8183880" y="260660"/>
            <a:ext cx="502920" cy="502920"/>
          </a:xfrm>
          <a:prstGeom prst="ellipse">
            <a:avLst/>
          </a:prstGeom>
          <a:solidFill>
            <a:schemeClr val="bg1"/>
          </a:solidFill>
          <a:ln w="12700">
            <a:solidFill>
              <a:srgbClr val="111111"/>
            </a:solidFill>
            <a:prstDash val="solid"/>
          </a:ln>
        </p:spPr>
        <p:txBody>
          <a:bodyPr/>
          <a:lstStyle/>
          <a:p>
            <a:endParaRPr lang="en-US"/>
          </a:p>
        </p:txBody>
      </p:sp>
      <p:sp>
        <p:nvSpPr>
          <p:cNvPr id="9" name="Text 3">
            <a:extLst>
              <a:ext uri="{FF2B5EF4-FFF2-40B4-BE49-F238E27FC236}">
                <a16:creationId xmlns:a16="http://schemas.microsoft.com/office/drawing/2014/main" id="{C8769D78-8F9A-B68C-8A12-2DBF86DCBDD4}"/>
              </a:ext>
            </a:extLst>
          </p:cNvPr>
          <p:cNvSpPr txBox="1"/>
          <p:nvPr/>
        </p:nvSpPr>
        <p:spPr>
          <a:xfrm>
            <a:off x="8183880" y="311372"/>
            <a:ext cx="502920" cy="401495"/>
          </a:xfrm>
          <a:prstGeom prst="rect">
            <a:avLst/>
          </a:prstGeom>
          <a:noFill/>
          <a:ln/>
        </p:spPr>
        <p:txBody>
          <a:bodyPr wrap="square" lIns="0" tIns="0" rIns="0" bIns="0" rtlCol="0" anchor="ctr"/>
          <a:lstStyle/>
          <a:p>
            <a:pPr marL="0" indent="0" algn="ctr">
              <a:buNone/>
            </a:pPr>
            <a:r>
              <a:rPr lang="en-US" sz="1400" b="1" dirty="0">
                <a:solidFill>
                  <a:srgbClr val="FF6A00"/>
                </a:solidFill>
                <a:latin typeface="Calibri" pitchFamily="34" charset="0"/>
                <a:ea typeface="Calibri" pitchFamily="34" charset="-122"/>
                <a:cs typeface="Calibri" pitchFamily="34" charset="-120"/>
              </a:rPr>
              <a:t>11</a:t>
            </a:r>
            <a:endParaRPr lang="en-US" sz="1400" dirty="0"/>
          </a:p>
        </p:txBody>
      </p:sp>
      <p:sp>
        <p:nvSpPr>
          <p:cNvPr id="8" name="Text 4">
            <a:extLst>
              <a:ext uri="{FF2B5EF4-FFF2-40B4-BE49-F238E27FC236}">
                <a16:creationId xmlns:a16="http://schemas.microsoft.com/office/drawing/2014/main" id="{01A58711-BA0C-6359-B6DB-F9784AC2DDE8}"/>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065ECB56-7E68-B4B5-B633-957B53CA8D13}"/>
              </a:ext>
            </a:extLst>
          </p:cNvPr>
          <p:cNvPicPr>
            <a:picLocks noChangeAspect="1"/>
          </p:cNvPicPr>
          <p:nvPr/>
        </p:nvPicPr>
        <p:blipFill>
          <a:blip r:embed="rId3"/>
          <a:stretch>
            <a:fillRect/>
          </a:stretch>
        </p:blipFill>
        <p:spPr>
          <a:xfrm>
            <a:off x="365760" y="787970"/>
            <a:ext cx="5173317" cy="4093340"/>
          </a:xfrm>
          <a:prstGeom prst="rect">
            <a:avLst/>
          </a:prstGeom>
        </p:spPr>
      </p:pic>
      <p:sp>
        <p:nvSpPr>
          <p:cNvPr id="2" name="Text 0"/>
          <p:cNvSpPr txBox="1"/>
          <p:nvPr/>
        </p:nvSpPr>
        <p:spPr>
          <a:xfrm>
            <a:off x="365760" y="182880"/>
            <a:ext cx="8412480" cy="457200"/>
          </a:xfrm>
          <a:prstGeom prst="rect">
            <a:avLst/>
          </a:prstGeom>
          <a:noFill/>
          <a:ln/>
        </p:spPr>
        <p:txBody>
          <a:bodyPr wrap="square" lIns="0" tIns="0" rIns="0" bIns="0" rtlCol="0" anchor="ctr"/>
          <a:lstStyle/>
          <a:p>
            <a:pPr marL="0" indent="0">
              <a:buNone/>
            </a:pPr>
            <a:r>
              <a:rPr lang="en-US" sz="2200" b="1" dirty="0">
                <a:solidFill>
                  <a:srgbClr val="111111"/>
                </a:solidFill>
                <a:latin typeface="Calibri" pitchFamily="34" charset="0"/>
                <a:ea typeface="Calibri" pitchFamily="34" charset="-122"/>
                <a:cs typeface="Calibri" pitchFamily="34" charset="-120"/>
              </a:rPr>
              <a:t>Dashboard 1: Overview, Opportunity Rankings &amp; Lead Source</a:t>
            </a:r>
            <a:endParaRPr lang="en-US" sz="2200" dirty="0"/>
          </a:p>
        </p:txBody>
      </p:sp>
      <p:sp>
        <p:nvSpPr>
          <p:cNvPr id="4" name="Shape 1"/>
          <p:cNvSpPr/>
          <p:nvPr/>
        </p:nvSpPr>
        <p:spPr>
          <a:xfrm>
            <a:off x="365760" y="777240"/>
            <a:ext cx="5173317" cy="4114800"/>
          </a:xfrm>
          <a:prstGeom prst="rect">
            <a:avLst/>
          </a:prstGeom>
          <a:ln w="12700">
            <a:solidFill>
              <a:srgbClr val="111111"/>
            </a:solidFill>
            <a:prstDash val="solid"/>
          </a:ln>
        </p:spPr>
        <p:txBody>
          <a:bodyPr/>
          <a:lstStyle/>
          <a:p>
            <a:endParaRPr lang="en-US"/>
          </a:p>
        </p:txBody>
      </p:sp>
      <p:grpSp>
        <p:nvGrpSpPr>
          <p:cNvPr id="32" name="Group 31">
            <a:extLst>
              <a:ext uri="{FF2B5EF4-FFF2-40B4-BE49-F238E27FC236}">
                <a16:creationId xmlns:a16="http://schemas.microsoft.com/office/drawing/2014/main" id="{78638F60-72E2-23F2-969C-8FEDD1E93428}"/>
              </a:ext>
            </a:extLst>
          </p:cNvPr>
          <p:cNvGrpSpPr/>
          <p:nvPr/>
        </p:nvGrpSpPr>
        <p:grpSpPr>
          <a:xfrm>
            <a:off x="301951" y="1129788"/>
            <a:ext cx="246888" cy="257337"/>
            <a:chOff x="301951" y="1129788"/>
            <a:chExt cx="246888" cy="257337"/>
          </a:xfrm>
        </p:grpSpPr>
        <p:sp>
          <p:nvSpPr>
            <p:cNvPr id="5" name="Shape 2"/>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6" name="Text 3"/>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1</a:t>
              </a:r>
              <a:endParaRPr lang="en-US" sz="1000" dirty="0"/>
            </a:p>
          </p:txBody>
        </p:sp>
      </p:grpSp>
      <p:sp>
        <p:nvSpPr>
          <p:cNvPr id="17" name="Shape 14"/>
          <p:cNvSpPr/>
          <p:nvPr/>
        </p:nvSpPr>
        <p:spPr>
          <a:xfrm>
            <a:off x="5767677" y="813816"/>
            <a:ext cx="246888" cy="246888"/>
          </a:xfrm>
          <a:prstGeom prst="ellipse">
            <a:avLst/>
          </a:prstGeom>
          <a:solidFill>
            <a:srgbClr val="FF6A00"/>
          </a:solidFill>
          <a:ln w="12700">
            <a:solidFill>
              <a:srgbClr val="FF6A00"/>
            </a:solidFill>
            <a:prstDash val="solid"/>
          </a:ln>
        </p:spPr>
        <p:txBody>
          <a:bodyPr/>
          <a:lstStyle/>
          <a:p>
            <a:endParaRPr lang="en-US"/>
          </a:p>
        </p:txBody>
      </p:sp>
      <p:sp>
        <p:nvSpPr>
          <p:cNvPr id="18" name="Text 15"/>
          <p:cNvSpPr txBox="1"/>
          <p:nvPr/>
        </p:nvSpPr>
        <p:spPr>
          <a:xfrm>
            <a:off x="5767677" y="81381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1</a:t>
            </a:r>
            <a:endParaRPr lang="en-US" sz="1000" dirty="0"/>
          </a:p>
        </p:txBody>
      </p:sp>
      <p:sp>
        <p:nvSpPr>
          <p:cNvPr id="19" name="Text 16"/>
          <p:cNvSpPr txBox="1"/>
          <p:nvPr/>
        </p:nvSpPr>
        <p:spPr>
          <a:xfrm>
            <a:off x="6087717" y="777240"/>
            <a:ext cx="269052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KPI cards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8.5K sign-ups, 1,564 applications, 551 learners; ~7% of applications completed; sign-ups −33.94% Q4 2025 to Q1 2026.</a:t>
            </a:r>
            <a:endParaRPr lang="en-US" sz="1050" dirty="0"/>
          </a:p>
        </p:txBody>
      </p:sp>
      <p:sp>
        <p:nvSpPr>
          <p:cNvPr id="20" name="Shape 17"/>
          <p:cNvSpPr/>
          <p:nvPr/>
        </p:nvSpPr>
        <p:spPr>
          <a:xfrm>
            <a:off x="5767677" y="1636776"/>
            <a:ext cx="246888" cy="246888"/>
          </a:xfrm>
          <a:prstGeom prst="ellipse">
            <a:avLst/>
          </a:prstGeom>
          <a:solidFill>
            <a:srgbClr val="FF6A00"/>
          </a:solidFill>
          <a:ln w="12700">
            <a:solidFill>
              <a:srgbClr val="FF6A00"/>
            </a:solidFill>
            <a:prstDash val="solid"/>
          </a:ln>
        </p:spPr>
        <p:txBody>
          <a:bodyPr/>
          <a:lstStyle/>
          <a:p>
            <a:endParaRPr lang="en-US"/>
          </a:p>
        </p:txBody>
      </p:sp>
      <p:sp>
        <p:nvSpPr>
          <p:cNvPr id="21" name="Text 18"/>
          <p:cNvSpPr txBox="1"/>
          <p:nvPr/>
        </p:nvSpPr>
        <p:spPr>
          <a:xfrm>
            <a:off x="5767677" y="163677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2</a:t>
            </a:r>
            <a:endParaRPr lang="en-US" sz="1000" dirty="0"/>
          </a:p>
        </p:txBody>
      </p:sp>
      <p:sp>
        <p:nvSpPr>
          <p:cNvPr id="22" name="Text 19"/>
          <p:cNvSpPr txBox="1"/>
          <p:nvPr/>
        </p:nvSpPr>
        <p:spPr>
          <a:xfrm>
            <a:off x="6087717" y="1600200"/>
            <a:ext cx="269052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Conversion trend</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Applications climb across the year while sign-ups spike and fall: they do not move together.</a:t>
            </a:r>
            <a:endParaRPr lang="en-US" sz="1050" dirty="0"/>
          </a:p>
        </p:txBody>
      </p:sp>
      <p:sp>
        <p:nvSpPr>
          <p:cNvPr id="23" name="Shape 20"/>
          <p:cNvSpPr/>
          <p:nvPr/>
        </p:nvSpPr>
        <p:spPr>
          <a:xfrm>
            <a:off x="5767677" y="2459736"/>
            <a:ext cx="246888" cy="246888"/>
          </a:xfrm>
          <a:prstGeom prst="ellipse">
            <a:avLst/>
          </a:prstGeom>
          <a:solidFill>
            <a:srgbClr val="FF6A00"/>
          </a:solidFill>
          <a:ln w="12700">
            <a:solidFill>
              <a:srgbClr val="FF6A00"/>
            </a:solidFill>
            <a:prstDash val="solid"/>
          </a:ln>
        </p:spPr>
        <p:txBody>
          <a:bodyPr/>
          <a:lstStyle/>
          <a:p>
            <a:endParaRPr lang="en-US"/>
          </a:p>
        </p:txBody>
      </p:sp>
      <p:sp>
        <p:nvSpPr>
          <p:cNvPr id="24" name="Text 21"/>
          <p:cNvSpPr txBox="1"/>
          <p:nvPr/>
        </p:nvSpPr>
        <p:spPr>
          <a:xfrm>
            <a:off x="5767677" y="245973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sp>
        <p:nvSpPr>
          <p:cNvPr id="25" name="Text 22"/>
          <p:cNvSpPr txBox="1"/>
          <p:nvPr/>
        </p:nvSpPr>
        <p:spPr>
          <a:xfrm>
            <a:off x="6087717" y="2423160"/>
            <a:ext cx="269052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Categories &amp; ranking table</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Internship: 3,163 sign-ups, 10.36% completed. Competition: 1,083 of 1,564 applications. Course: 664 sign-ups, 4 applications. Masterclass tops at 11.11%, on only 18 applications.</a:t>
            </a:r>
            <a:endParaRPr lang="en-US" sz="1050" dirty="0"/>
          </a:p>
        </p:txBody>
      </p:sp>
      <p:sp>
        <p:nvSpPr>
          <p:cNvPr id="26" name="Shape 23"/>
          <p:cNvSpPr/>
          <p:nvPr/>
        </p:nvSpPr>
        <p:spPr>
          <a:xfrm>
            <a:off x="5767677" y="3282696"/>
            <a:ext cx="246888" cy="246888"/>
          </a:xfrm>
          <a:prstGeom prst="ellipse">
            <a:avLst/>
          </a:prstGeom>
          <a:solidFill>
            <a:srgbClr val="FF6A00"/>
          </a:solidFill>
          <a:ln w="12700">
            <a:solidFill>
              <a:srgbClr val="FF6A00"/>
            </a:solidFill>
            <a:prstDash val="solid"/>
          </a:ln>
        </p:spPr>
        <p:txBody>
          <a:bodyPr/>
          <a:lstStyle/>
          <a:p>
            <a:endParaRPr lang="en-US"/>
          </a:p>
        </p:txBody>
      </p:sp>
      <p:sp>
        <p:nvSpPr>
          <p:cNvPr id="27" name="Text 24"/>
          <p:cNvSpPr txBox="1"/>
          <p:nvPr/>
        </p:nvSpPr>
        <p:spPr>
          <a:xfrm>
            <a:off x="5767677" y="328269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4</a:t>
            </a:r>
            <a:endParaRPr lang="en-US" sz="1000" dirty="0"/>
          </a:p>
        </p:txBody>
      </p:sp>
      <p:sp>
        <p:nvSpPr>
          <p:cNvPr id="28" name="Text 25"/>
          <p:cNvSpPr txBox="1"/>
          <p:nvPr/>
        </p:nvSpPr>
        <p:spPr>
          <a:xfrm>
            <a:off x="6087717" y="3246120"/>
            <a:ext cx="269052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Lead sources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Social Media is the largest source but only ~7% completed: volume is not conversion.</a:t>
            </a:r>
            <a:endParaRPr lang="en-US" sz="1050" dirty="0"/>
          </a:p>
        </p:txBody>
      </p:sp>
      <p:sp>
        <p:nvSpPr>
          <p:cNvPr id="29" name="Shape 26"/>
          <p:cNvSpPr/>
          <p:nvPr/>
        </p:nvSpPr>
        <p:spPr>
          <a:xfrm>
            <a:off x="5767677" y="4105656"/>
            <a:ext cx="246888" cy="246888"/>
          </a:xfrm>
          <a:prstGeom prst="ellipse">
            <a:avLst/>
          </a:prstGeom>
          <a:solidFill>
            <a:srgbClr val="FF6A00"/>
          </a:solidFill>
          <a:ln w="12700">
            <a:solidFill>
              <a:srgbClr val="FF6A00"/>
            </a:solidFill>
            <a:prstDash val="solid"/>
          </a:ln>
        </p:spPr>
        <p:txBody>
          <a:bodyPr/>
          <a:lstStyle/>
          <a:p>
            <a:endParaRPr lang="en-US"/>
          </a:p>
        </p:txBody>
      </p:sp>
      <p:sp>
        <p:nvSpPr>
          <p:cNvPr id="30" name="Text 27"/>
          <p:cNvSpPr txBox="1"/>
          <p:nvPr/>
        </p:nvSpPr>
        <p:spPr>
          <a:xfrm>
            <a:off x="5767677" y="410565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5</a:t>
            </a:r>
            <a:endParaRPr lang="en-US" sz="1000" dirty="0"/>
          </a:p>
        </p:txBody>
      </p:sp>
      <p:sp>
        <p:nvSpPr>
          <p:cNvPr id="31" name="Text 28"/>
          <p:cNvSpPr txBox="1"/>
          <p:nvPr/>
        </p:nvSpPr>
        <p:spPr>
          <a:xfrm>
            <a:off x="6087717" y="4069080"/>
            <a:ext cx="269052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Six-month momentum</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187 → 221 → 216 → 132 → 90 → 116 sign-ups (Nov to Apr): peak in Dec, low in Mar, partial rebound in Apr.</a:t>
            </a:r>
            <a:endParaRPr lang="en-US" sz="1050" dirty="0"/>
          </a:p>
        </p:txBody>
      </p:sp>
      <p:grpSp>
        <p:nvGrpSpPr>
          <p:cNvPr id="34" name="Group 33">
            <a:extLst>
              <a:ext uri="{FF2B5EF4-FFF2-40B4-BE49-F238E27FC236}">
                <a16:creationId xmlns:a16="http://schemas.microsoft.com/office/drawing/2014/main" id="{B884E857-ADA2-34DF-0E40-4D1E6F7204E4}"/>
              </a:ext>
            </a:extLst>
          </p:cNvPr>
          <p:cNvGrpSpPr/>
          <p:nvPr/>
        </p:nvGrpSpPr>
        <p:grpSpPr>
          <a:xfrm>
            <a:off x="357551" y="2006501"/>
            <a:ext cx="246888" cy="257337"/>
            <a:chOff x="301951" y="1129788"/>
            <a:chExt cx="246888" cy="257337"/>
          </a:xfrm>
        </p:grpSpPr>
        <p:sp>
          <p:nvSpPr>
            <p:cNvPr id="35" name="Shape 2">
              <a:extLst>
                <a:ext uri="{FF2B5EF4-FFF2-40B4-BE49-F238E27FC236}">
                  <a16:creationId xmlns:a16="http://schemas.microsoft.com/office/drawing/2014/main" id="{521E78C2-CD9F-0826-A7EE-3F6F1C01D754}"/>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6" name="Text 3">
              <a:extLst>
                <a:ext uri="{FF2B5EF4-FFF2-40B4-BE49-F238E27FC236}">
                  <a16:creationId xmlns:a16="http://schemas.microsoft.com/office/drawing/2014/main" id="{E9DD59AF-DD50-6BEF-5F5A-C9B08A2783EC}"/>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2</a:t>
              </a:r>
              <a:endParaRPr lang="en-US" sz="1000" dirty="0"/>
            </a:p>
          </p:txBody>
        </p:sp>
      </p:grpSp>
      <p:grpSp>
        <p:nvGrpSpPr>
          <p:cNvPr id="7" name="Group 6">
            <a:extLst>
              <a:ext uri="{FF2B5EF4-FFF2-40B4-BE49-F238E27FC236}">
                <a16:creationId xmlns:a16="http://schemas.microsoft.com/office/drawing/2014/main" id="{4BD41AA8-901A-FC73-4F30-475097B284A9}"/>
              </a:ext>
            </a:extLst>
          </p:cNvPr>
          <p:cNvGrpSpPr/>
          <p:nvPr/>
        </p:nvGrpSpPr>
        <p:grpSpPr>
          <a:xfrm>
            <a:off x="2346322" y="2011725"/>
            <a:ext cx="246888" cy="257337"/>
            <a:chOff x="301951" y="1129788"/>
            <a:chExt cx="246888" cy="257337"/>
          </a:xfrm>
        </p:grpSpPr>
        <p:sp>
          <p:nvSpPr>
            <p:cNvPr id="8" name="Shape 2">
              <a:extLst>
                <a:ext uri="{FF2B5EF4-FFF2-40B4-BE49-F238E27FC236}">
                  <a16:creationId xmlns:a16="http://schemas.microsoft.com/office/drawing/2014/main" id="{CB611A7D-7386-4297-E04F-A16B34ED2F76}"/>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3" name="Text 3">
              <a:extLst>
                <a:ext uri="{FF2B5EF4-FFF2-40B4-BE49-F238E27FC236}">
                  <a16:creationId xmlns:a16="http://schemas.microsoft.com/office/drawing/2014/main" id="{75D9DEA4-D844-F4CD-8321-B7D43A6B98C7}"/>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grpSp>
      <p:grpSp>
        <p:nvGrpSpPr>
          <p:cNvPr id="37" name="Group 36">
            <a:extLst>
              <a:ext uri="{FF2B5EF4-FFF2-40B4-BE49-F238E27FC236}">
                <a16:creationId xmlns:a16="http://schemas.microsoft.com/office/drawing/2014/main" id="{51B7A469-44C0-B6DD-153C-FB83FD5D2DD8}"/>
              </a:ext>
            </a:extLst>
          </p:cNvPr>
          <p:cNvGrpSpPr/>
          <p:nvPr/>
        </p:nvGrpSpPr>
        <p:grpSpPr>
          <a:xfrm>
            <a:off x="402996" y="3449240"/>
            <a:ext cx="246888" cy="257337"/>
            <a:chOff x="301951" y="1129788"/>
            <a:chExt cx="246888" cy="257337"/>
          </a:xfrm>
        </p:grpSpPr>
        <p:sp>
          <p:nvSpPr>
            <p:cNvPr id="38" name="Shape 2">
              <a:extLst>
                <a:ext uri="{FF2B5EF4-FFF2-40B4-BE49-F238E27FC236}">
                  <a16:creationId xmlns:a16="http://schemas.microsoft.com/office/drawing/2014/main" id="{B236B624-F025-7E82-A64E-68412D44CD48}"/>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9" name="Text 3">
              <a:extLst>
                <a:ext uri="{FF2B5EF4-FFF2-40B4-BE49-F238E27FC236}">
                  <a16:creationId xmlns:a16="http://schemas.microsoft.com/office/drawing/2014/main" id="{EF459ADD-09B0-001C-296A-FC4AF32263EC}"/>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grpSp>
      <p:grpSp>
        <p:nvGrpSpPr>
          <p:cNvPr id="41" name="Group 40">
            <a:extLst>
              <a:ext uri="{FF2B5EF4-FFF2-40B4-BE49-F238E27FC236}">
                <a16:creationId xmlns:a16="http://schemas.microsoft.com/office/drawing/2014/main" id="{128423C2-7C4E-6C69-9DEF-03F5860991F8}"/>
              </a:ext>
            </a:extLst>
          </p:cNvPr>
          <p:cNvGrpSpPr/>
          <p:nvPr/>
        </p:nvGrpSpPr>
        <p:grpSpPr>
          <a:xfrm>
            <a:off x="3819255" y="1996052"/>
            <a:ext cx="246888" cy="257337"/>
            <a:chOff x="301951" y="1129788"/>
            <a:chExt cx="246888" cy="257337"/>
          </a:xfrm>
        </p:grpSpPr>
        <p:sp>
          <p:nvSpPr>
            <p:cNvPr id="42" name="Shape 2">
              <a:extLst>
                <a:ext uri="{FF2B5EF4-FFF2-40B4-BE49-F238E27FC236}">
                  <a16:creationId xmlns:a16="http://schemas.microsoft.com/office/drawing/2014/main" id="{FC1573D4-36A5-FBD7-ACC1-74EBABE06A37}"/>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3" name="Text 3">
              <a:extLst>
                <a:ext uri="{FF2B5EF4-FFF2-40B4-BE49-F238E27FC236}">
                  <a16:creationId xmlns:a16="http://schemas.microsoft.com/office/drawing/2014/main" id="{3E5D6AF7-9D58-B609-3B1D-5B80EB050E4B}"/>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4</a:t>
              </a:r>
              <a:endParaRPr lang="en-US" sz="1000" dirty="0"/>
            </a:p>
          </p:txBody>
        </p:sp>
      </p:grpSp>
      <p:grpSp>
        <p:nvGrpSpPr>
          <p:cNvPr id="44" name="Group 43">
            <a:extLst>
              <a:ext uri="{FF2B5EF4-FFF2-40B4-BE49-F238E27FC236}">
                <a16:creationId xmlns:a16="http://schemas.microsoft.com/office/drawing/2014/main" id="{D14B2480-AB07-7684-6ED3-62B048C773E3}"/>
              </a:ext>
            </a:extLst>
          </p:cNvPr>
          <p:cNvGrpSpPr/>
          <p:nvPr/>
        </p:nvGrpSpPr>
        <p:grpSpPr>
          <a:xfrm>
            <a:off x="3723820" y="3638651"/>
            <a:ext cx="246888" cy="257337"/>
            <a:chOff x="301951" y="1129788"/>
            <a:chExt cx="246888" cy="257337"/>
          </a:xfrm>
        </p:grpSpPr>
        <p:sp>
          <p:nvSpPr>
            <p:cNvPr id="45" name="Shape 2">
              <a:extLst>
                <a:ext uri="{FF2B5EF4-FFF2-40B4-BE49-F238E27FC236}">
                  <a16:creationId xmlns:a16="http://schemas.microsoft.com/office/drawing/2014/main" id="{9CC3C913-2767-1608-D36B-83681A6D9CFF}"/>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6" name="Text 3">
              <a:extLst>
                <a:ext uri="{FF2B5EF4-FFF2-40B4-BE49-F238E27FC236}">
                  <a16:creationId xmlns:a16="http://schemas.microsoft.com/office/drawing/2014/main" id="{F5DB2889-EA76-988B-7802-DFCE8A6E6F27}"/>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5</a:t>
              </a:r>
              <a:endParaRPr lang="en-US" sz="10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F678F6-AE25-C568-C437-EE70746F187C}"/>
              </a:ext>
            </a:extLst>
          </p:cNvPr>
          <p:cNvPicPr>
            <a:picLocks noChangeAspect="1"/>
          </p:cNvPicPr>
          <p:nvPr/>
        </p:nvPicPr>
        <p:blipFill>
          <a:blip r:embed="rId3"/>
          <a:stretch>
            <a:fillRect/>
          </a:stretch>
        </p:blipFill>
        <p:spPr>
          <a:xfrm>
            <a:off x="367486" y="750376"/>
            <a:ext cx="5216577" cy="4130367"/>
          </a:xfrm>
          <a:prstGeom prst="rect">
            <a:avLst/>
          </a:prstGeom>
        </p:spPr>
      </p:pic>
      <p:sp>
        <p:nvSpPr>
          <p:cNvPr id="2" name="Text 0"/>
          <p:cNvSpPr txBox="1"/>
          <p:nvPr/>
        </p:nvSpPr>
        <p:spPr>
          <a:xfrm>
            <a:off x="365760" y="182880"/>
            <a:ext cx="8412480" cy="457200"/>
          </a:xfrm>
          <a:prstGeom prst="rect">
            <a:avLst/>
          </a:prstGeom>
          <a:noFill/>
          <a:ln/>
        </p:spPr>
        <p:txBody>
          <a:bodyPr wrap="square" lIns="0" tIns="0" rIns="0" bIns="0" rtlCol="0" anchor="ctr"/>
          <a:lstStyle/>
          <a:p>
            <a:pPr marL="0" indent="0">
              <a:buNone/>
            </a:pPr>
            <a:r>
              <a:rPr lang="en-US" sz="2200" b="1" dirty="0">
                <a:solidFill>
                  <a:srgbClr val="111111"/>
                </a:solidFill>
                <a:latin typeface="Calibri" pitchFamily="34" charset="0"/>
                <a:ea typeface="Calibri" pitchFamily="34" charset="-122"/>
                <a:cs typeface="Calibri" pitchFamily="34" charset="-120"/>
              </a:rPr>
              <a:t>Dashboard 2: Sign-Up &amp; Completion Performance</a:t>
            </a:r>
            <a:endParaRPr lang="en-US" sz="2200" dirty="0"/>
          </a:p>
        </p:txBody>
      </p:sp>
      <p:sp>
        <p:nvSpPr>
          <p:cNvPr id="4" name="Shape 1"/>
          <p:cNvSpPr/>
          <p:nvPr/>
        </p:nvSpPr>
        <p:spPr>
          <a:xfrm>
            <a:off x="365760" y="777240"/>
            <a:ext cx="5216577" cy="4114800"/>
          </a:xfrm>
          <a:prstGeom prst="rect">
            <a:avLst/>
          </a:prstGeom>
          <a:ln w="12700">
            <a:solidFill>
              <a:srgbClr val="111111"/>
            </a:solidFill>
            <a:prstDash val="solid"/>
          </a:ln>
        </p:spPr>
        <p:txBody>
          <a:bodyPr/>
          <a:lstStyle/>
          <a:p>
            <a:endParaRPr lang="en-US"/>
          </a:p>
        </p:txBody>
      </p:sp>
      <p:sp>
        <p:nvSpPr>
          <p:cNvPr id="17" name="Shape 14"/>
          <p:cNvSpPr/>
          <p:nvPr/>
        </p:nvSpPr>
        <p:spPr>
          <a:xfrm>
            <a:off x="5810937" y="813816"/>
            <a:ext cx="246888" cy="246888"/>
          </a:xfrm>
          <a:prstGeom prst="ellipse">
            <a:avLst/>
          </a:prstGeom>
          <a:solidFill>
            <a:srgbClr val="FF6A00"/>
          </a:solidFill>
          <a:ln w="12700">
            <a:solidFill>
              <a:srgbClr val="FF6A00"/>
            </a:solidFill>
            <a:prstDash val="solid"/>
          </a:ln>
        </p:spPr>
        <p:txBody>
          <a:bodyPr/>
          <a:lstStyle/>
          <a:p>
            <a:endParaRPr lang="en-US"/>
          </a:p>
        </p:txBody>
      </p:sp>
      <p:sp>
        <p:nvSpPr>
          <p:cNvPr id="18" name="Text 15"/>
          <p:cNvSpPr txBox="1"/>
          <p:nvPr/>
        </p:nvSpPr>
        <p:spPr>
          <a:xfrm>
            <a:off x="5810937" y="81381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1</a:t>
            </a:r>
            <a:endParaRPr lang="en-US" sz="1000" dirty="0"/>
          </a:p>
        </p:txBody>
      </p:sp>
      <p:sp>
        <p:nvSpPr>
          <p:cNvPr id="19" name="Text 16"/>
          <p:cNvSpPr txBox="1"/>
          <p:nvPr/>
        </p:nvSpPr>
        <p:spPr>
          <a:xfrm>
            <a:off x="6130977" y="777240"/>
            <a:ext cx="264726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KPI cards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90.8% acceptance rate, 215 rejected sign-ups, and 23.1% opportunity completion rate(not 7% completed application).</a:t>
            </a:r>
            <a:endParaRPr lang="en-US" sz="1050" dirty="0"/>
          </a:p>
        </p:txBody>
      </p:sp>
      <p:sp>
        <p:nvSpPr>
          <p:cNvPr id="20" name="Shape 17"/>
          <p:cNvSpPr/>
          <p:nvPr/>
        </p:nvSpPr>
        <p:spPr>
          <a:xfrm>
            <a:off x="5810937" y="1636776"/>
            <a:ext cx="246888" cy="246888"/>
          </a:xfrm>
          <a:prstGeom prst="ellipse">
            <a:avLst/>
          </a:prstGeom>
          <a:solidFill>
            <a:srgbClr val="FF6A00"/>
          </a:solidFill>
          <a:ln w="12700">
            <a:solidFill>
              <a:srgbClr val="FF6A00"/>
            </a:solidFill>
            <a:prstDash val="solid"/>
          </a:ln>
        </p:spPr>
        <p:txBody>
          <a:bodyPr/>
          <a:lstStyle/>
          <a:p>
            <a:endParaRPr lang="en-US"/>
          </a:p>
        </p:txBody>
      </p:sp>
      <p:sp>
        <p:nvSpPr>
          <p:cNvPr id="21" name="Text 18"/>
          <p:cNvSpPr txBox="1"/>
          <p:nvPr/>
        </p:nvSpPr>
        <p:spPr>
          <a:xfrm>
            <a:off x="5810937" y="163677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2</a:t>
            </a:r>
            <a:endParaRPr lang="en-US" sz="1000" dirty="0"/>
          </a:p>
        </p:txBody>
      </p:sp>
      <p:sp>
        <p:nvSpPr>
          <p:cNvPr id="22" name="Text 19"/>
          <p:cNvSpPr txBox="1"/>
          <p:nvPr/>
        </p:nvSpPr>
        <p:spPr>
          <a:xfrm>
            <a:off x="6130977" y="1600200"/>
            <a:ext cx="264726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Sign-up extremes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Trainee Internship drives the most sign-ups; the fewest-sign-up list is mostly test or placeholder records.</a:t>
            </a:r>
            <a:endParaRPr lang="en-US" sz="1050" dirty="0"/>
          </a:p>
        </p:txBody>
      </p:sp>
      <p:sp>
        <p:nvSpPr>
          <p:cNvPr id="23" name="Shape 20"/>
          <p:cNvSpPr/>
          <p:nvPr/>
        </p:nvSpPr>
        <p:spPr>
          <a:xfrm>
            <a:off x="5810937" y="2459736"/>
            <a:ext cx="246888" cy="246888"/>
          </a:xfrm>
          <a:prstGeom prst="ellipse">
            <a:avLst/>
          </a:prstGeom>
          <a:solidFill>
            <a:srgbClr val="FF6A00"/>
          </a:solidFill>
          <a:ln w="12700">
            <a:solidFill>
              <a:srgbClr val="FF6A00"/>
            </a:solidFill>
            <a:prstDash val="solid"/>
          </a:ln>
        </p:spPr>
        <p:txBody>
          <a:bodyPr/>
          <a:lstStyle/>
          <a:p>
            <a:endParaRPr lang="en-US"/>
          </a:p>
        </p:txBody>
      </p:sp>
      <p:sp>
        <p:nvSpPr>
          <p:cNvPr id="24" name="Text 21"/>
          <p:cNvSpPr txBox="1"/>
          <p:nvPr/>
        </p:nvSpPr>
        <p:spPr>
          <a:xfrm>
            <a:off x="5810937" y="245973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sp>
        <p:nvSpPr>
          <p:cNvPr id="25" name="Text 22"/>
          <p:cNvSpPr txBox="1"/>
          <p:nvPr/>
        </p:nvSpPr>
        <p:spPr>
          <a:xfrm>
            <a:off x="6130977" y="2423160"/>
            <a:ext cx="264726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Highest completion rates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Led by small or test records (Test payment local 77.78%), so read rates against volume. Training Internship is not among the top performers.</a:t>
            </a:r>
            <a:endParaRPr lang="en-US" sz="1050" dirty="0"/>
          </a:p>
        </p:txBody>
      </p:sp>
      <p:sp>
        <p:nvSpPr>
          <p:cNvPr id="26" name="Shape 23"/>
          <p:cNvSpPr/>
          <p:nvPr/>
        </p:nvSpPr>
        <p:spPr>
          <a:xfrm>
            <a:off x="5810937" y="3282696"/>
            <a:ext cx="246888" cy="246888"/>
          </a:xfrm>
          <a:prstGeom prst="ellipse">
            <a:avLst/>
          </a:prstGeom>
          <a:solidFill>
            <a:srgbClr val="FF6A00"/>
          </a:solidFill>
          <a:ln w="12700">
            <a:solidFill>
              <a:srgbClr val="FF6A00"/>
            </a:solidFill>
            <a:prstDash val="solid"/>
          </a:ln>
        </p:spPr>
        <p:txBody>
          <a:bodyPr/>
          <a:lstStyle/>
          <a:p>
            <a:endParaRPr lang="en-US"/>
          </a:p>
        </p:txBody>
      </p:sp>
      <p:sp>
        <p:nvSpPr>
          <p:cNvPr id="27" name="Text 24"/>
          <p:cNvSpPr txBox="1"/>
          <p:nvPr/>
        </p:nvSpPr>
        <p:spPr>
          <a:xfrm>
            <a:off x="5810937" y="328269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4</a:t>
            </a:r>
            <a:endParaRPr lang="en-US" sz="1000" dirty="0"/>
          </a:p>
        </p:txBody>
      </p:sp>
      <p:sp>
        <p:nvSpPr>
          <p:cNvPr id="28" name="Text 25"/>
          <p:cNvSpPr txBox="1"/>
          <p:nvPr/>
        </p:nvSpPr>
        <p:spPr>
          <a:xfrm>
            <a:off x="6130977" y="3246120"/>
            <a:ext cx="264726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Lead source table</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Social Media: 3,626 sign-ups, 6.96% completed. Illinois Tech: 2,094, 8.68%. Saint Louis Univ.: 614, 8.78%. Google Search: 528 sign-ups, 0 applications.</a:t>
            </a:r>
            <a:endParaRPr lang="en-US" sz="1050" dirty="0"/>
          </a:p>
        </p:txBody>
      </p:sp>
      <p:sp>
        <p:nvSpPr>
          <p:cNvPr id="29" name="Shape 26"/>
          <p:cNvSpPr/>
          <p:nvPr/>
        </p:nvSpPr>
        <p:spPr>
          <a:xfrm>
            <a:off x="5810937" y="4105656"/>
            <a:ext cx="246888" cy="246888"/>
          </a:xfrm>
          <a:prstGeom prst="ellipse">
            <a:avLst/>
          </a:prstGeom>
          <a:solidFill>
            <a:srgbClr val="FF6A00"/>
          </a:solidFill>
          <a:ln w="12700">
            <a:solidFill>
              <a:srgbClr val="FF6A00"/>
            </a:solidFill>
            <a:prstDash val="solid"/>
          </a:ln>
        </p:spPr>
        <p:txBody>
          <a:bodyPr/>
          <a:lstStyle/>
          <a:p>
            <a:endParaRPr lang="en-US"/>
          </a:p>
        </p:txBody>
      </p:sp>
      <p:sp>
        <p:nvSpPr>
          <p:cNvPr id="30" name="Text 27"/>
          <p:cNvSpPr txBox="1"/>
          <p:nvPr/>
        </p:nvSpPr>
        <p:spPr>
          <a:xfrm>
            <a:off x="5810937" y="410565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5</a:t>
            </a:r>
            <a:endParaRPr lang="en-US" sz="1000" dirty="0"/>
          </a:p>
        </p:txBody>
      </p:sp>
      <p:sp>
        <p:nvSpPr>
          <p:cNvPr id="31" name="Text 28"/>
          <p:cNvSpPr txBox="1"/>
          <p:nvPr/>
        </p:nvSpPr>
        <p:spPr>
          <a:xfrm>
            <a:off x="6130977" y="4069080"/>
            <a:ext cx="2647263"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Last 7 days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Application activity fell to zero on Apr 18–19 and returned to 7 on Apr 20.</a:t>
            </a:r>
            <a:endParaRPr lang="en-US" sz="1050" dirty="0"/>
          </a:p>
        </p:txBody>
      </p:sp>
      <p:grpSp>
        <p:nvGrpSpPr>
          <p:cNvPr id="47" name="Group 46">
            <a:extLst>
              <a:ext uri="{FF2B5EF4-FFF2-40B4-BE49-F238E27FC236}">
                <a16:creationId xmlns:a16="http://schemas.microsoft.com/office/drawing/2014/main" id="{A57BC017-9D53-6954-CE12-F23B19328F9F}"/>
              </a:ext>
            </a:extLst>
          </p:cNvPr>
          <p:cNvGrpSpPr/>
          <p:nvPr/>
        </p:nvGrpSpPr>
        <p:grpSpPr>
          <a:xfrm>
            <a:off x="1869097" y="1135165"/>
            <a:ext cx="246888" cy="257337"/>
            <a:chOff x="301951" y="1129788"/>
            <a:chExt cx="246888" cy="257337"/>
          </a:xfrm>
        </p:grpSpPr>
        <p:sp>
          <p:nvSpPr>
            <p:cNvPr id="48" name="Shape 2">
              <a:extLst>
                <a:ext uri="{FF2B5EF4-FFF2-40B4-BE49-F238E27FC236}">
                  <a16:creationId xmlns:a16="http://schemas.microsoft.com/office/drawing/2014/main" id="{CFCB8343-3EAD-7491-B089-4B4BC1FD4E26}"/>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9" name="Text 3">
              <a:extLst>
                <a:ext uri="{FF2B5EF4-FFF2-40B4-BE49-F238E27FC236}">
                  <a16:creationId xmlns:a16="http://schemas.microsoft.com/office/drawing/2014/main" id="{22173171-782F-801E-C519-08955AD0E5AB}"/>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1</a:t>
              </a:r>
              <a:endParaRPr lang="en-US" sz="1000" dirty="0"/>
            </a:p>
          </p:txBody>
        </p:sp>
      </p:grpSp>
      <p:grpSp>
        <p:nvGrpSpPr>
          <p:cNvPr id="33" name="Group 32">
            <a:extLst>
              <a:ext uri="{FF2B5EF4-FFF2-40B4-BE49-F238E27FC236}">
                <a16:creationId xmlns:a16="http://schemas.microsoft.com/office/drawing/2014/main" id="{6C506AED-500E-C74A-9E84-5D2D5171310F}"/>
              </a:ext>
            </a:extLst>
          </p:cNvPr>
          <p:cNvGrpSpPr/>
          <p:nvPr/>
        </p:nvGrpSpPr>
        <p:grpSpPr>
          <a:xfrm>
            <a:off x="417946" y="2010617"/>
            <a:ext cx="246888" cy="257337"/>
            <a:chOff x="301951" y="1129788"/>
            <a:chExt cx="246888" cy="257337"/>
          </a:xfrm>
        </p:grpSpPr>
        <p:sp>
          <p:nvSpPr>
            <p:cNvPr id="34" name="Shape 2">
              <a:extLst>
                <a:ext uri="{FF2B5EF4-FFF2-40B4-BE49-F238E27FC236}">
                  <a16:creationId xmlns:a16="http://schemas.microsoft.com/office/drawing/2014/main" id="{28AF5B03-C4EE-F83C-E6EC-12BA28CB2588}"/>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5" name="Text 3">
              <a:extLst>
                <a:ext uri="{FF2B5EF4-FFF2-40B4-BE49-F238E27FC236}">
                  <a16:creationId xmlns:a16="http://schemas.microsoft.com/office/drawing/2014/main" id="{8B713628-2BCF-1B8F-492F-9071E7C06C7D}"/>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2</a:t>
              </a:r>
              <a:endParaRPr lang="en-US" sz="1000" dirty="0"/>
            </a:p>
          </p:txBody>
        </p:sp>
      </p:grpSp>
      <p:grpSp>
        <p:nvGrpSpPr>
          <p:cNvPr id="36" name="Group 35">
            <a:extLst>
              <a:ext uri="{FF2B5EF4-FFF2-40B4-BE49-F238E27FC236}">
                <a16:creationId xmlns:a16="http://schemas.microsoft.com/office/drawing/2014/main" id="{0C9D0B0E-C043-E26C-C43E-053243205934}"/>
              </a:ext>
            </a:extLst>
          </p:cNvPr>
          <p:cNvGrpSpPr/>
          <p:nvPr/>
        </p:nvGrpSpPr>
        <p:grpSpPr>
          <a:xfrm>
            <a:off x="3696318" y="2010617"/>
            <a:ext cx="246888" cy="257337"/>
            <a:chOff x="301951" y="1129788"/>
            <a:chExt cx="246888" cy="257337"/>
          </a:xfrm>
        </p:grpSpPr>
        <p:sp>
          <p:nvSpPr>
            <p:cNvPr id="37" name="Shape 2">
              <a:extLst>
                <a:ext uri="{FF2B5EF4-FFF2-40B4-BE49-F238E27FC236}">
                  <a16:creationId xmlns:a16="http://schemas.microsoft.com/office/drawing/2014/main" id="{F7879356-172B-2DF0-5E60-20CF4F63463C}"/>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8" name="Text 3">
              <a:extLst>
                <a:ext uri="{FF2B5EF4-FFF2-40B4-BE49-F238E27FC236}">
                  <a16:creationId xmlns:a16="http://schemas.microsoft.com/office/drawing/2014/main" id="{6ABEF79A-B324-1D4A-47DB-9652AD7D8666}"/>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grpSp>
      <p:grpSp>
        <p:nvGrpSpPr>
          <p:cNvPr id="39" name="Group 38">
            <a:extLst>
              <a:ext uri="{FF2B5EF4-FFF2-40B4-BE49-F238E27FC236}">
                <a16:creationId xmlns:a16="http://schemas.microsoft.com/office/drawing/2014/main" id="{E894FF2F-CAA8-3E8D-93CB-3721175881C4}"/>
              </a:ext>
            </a:extLst>
          </p:cNvPr>
          <p:cNvGrpSpPr/>
          <p:nvPr/>
        </p:nvGrpSpPr>
        <p:grpSpPr>
          <a:xfrm>
            <a:off x="2477118" y="3406761"/>
            <a:ext cx="246888" cy="257337"/>
            <a:chOff x="301951" y="1129788"/>
            <a:chExt cx="246888" cy="257337"/>
          </a:xfrm>
        </p:grpSpPr>
        <p:sp>
          <p:nvSpPr>
            <p:cNvPr id="40" name="Shape 2">
              <a:extLst>
                <a:ext uri="{FF2B5EF4-FFF2-40B4-BE49-F238E27FC236}">
                  <a16:creationId xmlns:a16="http://schemas.microsoft.com/office/drawing/2014/main" id="{7E640D0C-D072-FB84-A799-B491F1D5020F}"/>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1" name="Text 3">
              <a:extLst>
                <a:ext uri="{FF2B5EF4-FFF2-40B4-BE49-F238E27FC236}">
                  <a16:creationId xmlns:a16="http://schemas.microsoft.com/office/drawing/2014/main" id="{C1FC045E-AA6F-1AB7-9C04-21E1057388B7}"/>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4</a:t>
              </a:r>
              <a:endParaRPr lang="en-US" sz="1000" dirty="0"/>
            </a:p>
          </p:txBody>
        </p:sp>
      </p:grpSp>
      <p:grpSp>
        <p:nvGrpSpPr>
          <p:cNvPr id="42" name="Group 41">
            <a:extLst>
              <a:ext uri="{FF2B5EF4-FFF2-40B4-BE49-F238E27FC236}">
                <a16:creationId xmlns:a16="http://schemas.microsoft.com/office/drawing/2014/main" id="{7B289B81-5D3C-9F18-F734-695BB8AFF8B5}"/>
              </a:ext>
            </a:extLst>
          </p:cNvPr>
          <p:cNvGrpSpPr/>
          <p:nvPr/>
        </p:nvGrpSpPr>
        <p:grpSpPr>
          <a:xfrm>
            <a:off x="1374876" y="3766023"/>
            <a:ext cx="246888" cy="257337"/>
            <a:chOff x="301951" y="1129788"/>
            <a:chExt cx="246888" cy="257337"/>
          </a:xfrm>
        </p:grpSpPr>
        <p:sp>
          <p:nvSpPr>
            <p:cNvPr id="43" name="Shape 2">
              <a:extLst>
                <a:ext uri="{FF2B5EF4-FFF2-40B4-BE49-F238E27FC236}">
                  <a16:creationId xmlns:a16="http://schemas.microsoft.com/office/drawing/2014/main" id="{98736C2B-0FA9-B5FE-F3AF-D5A0313929F3}"/>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4" name="Text 3">
              <a:extLst>
                <a:ext uri="{FF2B5EF4-FFF2-40B4-BE49-F238E27FC236}">
                  <a16:creationId xmlns:a16="http://schemas.microsoft.com/office/drawing/2014/main" id="{BC734E68-4D7F-AF50-1CE2-96EFC2B7E09F}"/>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5</a:t>
              </a:r>
              <a:endParaRPr lang="en-US" sz="10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1497437-6853-A1F8-A71B-D1A5A1B2FB32}"/>
              </a:ext>
            </a:extLst>
          </p:cNvPr>
          <p:cNvPicPr>
            <a:picLocks noChangeAspect="1"/>
          </p:cNvPicPr>
          <p:nvPr/>
        </p:nvPicPr>
        <p:blipFill>
          <a:blip r:embed="rId3"/>
          <a:stretch>
            <a:fillRect/>
          </a:stretch>
        </p:blipFill>
        <p:spPr>
          <a:xfrm>
            <a:off x="365760" y="777240"/>
            <a:ext cx="5209082" cy="4121639"/>
          </a:xfrm>
          <a:prstGeom prst="rect">
            <a:avLst/>
          </a:prstGeom>
        </p:spPr>
      </p:pic>
      <p:sp>
        <p:nvSpPr>
          <p:cNvPr id="2" name="Text 0"/>
          <p:cNvSpPr txBox="1"/>
          <p:nvPr/>
        </p:nvSpPr>
        <p:spPr>
          <a:xfrm>
            <a:off x="365760" y="182880"/>
            <a:ext cx="8412480" cy="457200"/>
          </a:xfrm>
          <a:prstGeom prst="rect">
            <a:avLst/>
          </a:prstGeom>
          <a:noFill/>
          <a:ln/>
        </p:spPr>
        <p:txBody>
          <a:bodyPr wrap="square" lIns="0" tIns="0" rIns="0" bIns="0" rtlCol="0" anchor="ctr"/>
          <a:lstStyle/>
          <a:p>
            <a:pPr marL="0" indent="0">
              <a:buNone/>
            </a:pPr>
            <a:r>
              <a:rPr lang="en-US" sz="2200" b="1" dirty="0">
                <a:solidFill>
                  <a:srgbClr val="111111"/>
                </a:solidFill>
                <a:latin typeface="Calibri" pitchFamily="34" charset="0"/>
                <a:ea typeface="Calibri" pitchFamily="34" charset="-122"/>
                <a:cs typeface="Calibri" pitchFamily="34" charset="-120"/>
              </a:rPr>
              <a:t>Dashboard 3: Rewards, Scholarships &amp; Program</a:t>
            </a:r>
            <a:endParaRPr lang="en-US" sz="2200" dirty="0"/>
          </a:p>
        </p:txBody>
      </p:sp>
      <p:sp>
        <p:nvSpPr>
          <p:cNvPr id="4" name="Shape 1"/>
          <p:cNvSpPr/>
          <p:nvPr/>
        </p:nvSpPr>
        <p:spPr>
          <a:xfrm>
            <a:off x="365760" y="777240"/>
            <a:ext cx="5209082" cy="4114800"/>
          </a:xfrm>
          <a:prstGeom prst="rect">
            <a:avLst/>
          </a:prstGeom>
          <a:ln w="12700">
            <a:solidFill>
              <a:srgbClr val="111111"/>
            </a:solidFill>
            <a:prstDash val="solid"/>
          </a:ln>
        </p:spPr>
        <p:txBody>
          <a:bodyPr/>
          <a:lstStyle/>
          <a:p>
            <a:endParaRPr lang="en-US"/>
          </a:p>
        </p:txBody>
      </p:sp>
      <p:sp>
        <p:nvSpPr>
          <p:cNvPr id="19" name="Shape 16"/>
          <p:cNvSpPr/>
          <p:nvPr/>
        </p:nvSpPr>
        <p:spPr>
          <a:xfrm>
            <a:off x="5803442" y="813816"/>
            <a:ext cx="246888" cy="246888"/>
          </a:xfrm>
          <a:prstGeom prst="ellipse">
            <a:avLst/>
          </a:prstGeom>
          <a:solidFill>
            <a:srgbClr val="FF6A00"/>
          </a:solidFill>
          <a:ln w="12700">
            <a:solidFill>
              <a:srgbClr val="FF6A00"/>
            </a:solidFill>
            <a:prstDash val="solid"/>
          </a:ln>
        </p:spPr>
        <p:txBody>
          <a:bodyPr/>
          <a:lstStyle/>
          <a:p>
            <a:endParaRPr lang="en-US"/>
          </a:p>
        </p:txBody>
      </p:sp>
      <p:sp>
        <p:nvSpPr>
          <p:cNvPr id="20" name="Text 17"/>
          <p:cNvSpPr txBox="1"/>
          <p:nvPr/>
        </p:nvSpPr>
        <p:spPr>
          <a:xfrm>
            <a:off x="5803442" y="81381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1</a:t>
            </a:r>
            <a:endParaRPr lang="en-US" sz="1000" dirty="0"/>
          </a:p>
        </p:txBody>
      </p:sp>
      <p:sp>
        <p:nvSpPr>
          <p:cNvPr id="21" name="Text 18"/>
          <p:cNvSpPr txBox="1"/>
          <p:nvPr/>
        </p:nvSpPr>
        <p:spPr>
          <a:xfrm>
            <a:off x="6123482" y="777240"/>
            <a:ext cx="2654758"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KPI cards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2,729 scholarship opportunities, 560.5K scholarship value (currencies not converted), 3,755 rewards, 5.65% paid conversion.</a:t>
            </a:r>
            <a:endParaRPr lang="en-US" sz="1050" dirty="0"/>
          </a:p>
        </p:txBody>
      </p:sp>
      <p:sp>
        <p:nvSpPr>
          <p:cNvPr id="22" name="Shape 19"/>
          <p:cNvSpPr/>
          <p:nvPr/>
        </p:nvSpPr>
        <p:spPr>
          <a:xfrm>
            <a:off x="5803442" y="1636776"/>
            <a:ext cx="246888" cy="246888"/>
          </a:xfrm>
          <a:prstGeom prst="ellipse">
            <a:avLst/>
          </a:prstGeom>
          <a:solidFill>
            <a:srgbClr val="FF6A00"/>
          </a:solidFill>
          <a:ln w="12700">
            <a:solidFill>
              <a:srgbClr val="FF6A00"/>
            </a:solidFill>
            <a:prstDash val="solid"/>
          </a:ln>
        </p:spPr>
        <p:txBody>
          <a:bodyPr/>
          <a:lstStyle/>
          <a:p>
            <a:endParaRPr lang="en-US"/>
          </a:p>
        </p:txBody>
      </p:sp>
      <p:sp>
        <p:nvSpPr>
          <p:cNvPr id="23" name="Text 20"/>
          <p:cNvSpPr txBox="1"/>
          <p:nvPr/>
        </p:nvSpPr>
        <p:spPr>
          <a:xfrm>
            <a:off x="5803442" y="163677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2</a:t>
            </a:r>
            <a:endParaRPr lang="en-US" sz="1000" dirty="0"/>
          </a:p>
        </p:txBody>
      </p:sp>
      <p:sp>
        <p:nvSpPr>
          <p:cNvPr id="24" name="Text 21"/>
          <p:cNvSpPr txBox="1"/>
          <p:nvPr/>
        </p:nvSpPr>
        <p:spPr>
          <a:xfrm>
            <a:off x="6123482" y="1600200"/>
            <a:ext cx="2654758"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Scholarship by category</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Internship 176.3K, Competition 109.8K and Career 86.4K lead; Course 41.9K and Job Simulation 10.2K are low.</a:t>
            </a:r>
            <a:endParaRPr lang="en-US" sz="1050" dirty="0"/>
          </a:p>
        </p:txBody>
      </p:sp>
      <p:sp>
        <p:nvSpPr>
          <p:cNvPr id="25" name="Shape 22"/>
          <p:cNvSpPr/>
          <p:nvPr/>
        </p:nvSpPr>
        <p:spPr>
          <a:xfrm>
            <a:off x="5803442" y="2459736"/>
            <a:ext cx="246888" cy="246888"/>
          </a:xfrm>
          <a:prstGeom prst="ellipse">
            <a:avLst/>
          </a:prstGeom>
          <a:solidFill>
            <a:srgbClr val="FF6A00"/>
          </a:solidFill>
          <a:ln w="12700">
            <a:solidFill>
              <a:srgbClr val="FF6A00"/>
            </a:solidFill>
            <a:prstDash val="solid"/>
          </a:ln>
        </p:spPr>
        <p:txBody>
          <a:bodyPr/>
          <a:lstStyle/>
          <a:p>
            <a:endParaRPr lang="en-US"/>
          </a:p>
        </p:txBody>
      </p:sp>
      <p:sp>
        <p:nvSpPr>
          <p:cNvPr id="26" name="Text 23"/>
          <p:cNvSpPr txBox="1"/>
          <p:nvPr/>
        </p:nvSpPr>
        <p:spPr>
          <a:xfrm>
            <a:off x="5803442" y="245973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sp>
        <p:nvSpPr>
          <p:cNvPr id="27" name="Text 24"/>
          <p:cNvSpPr txBox="1"/>
          <p:nvPr/>
        </p:nvSpPr>
        <p:spPr>
          <a:xfrm>
            <a:off x="6123482" y="2423160"/>
            <a:ext cx="2654758"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Top opportunities</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Scholarship and reward leaders are different opportunities; Full Stack Web Dev topping with 50k Internship Automation tops rewards (16.3). </a:t>
            </a:r>
            <a:endParaRPr lang="en-US" sz="1050" dirty="0"/>
          </a:p>
        </p:txBody>
      </p:sp>
      <p:sp>
        <p:nvSpPr>
          <p:cNvPr id="28" name="Shape 25"/>
          <p:cNvSpPr/>
          <p:nvPr/>
        </p:nvSpPr>
        <p:spPr>
          <a:xfrm>
            <a:off x="5803442" y="3282696"/>
            <a:ext cx="246888" cy="246888"/>
          </a:xfrm>
          <a:prstGeom prst="ellipse">
            <a:avLst/>
          </a:prstGeom>
          <a:solidFill>
            <a:srgbClr val="FF6A00"/>
          </a:solidFill>
          <a:ln w="12700">
            <a:solidFill>
              <a:srgbClr val="FF6A00"/>
            </a:solidFill>
            <a:prstDash val="solid"/>
          </a:ln>
        </p:spPr>
        <p:txBody>
          <a:bodyPr/>
          <a:lstStyle/>
          <a:p>
            <a:endParaRPr lang="en-US"/>
          </a:p>
        </p:txBody>
      </p:sp>
      <p:sp>
        <p:nvSpPr>
          <p:cNvPr id="29" name="Text 26"/>
          <p:cNvSpPr txBox="1"/>
          <p:nvPr/>
        </p:nvSpPr>
        <p:spPr>
          <a:xfrm>
            <a:off x="5803442" y="328269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4</a:t>
            </a:r>
            <a:endParaRPr lang="en-US" sz="1000" dirty="0"/>
          </a:p>
        </p:txBody>
      </p:sp>
      <p:sp>
        <p:nvSpPr>
          <p:cNvPr id="30" name="Text 27"/>
          <p:cNvSpPr txBox="1"/>
          <p:nvPr/>
        </p:nvSpPr>
        <p:spPr>
          <a:xfrm>
            <a:off x="6123482" y="3246120"/>
            <a:ext cx="2654758"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Value distribution</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Most scholarship records sit in the 101–200 band (~2.1K); 316 carry zero value.</a:t>
            </a:r>
            <a:endParaRPr lang="en-US" sz="1050" dirty="0"/>
          </a:p>
        </p:txBody>
      </p:sp>
      <p:sp>
        <p:nvSpPr>
          <p:cNvPr id="31" name="Shape 28"/>
          <p:cNvSpPr/>
          <p:nvPr/>
        </p:nvSpPr>
        <p:spPr>
          <a:xfrm>
            <a:off x="5803442" y="4105656"/>
            <a:ext cx="246888" cy="246888"/>
          </a:xfrm>
          <a:prstGeom prst="ellipse">
            <a:avLst/>
          </a:prstGeom>
          <a:solidFill>
            <a:srgbClr val="FF6A00"/>
          </a:solidFill>
          <a:ln w="12700">
            <a:solidFill>
              <a:srgbClr val="FF6A00"/>
            </a:solidFill>
            <a:prstDash val="solid"/>
          </a:ln>
        </p:spPr>
        <p:txBody>
          <a:bodyPr/>
          <a:lstStyle/>
          <a:p>
            <a:endParaRPr lang="en-US"/>
          </a:p>
        </p:txBody>
      </p:sp>
      <p:sp>
        <p:nvSpPr>
          <p:cNvPr id="32" name="Text 29"/>
          <p:cNvSpPr txBox="1"/>
          <p:nvPr/>
        </p:nvSpPr>
        <p:spPr>
          <a:xfrm>
            <a:off x="5803442" y="4105656"/>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5</a:t>
            </a:r>
            <a:endParaRPr lang="en-US" sz="1000" dirty="0"/>
          </a:p>
        </p:txBody>
      </p:sp>
      <p:sp>
        <p:nvSpPr>
          <p:cNvPr id="33" name="Text 30"/>
          <p:cNvSpPr txBox="1"/>
          <p:nvPr/>
        </p:nvSpPr>
        <p:spPr>
          <a:xfrm>
            <a:off x="6123482" y="4069080"/>
            <a:ext cx="2654758" cy="777240"/>
          </a:xfrm>
          <a:prstGeom prst="rect">
            <a:avLst/>
          </a:prstGeom>
          <a:noFill/>
          <a:ln/>
        </p:spPr>
        <p:txBody>
          <a:bodyPr wrap="square" lIns="0" tIns="0" rIns="0" bIns="0" rtlCol="0" anchor="t"/>
          <a:lstStyle/>
          <a:p>
            <a:pPr marL="0" indent="0">
              <a:buNone/>
            </a:pPr>
            <a:r>
              <a:rPr lang="en-US" sz="1050" b="1" dirty="0">
                <a:solidFill>
                  <a:srgbClr val="111111"/>
                </a:solidFill>
                <a:latin typeface="Calibri" pitchFamily="34" charset="0"/>
                <a:ea typeface="Calibri" pitchFamily="34" charset="-122"/>
                <a:cs typeface="Calibri" pitchFamily="34" charset="-120"/>
              </a:rPr>
              <a:t>Currency &amp; duration</a:t>
            </a:r>
            <a:endParaRPr lang="en-US" sz="1050" dirty="0"/>
          </a:p>
          <a:p>
            <a:pPr marL="0" indent="0">
              <a:buNone/>
            </a:pPr>
            <a:r>
              <a:rPr lang="en-US" sz="1050" dirty="0">
                <a:solidFill>
                  <a:srgbClr val="555555"/>
                </a:solidFill>
                <a:latin typeface="Calibri" pitchFamily="34" charset="0"/>
                <a:ea typeface="Calibri" pitchFamily="34" charset="-122"/>
                <a:cs typeface="Calibri" pitchFamily="34" charset="-120"/>
              </a:rPr>
              <a:t>USD 76.6%, EUR 13.7%, INR 9.7%. Average duration is 21–25 weeks for most categories.</a:t>
            </a:r>
            <a:endParaRPr lang="en-US" sz="1050" dirty="0"/>
          </a:p>
        </p:txBody>
      </p:sp>
      <p:grpSp>
        <p:nvGrpSpPr>
          <p:cNvPr id="45" name="Group 44">
            <a:extLst>
              <a:ext uri="{FF2B5EF4-FFF2-40B4-BE49-F238E27FC236}">
                <a16:creationId xmlns:a16="http://schemas.microsoft.com/office/drawing/2014/main" id="{116D0EC7-EF56-824E-2257-22CE0C99255F}"/>
              </a:ext>
            </a:extLst>
          </p:cNvPr>
          <p:cNvGrpSpPr/>
          <p:nvPr/>
        </p:nvGrpSpPr>
        <p:grpSpPr>
          <a:xfrm>
            <a:off x="1123239" y="1145614"/>
            <a:ext cx="246888" cy="257337"/>
            <a:chOff x="301951" y="1129788"/>
            <a:chExt cx="246888" cy="257337"/>
          </a:xfrm>
        </p:grpSpPr>
        <p:sp>
          <p:nvSpPr>
            <p:cNvPr id="46" name="Shape 2">
              <a:extLst>
                <a:ext uri="{FF2B5EF4-FFF2-40B4-BE49-F238E27FC236}">
                  <a16:creationId xmlns:a16="http://schemas.microsoft.com/office/drawing/2014/main" id="{89024C56-29CA-D0D6-76F4-0312515B79C5}"/>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50" name="Text 3">
              <a:extLst>
                <a:ext uri="{FF2B5EF4-FFF2-40B4-BE49-F238E27FC236}">
                  <a16:creationId xmlns:a16="http://schemas.microsoft.com/office/drawing/2014/main" id="{D7D10A60-D107-606C-3D41-54284B69778C}"/>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1</a:t>
              </a:r>
              <a:endParaRPr lang="en-US" sz="1000" dirty="0"/>
            </a:p>
          </p:txBody>
        </p:sp>
      </p:grpSp>
      <p:grpSp>
        <p:nvGrpSpPr>
          <p:cNvPr id="34" name="Group 33">
            <a:extLst>
              <a:ext uri="{FF2B5EF4-FFF2-40B4-BE49-F238E27FC236}">
                <a16:creationId xmlns:a16="http://schemas.microsoft.com/office/drawing/2014/main" id="{2B77C524-68C5-1ECD-3C26-93D911FAA216}"/>
              </a:ext>
            </a:extLst>
          </p:cNvPr>
          <p:cNvGrpSpPr/>
          <p:nvPr/>
        </p:nvGrpSpPr>
        <p:grpSpPr>
          <a:xfrm>
            <a:off x="434183" y="2097242"/>
            <a:ext cx="246888" cy="257337"/>
            <a:chOff x="301951" y="1129788"/>
            <a:chExt cx="246888" cy="257337"/>
          </a:xfrm>
        </p:grpSpPr>
        <p:sp>
          <p:nvSpPr>
            <p:cNvPr id="35" name="Shape 2">
              <a:extLst>
                <a:ext uri="{FF2B5EF4-FFF2-40B4-BE49-F238E27FC236}">
                  <a16:creationId xmlns:a16="http://schemas.microsoft.com/office/drawing/2014/main" id="{E0ADF9EB-607F-2CB7-83C4-3666C49C5D77}"/>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6" name="Text 3">
              <a:extLst>
                <a:ext uri="{FF2B5EF4-FFF2-40B4-BE49-F238E27FC236}">
                  <a16:creationId xmlns:a16="http://schemas.microsoft.com/office/drawing/2014/main" id="{3CEF8AF6-08E5-1EF6-D61A-C87497354DB7}"/>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2</a:t>
              </a:r>
              <a:endParaRPr lang="en-US" sz="1000" dirty="0"/>
            </a:p>
          </p:txBody>
        </p:sp>
      </p:grpSp>
      <p:grpSp>
        <p:nvGrpSpPr>
          <p:cNvPr id="37" name="Group 36">
            <a:extLst>
              <a:ext uri="{FF2B5EF4-FFF2-40B4-BE49-F238E27FC236}">
                <a16:creationId xmlns:a16="http://schemas.microsoft.com/office/drawing/2014/main" id="{4F22C03E-AED0-4380-42F5-61765ABF1550}"/>
              </a:ext>
            </a:extLst>
          </p:cNvPr>
          <p:cNvGrpSpPr/>
          <p:nvPr/>
        </p:nvGrpSpPr>
        <p:grpSpPr>
          <a:xfrm>
            <a:off x="2175597" y="2061445"/>
            <a:ext cx="246888" cy="257337"/>
            <a:chOff x="301951" y="1129788"/>
            <a:chExt cx="246888" cy="257337"/>
          </a:xfrm>
        </p:grpSpPr>
        <p:sp>
          <p:nvSpPr>
            <p:cNvPr id="38" name="Shape 2">
              <a:extLst>
                <a:ext uri="{FF2B5EF4-FFF2-40B4-BE49-F238E27FC236}">
                  <a16:creationId xmlns:a16="http://schemas.microsoft.com/office/drawing/2014/main" id="{991D46DA-E97B-1059-5CE1-C6AAEEADE033}"/>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39" name="Text 3">
              <a:extLst>
                <a:ext uri="{FF2B5EF4-FFF2-40B4-BE49-F238E27FC236}">
                  <a16:creationId xmlns:a16="http://schemas.microsoft.com/office/drawing/2014/main" id="{B1CC11B8-BE5D-984A-D1CC-0E717312369B}"/>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3</a:t>
              </a:r>
              <a:endParaRPr lang="en-US" sz="1000" dirty="0"/>
            </a:p>
          </p:txBody>
        </p:sp>
      </p:grpSp>
      <p:grpSp>
        <p:nvGrpSpPr>
          <p:cNvPr id="40" name="Group 39">
            <a:extLst>
              <a:ext uri="{FF2B5EF4-FFF2-40B4-BE49-F238E27FC236}">
                <a16:creationId xmlns:a16="http://schemas.microsoft.com/office/drawing/2014/main" id="{FCAA59CD-DC4E-26AF-93DC-9B7B40EEEEF7}"/>
              </a:ext>
            </a:extLst>
          </p:cNvPr>
          <p:cNvGrpSpPr/>
          <p:nvPr/>
        </p:nvGrpSpPr>
        <p:grpSpPr>
          <a:xfrm>
            <a:off x="1246683" y="4023360"/>
            <a:ext cx="246888" cy="257337"/>
            <a:chOff x="301951" y="1129788"/>
            <a:chExt cx="246888" cy="257337"/>
          </a:xfrm>
        </p:grpSpPr>
        <p:sp>
          <p:nvSpPr>
            <p:cNvPr id="41" name="Shape 2">
              <a:extLst>
                <a:ext uri="{FF2B5EF4-FFF2-40B4-BE49-F238E27FC236}">
                  <a16:creationId xmlns:a16="http://schemas.microsoft.com/office/drawing/2014/main" id="{0A001227-C28E-1FF1-026B-5B6BB1C553B4}"/>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2" name="Text 3">
              <a:extLst>
                <a:ext uri="{FF2B5EF4-FFF2-40B4-BE49-F238E27FC236}">
                  <a16:creationId xmlns:a16="http://schemas.microsoft.com/office/drawing/2014/main" id="{7056B771-53F3-70A5-CC71-B20CE402E83D}"/>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4</a:t>
              </a:r>
              <a:endParaRPr lang="en-US" sz="1000" dirty="0"/>
            </a:p>
          </p:txBody>
        </p:sp>
      </p:grpSp>
      <p:grpSp>
        <p:nvGrpSpPr>
          <p:cNvPr id="43" name="Group 42">
            <a:extLst>
              <a:ext uri="{FF2B5EF4-FFF2-40B4-BE49-F238E27FC236}">
                <a16:creationId xmlns:a16="http://schemas.microsoft.com/office/drawing/2014/main" id="{760B4D2E-7D29-C851-CE85-2D6764D04544}"/>
              </a:ext>
            </a:extLst>
          </p:cNvPr>
          <p:cNvGrpSpPr/>
          <p:nvPr/>
        </p:nvGrpSpPr>
        <p:grpSpPr>
          <a:xfrm>
            <a:off x="3190881" y="3745821"/>
            <a:ext cx="246888" cy="257337"/>
            <a:chOff x="301951" y="1129788"/>
            <a:chExt cx="246888" cy="257337"/>
          </a:xfrm>
        </p:grpSpPr>
        <p:sp>
          <p:nvSpPr>
            <p:cNvPr id="44" name="Shape 2">
              <a:extLst>
                <a:ext uri="{FF2B5EF4-FFF2-40B4-BE49-F238E27FC236}">
                  <a16:creationId xmlns:a16="http://schemas.microsoft.com/office/drawing/2014/main" id="{B4E277FD-C594-A232-FED5-574E74C3C069}"/>
                </a:ext>
              </a:extLst>
            </p:cNvPr>
            <p:cNvSpPr/>
            <p:nvPr/>
          </p:nvSpPr>
          <p:spPr>
            <a:xfrm>
              <a:off x="301951" y="1129788"/>
              <a:ext cx="246888" cy="246888"/>
            </a:xfrm>
            <a:prstGeom prst="ellipse">
              <a:avLst/>
            </a:prstGeom>
            <a:solidFill>
              <a:srgbClr val="FF6A00"/>
            </a:solidFill>
            <a:ln w="12700">
              <a:solidFill>
                <a:srgbClr val="111111"/>
              </a:solidFill>
              <a:prstDash val="solid"/>
            </a:ln>
          </p:spPr>
          <p:txBody>
            <a:bodyPr/>
            <a:lstStyle/>
            <a:p>
              <a:endParaRPr lang="en-US"/>
            </a:p>
          </p:txBody>
        </p:sp>
        <p:sp>
          <p:nvSpPr>
            <p:cNvPr id="47" name="Text 3">
              <a:extLst>
                <a:ext uri="{FF2B5EF4-FFF2-40B4-BE49-F238E27FC236}">
                  <a16:creationId xmlns:a16="http://schemas.microsoft.com/office/drawing/2014/main" id="{99E5F45F-CC46-1B71-1C0D-144A127E0570}"/>
                </a:ext>
              </a:extLst>
            </p:cNvPr>
            <p:cNvSpPr txBox="1"/>
            <p:nvPr/>
          </p:nvSpPr>
          <p:spPr>
            <a:xfrm>
              <a:off x="301951" y="1140237"/>
              <a:ext cx="246888" cy="246888"/>
            </a:xfrm>
            <a:prstGeom prst="rect">
              <a:avLst/>
            </a:prstGeom>
            <a:noFill/>
            <a:ln/>
          </p:spPr>
          <p:txBody>
            <a:bodyPr wrap="square" lIns="0" tIns="0" rIns="0" bIns="0" rtlCol="0" anchor="ctr"/>
            <a:lstStyle/>
            <a:p>
              <a:pPr marL="0" indent="0" algn="ctr">
                <a:buNone/>
              </a:pPr>
              <a:r>
                <a:rPr lang="en-US" sz="1000" b="1" dirty="0">
                  <a:solidFill>
                    <a:srgbClr val="111111"/>
                  </a:solidFill>
                  <a:latin typeface="Calibri" pitchFamily="34" charset="0"/>
                  <a:ea typeface="Calibri" pitchFamily="34" charset="-122"/>
                  <a:cs typeface="Calibri" pitchFamily="34" charset="-120"/>
                </a:rPr>
                <a:t>5</a:t>
              </a:r>
              <a:endParaRPr lang="en-US" sz="10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232280"/>
            <a:ext cx="8046720" cy="548640"/>
          </a:xfrm>
          <a:prstGeom prst="rect">
            <a:avLst/>
          </a:prstGeom>
          <a:noFill/>
          <a:ln/>
        </p:spPr>
        <p:txBody>
          <a:bodyPr wrap="square" lIns="0" tIns="0" rIns="0" bIns="0"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Overall Findings</a:t>
            </a:r>
            <a:endParaRPr lang="en-US" sz="2600" dirty="0"/>
          </a:p>
        </p:txBody>
      </p:sp>
      <p:sp>
        <p:nvSpPr>
          <p:cNvPr id="3" name="Text 1"/>
          <p:cNvSpPr txBox="1"/>
          <p:nvPr/>
        </p:nvSpPr>
        <p:spPr>
          <a:xfrm>
            <a:off x="548640" y="780920"/>
            <a:ext cx="8046720" cy="32004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Detail for each point is explained on the dashboard</a:t>
            </a:r>
            <a:endParaRPr lang="en-US" sz="1300" dirty="0"/>
          </a:p>
        </p:txBody>
      </p:sp>
      <p:sp>
        <p:nvSpPr>
          <p:cNvPr id="4" name="Shape 2"/>
          <p:cNvSpPr/>
          <p:nvPr/>
        </p:nvSpPr>
        <p:spPr>
          <a:xfrm>
            <a:off x="548640" y="1311272"/>
            <a:ext cx="457200" cy="457200"/>
          </a:xfrm>
          <a:prstGeom prst="ellipse">
            <a:avLst/>
          </a:prstGeom>
          <a:solidFill>
            <a:srgbClr val="FF6A00"/>
          </a:solidFill>
          <a:ln w="12700">
            <a:solidFill>
              <a:srgbClr val="FF6A00"/>
            </a:solidFill>
            <a:prstDash val="solid"/>
          </a:ln>
        </p:spPr>
        <p:txBody>
          <a:bodyPr/>
          <a:lstStyle/>
          <a:p>
            <a:endParaRPr lang="en-US"/>
          </a:p>
        </p:txBody>
      </p:sp>
      <p:sp>
        <p:nvSpPr>
          <p:cNvPr id="5" name="Text 3"/>
          <p:cNvSpPr txBox="1"/>
          <p:nvPr/>
        </p:nvSpPr>
        <p:spPr>
          <a:xfrm>
            <a:off x="548640" y="131127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238120"/>
            <a:ext cx="7406640" cy="64008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High participation does not translate into progression</a:t>
            </a:r>
            <a:endParaRPr lang="en-US" sz="1400" dirty="0"/>
          </a:p>
          <a:p>
            <a:pPr marL="0" indent="0">
              <a:buNone/>
            </a:pPr>
            <a:r>
              <a:rPr lang="en-US" sz="1150" dirty="0">
                <a:solidFill>
                  <a:srgbClr val="555555"/>
                </a:solidFill>
                <a:latin typeface="Calibri" pitchFamily="34" charset="0"/>
                <a:ea typeface="Calibri" pitchFamily="34" charset="-122"/>
                <a:cs typeface="Calibri" pitchFamily="34" charset="-120"/>
              </a:rPr>
              <a:t>Only 1,564 application-stage records identified and about 7% completed: large movement loss across the funnel</a:t>
            </a:r>
            <a:endParaRPr lang="en-US" sz="1400" dirty="0"/>
          </a:p>
        </p:txBody>
      </p:sp>
      <p:sp>
        <p:nvSpPr>
          <p:cNvPr id="7" name="Shape 5"/>
          <p:cNvSpPr/>
          <p:nvPr/>
        </p:nvSpPr>
        <p:spPr>
          <a:xfrm>
            <a:off x="548640" y="2042792"/>
            <a:ext cx="457200" cy="457200"/>
          </a:xfrm>
          <a:prstGeom prst="ellipse">
            <a:avLst/>
          </a:prstGeom>
          <a:solidFill>
            <a:srgbClr val="FF6A00"/>
          </a:solidFill>
          <a:ln w="12700">
            <a:solidFill>
              <a:srgbClr val="FF6A00"/>
            </a:solidFill>
            <a:prstDash val="solid"/>
          </a:ln>
        </p:spPr>
        <p:txBody>
          <a:bodyPr/>
          <a:lstStyle/>
          <a:p>
            <a:endParaRPr lang="en-US"/>
          </a:p>
        </p:txBody>
      </p:sp>
      <p:sp>
        <p:nvSpPr>
          <p:cNvPr id="8" name="Text 6"/>
          <p:cNvSpPr txBox="1"/>
          <p:nvPr/>
        </p:nvSpPr>
        <p:spPr>
          <a:xfrm>
            <a:off x="548640" y="204279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1969640"/>
            <a:ext cx="7406640" cy="64008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Opportunity volume differs from effectiveness</a:t>
            </a:r>
            <a:endParaRPr lang="en-US" sz="1400" dirty="0"/>
          </a:p>
          <a:p>
            <a:pPr marL="0" indent="0">
              <a:buNone/>
            </a:pPr>
            <a:r>
              <a:rPr lang="en-US" sz="1150" dirty="0">
                <a:solidFill>
                  <a:srgbClr val="555555"/>
                </a:solidFill>
                <a:latin typeface="Calibri" pitchFamily="34" charset="0"/>
                <a:ea typeface="Calibri" pitchFamily="34" charset="-122"/>
                <a:cs typeface="Calibri" pitchFamily="34" charset="-120"/>
              </a:rPr>
              <a:t>Internship and other high-volume opportunities attract many learners, but sign-ups do not track completion</a:t>
            </a:r>
            <a:endParaRPr lang="en-US" sz="1400" dirty="0"/>
          </a:p>
        </p:txBody>
      </p:sp>
      <p:sp>
        <p:nvSpPr>
          <p:cNvPr id="10" name="Shape 8"/>
          <p:cNvSpPr/>
          <p:nvPr/>
        </p:nvSpPr>
        <p:spPr>
          <a:xfrm>
            <a:off x="548640" y="2774312"/>
            <a:ext cx="457200" cy="457200"/>
          </a:xfrm>
          <a:prstGeom prst="ellipse">
            <a:avLst/>
          </a:prstGeom>
          <a:solidFill>
            <a:srgbClr val="FF6A00"/>
          </a:solidFill>
          <a:ln w="12700">
            <a:solidFill>
              <a:srgbClr val="FF6A00"/>
            </a:solidFill>
            <a:prstDash val="solid"/>
          </a:ln>
        </p:spPr>
        <p:txBody>
          <a:bodyPr/>
          <a:lstStyle/>
          <a:p>
            <a:endParaRPr lang="en-US"/>
          </a:p>
        </p:txBody>
      </p:sp>
      <p:sp>
        <p:nvSpPr>
          <p:cNvPr id="11" name="Text 9"/>
          <p:cNvSpPr txBox="1"/>
          <p:nvPr/>
        </p:nvSpPr>
        <p:spPr>
          <a:xfrm>
            <a:off x="548640" y="277431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88720" y="2701160"/>
            <a:ext cx="7406640" cy="64008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Participation is declining and fluctuating</a:t>
            </a:r>
            <a:endParaRPr lang="en-US" sz="1400" dirty="0"/>
          </a:p>
          <a:p>
            <a:pPr marL="0" indent="0">
              <a:buNone/>
            </a:pPr>
            <a:r>
              <a:rPr lang="en-US" sz="1150" dirty="0">
                <a:solidFill>
                  <a:srgbClr val="555555"/>
                </a:solidFill>
                <a:latin typeface="Calibri" pitchFamily="34" charset="0"/>
                <a:ea typeface="Calibri" pitchFamily="34" charset="-122"/>
                <a:cs typeface="Calibri" pitchFamily="34" charset="-120"/>
              </a:rPr>
              <a:t>Sign-ups fell 33.94% from Q4 2025 to Q1 2026; monthly activity swings sharply</a:t>
            </a:r>
            <a:endParaRPr lang="en-US" sz="1400" dirty="0"/>
          </a:p>
        </p:txBody>
      </p:sp>
      <p:sp>
        <p:nvSpPr>
          <p:cNvPr id="13" name="Shape 11"/>
          <p:cNvSpPr/>
          <p:nvPr/>
        </p:nvSpPr>
        <p:spPr>
          <a:xfrm>
            <a:off x="548640" y="3505832"/>
            <a:ext cx="457200" cy="457200"/>
          </a:xfrm>
          <a:prstGeom prst="ellipse">
            <a:avLst/>
          </a:prstGeom>
          <a:solidFill>
            <a:srgbClr val="FF6A00"/>
          </a:solidFill>
          <a:ln w="12700">
            <a:solidFill>
              <a:srgbClr val="FF6A00"/>
            </a:solidFill>
            <a:prstDash val="solid"/>
          </a:ln>
        </p:spPr>
        <p:txBody>
          <a:bodyPr/>
          <a:lstStyle/>
          <a:p>
            <a:endParaRPr lang="en-US"/>
          </a:p>
        </p:txBody>
      </p:sp>
      <p:sp>
        <p:nvSpPr>
          <p:cNvPr id="14" name="Text 12"/>
          <p:cNvSpPr txBox="1"/>
          <p:nvPr/>
        </p:nvSpPr>
        <p:spPr>
          <a:xfrm>
            <a:off x="548640" y="350583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88720" y="3432680"/>
            <a:ext cx="7406640" cy="64008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Lead-source volume is not lead-source effectiveness</a:t>
            </a:r>
            <a:endParaRPr lang="en-US" sz="1400" dirty="0"/>
          </a:p>
          <a:p>
            <a:pPr marL="0" indent="0">
              <a:buNone/>
            </a:pPr>
            <a:r>
              <a:rPr lang="en-US" sz="1150" dirty="0">
                <a:solidFill>
                  <a:srgbClr val="555555"/>
                </a:solidFill>
                <a:latin typeface="Calibri" pitchFamily="34" charset="0"/>
                <a:ea typeface="Calibri" pitchFamily="34" charset="-122"/>
                <a:cs typeface="Calibri" pitchFamily="34" charset="-120"/>
              </a:rPr>
              <a:t>Social Media brought the largest identifiable learner group, but its downstream progression was limited</a:t>
            </a:r>
            <a:endParaRPr lang="en-US" sz="1400" dirty="0"/>
          </a:p>
        </p:txBody>
      </p:sp>
      <p:sp>
        <p:nvSpPr>
          <p:cNvPr id="16" name="Shape 14"/>
          <p:cNvSpPr/>
          <p:nvPr/>
        </p:nvSpPr>
        <p:spPr>
          <a:xfrm>
            <a:off x="548640" y="4237352"/>
            <a:ext cx="457200" cy="457200"/>
          </a:xfrm>
          <a:prstGeom prst="ellipse">
            <a:avLst/>
          </a:prstGeom>
          <a:solidFill>
            <a:srgbClr val="FF6A00"/>
          </a:solidFill>
          <a:ln w="12700">
            <a:solidFill>
              <a:srgbClr val="FF6A00"/>
            </a:solidFill>
            <a:prstDash val="solid"/>
          </a:ln>
        </p:spPr>
        <p:txBody>
          <a:bodyPr/>
          <a:lstStyle/>
          <a:p>
            <a:endParaRPr lang="en-US"/>
          </a:p>
        </p:txBody>
      </p:sp>
      <p:sp>
        <p:nvSpPr>
          <p:cNvPr id="17" name="Text 15"/>
          <p:cNvSpPr txBox="1"/>
          <p:nvPr/>
        </p:nvSpPr>
        <p:spPr>
          <a:xfrm>
            <a:off x="548640" y="423735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88720" y="4164200"/>
            <a:ext cx="7406640" cy="640080"/>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Rewards and scholarships are not aligned with completion</a:t>
            </a:r>
            <a:endParaRPr lang="en-US" sz="1400" dirty="0"/>
          </a:p>
          <a:p>
            <a:pPr marL="0" indent="0">
              <a:buNone/>
            </a:pPr>
            <a:r>
              <a:rPr lang="en-US" sz="1150" dirty="0">
                <a:solidFill>
                  <a:srgbClr val="555555"/>
                </a:solidFill>
                <a:latin typeface="Calibri" pitchFamily="34" charset="0"/>
                <a:ea typeface="Calibri" pitchFamily="34" charset="-122"/>
                <a:cs typeface="Calibri" pitchFamily="34" charset="-120"/>
              </a:rPr>
              <a:t>Their distribution does not match completion performance, so incentives may not reach engaged learners</a:t>
            </a:r>
            <a:endParaRPr lang="en-US" sz="1400" dirty="0"/>
          </a:p>
        </p:txBody>
      </p:sp>
      <p:sp>
        <p:nvSpPr>
          <p:cNvPr id="20" name="Text 4">
            <a:extLst>
              <a:ext uri="{FF2B5EF4-FFF2-40B4-BE49-F238E27FC236}">
                <a16:creationId xmlns:a16="http://schemas.microsoft.com/office/drawing/2014/main" id="{F7D301B3-CBED-DEC3-477F-211FAB00AD73}"/>
              </a:ext>
            </a:extLst>
          </p:cNvPr>
          <p:cNvSpPr txBox="1"/>
          <p:nvPr/>
        </p:nvSpPr>
        <p:spPr>
          <a:xfrm>
            <a:off x="457200" y="4754880"/>
            <a:ext cx="4572000" cy="201168"/>
          </a:xfrm>
          <a:prstGeom prst="rect">
            <a:avLst/>
          </a:prstGeom>
          <a:noFill/>
          <a:ln/>
        </p:spPr>
        <p:txBody>
          <a:bodyPr wrap="square" lIns="0" tIns="0" rIns="0" bIns="0" rtlCol="0" anchor="ctr"/>
          <a:lstStyle/>
          <a:p>
            <a:pPr marL="0" indent="0">
              <a:buNone/>
            </a:pPr>
            <a:r>
              <a:rPr lang="en-US" sz="900" dirty="0">
                <a:solidFill>
                  <a:srgbClr val="8A8A8A"/>
                </a:solidFill>
                <a:latin typeface="Calibri" pitchFamily="34" charset="0"/>
                <a:ea typeface="Calibri" pitchFamily="34" charset="-122"/>
                <a:cs typeface="Calibri" pitchFamily="34" charset="-120"/>
              </a:rPr>
              <a:t>Excelerate  |  Learner Opportunity Analysis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Priority Recommendations for Institutions</a:t>
            </a:r>
            <a:endParaRPr lang="en-US" sz="2600" dirty="0"/>
          </a:p>
        </p:txBody>
      </p:sp>
      <p:sp>
        <p:nvSpPr>
          <p:cNvPr id="3" name="Text 1"/>
          <p:cNvSpPr txBox="1"/>
          <p:nvPr/>
        </p:nvSpPr>
        <p:spPr>
          <a:xfrm>
            <a:off x="548640" y="822960"/>
            <a:ext cx="8046720" cy="320040"/>
          </a:xfrm>
          <a:prstGeom prst="rect">
            <a:avLst/>
          </a:prstGeom>
          <a:noFill/>
          <a:ln/>
        </p:spPr>
        <p:txBody>
          <a:bodyPr wrap="square" lIns="0" tIns="0" rIns="0" bIns="0" rtlCol="0" anchor="ctr"/>
          <a:lstStyle/>
          <a:p>
            <a:pPr marL="0" indent="0">
              <a:buNone/>
            </a:pPr>
            <a:r>
              <a:rPr lang="en-US" sz="1300" dirty="0">
                <a:solidFill>
                  <a:srgbClr val="FF6A00"/>
                </a:solidFill>
                <a:latin typeface="Calibri" pitchFamily="34" charset="0"/>
                <a:ea typeface="Calibri" pitchFamily="34" charset="-122"/>
                <a:cs typeface="Calibri" pitchFamily="34" charset="-120"/>
              </a:rPr>
              <a:t>Ordered by priority</a:t>
            </a:r>
            <a:endParaRPr lang="en-US" sz="1300" dirty="0"/>
          </a:p>
        </p:txBody>
      </p:sp>
      <p:sp>
        <p:nvSpPr>
          <p:cNvPr id="4" name="Shape 2"/>
          <p:cNvSpPr/>
          <p:nvPr/>
        </p:nvSpPr>
        <p:spPr>
          <a:xfrm>
            <a:off x="548640" y="1353312"/>
            <a:ext cx="457200" cy="457200"/>
          </a:xfrm>
          <a:prstGeom prst="ellipse">
            <a:avLst/>
          </a:prstGeom>
          <a:solidFill>
            <a:srgbClr val="FF6A00"/>
          </a:solidFill>
          <a:ln w="12700">
            <a:solidFill>
              <a:srgbClr val="FF6A00"/>
            </a:solidFill>
            <a:prstDash val="solid"/>
          </a:ln>
        </p:spPr>
        <p:txBody>
          <a:bodyPr/>
          <a:lstStyle/>
          <a:p>
            <a:endParaRPr lang="en-US"/>
          </a:p>
        </p:txBody>
      </p:sp>
      <p:sp>
        <p:nvSpPr>
          <p:cNvPr id="5" name="Text 3"/>
          <p:cNvSpPr txBox="1"/>
          <p:nvPr/>
        </p:nvSpPr>
        <p:spPr>
          <a:xfrm>
            <a:off x="548640" y="135331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88720" y="1280160"/>
            <a:ext cx="74066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Close the funnel gap</a:t>
            </a:r>
            <a:endParaRPr lang="en-US" sz="1400" dirty="0"/>
          </a:p>
          <a:p>
            <a:pPr marL="0" indent="0">
              <a:buNone/>
            </a:pPr>
            <a:r>
              <a:rPr lang="en-US" sz="1150" dirty="0">
                <a:solidFill>
                  <a:srgbClr val="CCCCCC"/>
                </a:solidFill>
                <a:latin typeface="Calibri" pitchFamily="34" charset="0"/>
                <a:ea typeface="Calibri" pitchFamily="34" charset="-122"/>
                <a:cs typeface="Calibri" pitchFamily="34" charset="-120"/>
              </a:rPr>
              <a:t>Track sign-up → application → completion and add targeted support at the weakest step</a:t>
            </a:r>
            <a:endParaRPr lang="en-US" sz="1400" dirty="0"/>
          </a:p>
        </p:txBody>
      </p:sp>
      <p:sp>
        <p:nvSpPr>
          <p:cNvPr id="7" name="Shape 5"/>
          <p:cNvSpPr/>
          <p:nvPr/>
        </p:nvSpPr>
        <p:spPr>
          <a:xfrm>
            <a:off x="548640" y="2084832"/>
            <a:ext cx="457200" cy="457200"/>
          </a:xfrm>
          <a:prstGeom prst="ellipse">
            <a:avLst/>
          </a:prstGeom>
          <a:solidFill>
            <a:srgbClr val="FF6A00"/>
          </a:solidFill>
          <a:ln w="12700">
            <a:solidFill>
              <a:srgbClr val="FF6A00"/>
            </a:solidFill>
            <a:prstDash val="solid"/>
          </a:ln>
        </p:spPr>
        <p:txBody>
          <a:bodyPr/>
          <a:lstStyle/>
          <a:p>
            <a:endParaRPr lang="en-US"/>
          </a:p>
        </p:txBody>
      </p:sp>
      <p:sp>
        <p:nvSpPr>
          <p:cNvPr id="8" name="Text 6"/>
          <p:cNvSpPr txBox="1"/>
          <p:nvPr/>
        </p:nvSpPr>
        <p:spPr>
          <a:xfrm>
            <a:off x="548640" y="208483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88720" y="2011680"/>
            <a:ext cx="74066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Rank opportunities by completion, not sign-ups</a:t>
            </a:r>
            <a:endParaRPr lang="en-US" sz="1400" dirty="0"/>
          </a:p>
          <a:p>
            <a:pPr marL="0" indent="0">
              <a:buNone/>
            </a:pPr>
            <a:r>
              <a:rPr lang="en-US" sz="1150" dirty="0">
                <a:solidFill>
                  <a:srgbClr val="CCCCCC"/>
                </a:solidFill>
                <a:latin typeface="Calibri" pitchFamily="34" charset="0"/>
                <a:ea typeface="Calibri" pitchFamily="34" charset="-122"/>
                <a:cs typeface="Calibri" pitchFamily="34" charset="-120"/>
              </a:rPr>
              <a:t>Scale or redesign opportunities using completion rate, with a minimum-application threshold</a:t>
            </a:r>
            <a:endParaRPr lang="en-US" sz="1400" dirty="0"/>
          </a:p>
        </p:txBody>
      </p:sp>
      <p:sp>
        <p:nvSpPr>
          <p:cNvPr id="10" name="Shape 8"/>
          <p:cNvSpPr/>
          <p:nvPr/>
        </p:nvSpPr>
        <p:spPr>
          <a:xfrm>
            <a:off x="548640" y="2816352"/>
            <a:ext cx="457200" cy="457200"/>
          </a:xfrm>
          <a:prstGeom prst="ellipse">
            <a:avLst/>
          </a:prstGeom>
          <a:solidFill>
            <a:srgbClr val="FF6A00"/>
          </a:solidFill>
          <a:ln w="12700">
            <a:solidFill>
              <a:srgbClr val="FF6A00"/>
            </a:solidFill>
            <a:prstDash val="solid"/>
          </a:ln>
        </p:spPr>
        <p:txBody>
          <a:bodyPr/>
          <a:lstStyle/>
          <a:p>
            <a:endParaRPr lang="en-US"/>
          </a:p>
        </p:txBody>
      </p:sp>
      <p:sp>
        <p:nvSpPr>
          <p:cNvPr id="11" name="Text 9"/>
          <p:cNvSpPr txBox="1"/>
          <p:nvPr/>
        </p:nvSpPr>
        <p:spPr>
          <a:xfrm>
            <a:off x="548640" y="281635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88720" y="2743200"/>
            <a:ext cx="74066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Diagnose and stabilise the sign-up decline</a:t>
            </a:r>
            <a:endParaRPr lang="en-US" sz="1400" dirty="0"/>
          </a:p>
          <a:p>
            <a:pPr marL="0" indent="0">
              <a:buNone/>
            </a:pPr>
            <a:r>
              <a:rPr lang="en-US" sz="1150" dirty="0">
                <a:solidFill>
                  <a:srgbClr val="CCCCCC"/>
                </a:solidFill>
                <a:latin typeface="Calibri" pitchFamily="34" charset="0"/>
                <a:ea typeface="Calibri" pitchFamily="34" charset="-122"/>
                <a:cs typeface="Calibri" pitchFamily="34" charset="-120"/>
              </a:rPr>
              <a:t>Investigate the Q4 2025 to Q1 2026 drop and plan campaigns around monthly swings</a:t>
            </a:r>
            <a:endParaRPr lang="en-US" sz="1400" dirty="0"/>
          </a:p>
        </p:txBody>
      </p:sp>
      <p:sp>
        <p:nvSpPr>
          <p:cNvPr id="13" name="Shape 11"/>
          <p:cNvSpPr/>
          <p:nvPr/>
        </p:nvSpPr>
        <p:spPr>
          <a:xfrm>
            <a:off x="548640" y="3547872"/>
            <a:ext cx="457200" cy="457200"/>
          </a:xfrm>
          <a:prstGeom prst="ellipse">
            <a:avLst/>
          </a:prstGeom>
          <a:solidFill>
            <a:srgbClr val="FF6A00"/>
          </a:solidFill>
          <a:ln w="12700">
            <a:solidFill>
              <a:srgbClr val="FF6A00"/>
            </a:solidFill>
            <a:prstDash val="solid"/>
          </a:ln>
        </p:spPr>
        <p:txBody>
          <a:bodyPr/>
          <a:lstStyle/>
          <a:p>
            <a:endParaRPr lang="en-US"/>
          </a:p>
        </p:txBody>
      </p:sp>
      <p:sp>
        <p:nvSpPr>
          <p:cNvPr id="14" name="Text 12"/>
          <p:cNvSpPr txBox="1"/>
          <p:nvPr/>
        </p:nvSpPr>
        <p:spPr>
          <a:xfrm>
            <a:off x="548640" y="354787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88720" y="3474720"/>
            <a:ext cx="74066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Invest in lead sources by conversion</a:t>
            </a:r>
            <a:endParaRPr lang="en-US" sz="1400" dirty="0"/>
          </a:p>
          <a:p>
            <a:pPr marL="0" indent="0">
              <a:buNone/>
            </a:pPr>
            <a:r>
              <a:rPr lang="en-US" sz="1150" dirty="0">
                <a:solidFill>
                  <a:srgbClr val="CCCCCC"/>
                </a:solidFill>
                <a:latin typeface="Calibri" pitchFamily="34" charset="0"/>
                <a:ea typeface="Calibri" pitchFamily="34" charset="-122"/>
                <a:cs typeface="Calibri" pitchFamily="34" charset="-120"/>
              </a:rPr>
              <a:t>Shift acquisition effort toward sources that progress learners, not just recruit them</a:t>
            </a:r>
            <a:endParaRPr lang="en-US" sz="1400" dirty="0"/>
          </a:p>
        </p:txBody>
      </p:sp>
      <p:sp>
        <p:nvSpPr>
          <p:cNvPr id="16" name="Shape 14"/>
          <p:cNvSpPr/>
          <p:nvPr/>
        </p:nvSpPr>
        <p:spPr>
          <a:xfrm>
            <a:off x="548640" y="4279392"/>
            <a:ext cx="457200" cy="457200"/>
          </a:xfrm>
          <a:prstGeom prst="ellipse">
            <a:avLst/>
          </a:prstGeom>
          <a:solidFill>
            <a:srgbClr val="FF6A00"/>
          </a:solidFill>
          <a:ln w="12700">
            <a:solidFill>
              <a:srgbClr val="FF6A00"/>
            </a:solidFill>
            <a:prstDash val="solid"/>
          </a:ln>
        </p:spPr>
        <p:txBody>
          <a:bodyPr/>
          <a:lstStyle/>
          <a:p>
            <a:endParaRPr lang="en-US"/>
          </a:p>
        </p:txBody>
      </p:sp>
      <p:sp>
        <p:nvSpPr>
          <p:cNvPr id="17" name="Text 15"/>
          <p:cNvSpPr txBox="1"/>
          <p:nvPr/>
        </p:nvSpPr>
        <p:spPr>
          <a:xfrm>
            <a:off x="548640" y="4279392"/>
            <a:ext cx="457200" cy="457200"/>
          </a:xfrm>
          <a:prstGeom prst="rect">
            <a:avLst/>
          </a:prstGeom>
          <a:noFill/>
          <a:ln/>
        </p:spPr>
        <p:txBody>
          <a:bodyPr wrap="square" lIns="0" tIns="0" rIns="0" bIns="0" rtlCol="0" anchor="ctr"/>
          <a:lstStyle/>
          <a:p>
            <a:pPr marL="0" indent="0" algn="ctr">
              <a:buNone/>
            </a:pPr>
            <a:r>
              <a:rPr lang="en-US" sz="1600" b="1" dirty="0">
                <a:solidFill>
                  <a:srgbClr val="111111"/>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88720" y="4206240"/>
            <a:ext cx="740664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Align rewards and scholarships with outcomes</a:t>
            </a:r>
            <a:endParaRPr lang="en-US" sz="1400" dirty="0"/>
          </a:p>
          <a:p>
            <a:pPr marL="0" indent="0">
              <a:buNone/>
            </a:pPr>
            <a:r>
              <a:rPr lang="en-US" sz="1150" dirty="0">
                <a:solidFill>
                  <a:srgbClr val="CCCCCC"/>
                </a:solidFill>
                <a:latin typeface="Calibri" pitchFamily="34" charset="0"/>
                <a:ea typeface="Calibri" pitchFamily="34" charset="-122"/>
                <a:cs typeface="Calibri" pitchFamily="34" charset="-120"/>
              </a:rPr>
              <a:t>Review who receives incentives and pilot awards linked to engagement and completion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8046720" cy="54864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Conclusion</a:t>
            </a:r>
            <a:endParaRPr lang="en-US" sz="2600" dirty="0"/>
          </a:p>
        </p:txBody>
      </p:sp>
      <p:sp>
        <p:nvSpPr>
          <p:cNvPr id="3" name="Text 1"/>
          <p:cNvSpPr txBox="1"/>
          <p:nvPr/>
        </p:nvSpPr>
        <p:spPr>
          <a:xfrm>
            <a:off x="548640" y="868680"/>
            <a:ext cx="8046720" cy="822960"/>
          </a:xfrm>
          <a:prstGeom prst="rect">
            <a:avLst/>
          </a:prstGeom>
          <a:noFill/>
          <a:ln/>
        </p:spPr>
        <p:txBody>
          <a:bodyPr wrap="square" lIns="0" tIns="0" rIns="0" bIns="0" rtlCol="0" anchor="t"/>
          <a:lstStyle/>
          <a:p>
            <a:pPr marL="0" indent="0">
              <a:buNone/>
            </a:pPr>
            <a:r>
              <a:rPr lang="en-US" sz="2400" b="1" dirty="0">
                <a:solidFill>
                  <a:srgbClr val="FFFFFF"/>
                </a:solidFill>
                <a:latin typeface="Calibri" pitchFamily="34" charset="0"/>
                <a:ea typeface="Calibri" pitchFamily="34" charset="-122"/>
                <a:cs typeface="Calibri" pitchFamily="34" charset="-120"/>
              </a:rPr>
              <a:t>The opportunity is not just more sign-ups. </a:t>
            </a:r>
            <a:r>
              <a:rPr lang="en-US" sz="2400" b="1" dirty="0">
                <a:solidFill>
                  <a:srgbClr val="FF6A00"/>
                </a:solidFill>
                <a:latin typeface="Calibri" pitchFamily="34" charset="0"/>
                <a:ea typeface="Calibri" pitchFamily="34" charset="-122"/>
                <a:cs typeface="Calibri" pitchFamily="34" charset="-120"/>
              </a:rPr>
              <a:t>It is helping more learners move forward.</a:t>
            </a:r>
            <a:endParaRPr lang="en-US" sz="2400" dirty="0"/>
          </a:p>
        </p:txBody>
      </p:sp>
      <p:sp>
        <p:nvSpPr>
          <p:cNvPr id="4" name="Shape 2"/>
          <p:cNvSpPr/>
          <p:nvPr/>
        </p:nvSpPr>
        <p:spPr>
          <a:xfrm>
            <a:off x="548640" y="1828800"/>
            <a:ext cx="2377440" cy="1417320"/>
          </a:xfrm>
          <a:prstGeom prst="roundRect">
            <a:avLst>
              <a:gd name="adj" fmla="val 5161"/>
            </a:avLst>
          </a:prstGeom>
          <a:solidFill>
            <a:srgbClr val="222222"/>
          </a:solidFill>
          <a:ln w="12700">
            <a:solidFill>
              <a:srgbClr val="222222"/>
            </a:solidFill>
            <a:prstDash val="solid"/>
          </a:ln>
        </p:spPr>
        <p:txBody>
          <a:bodyPr/>
          <a:lstStyle/>
          <a:p>
            <a:endParaRPr lang="en-US"/>
          </a:p>
        </p:txBody>
      </p:sp>
      <p:sp>
        <p:nvSpPr>
          <p:cNvPr id="5" name="Text 3"/>
          <p:cNvSpPr txBox="1"/>
          <p:nvPr/>
        </p:nvSpPr>
        <p:spPr>
          <a:xfrm>
            <a:off x="548640" y="1920240"/>
            <a:ext cx="2377440" cy="640080"/>
          </a:xfrm>
          <a:prstGeom prst="rect">
            <a:avLst/>
          </a:prstGeom>
          <a:noFill/>
          <a:ln/>
        </p:spPr>
        <p:txBody>
          <a:bodyPr wrap="square" lIns="0" tIns="0" rIns="0" bIns="0" rtlCol="0" anchor="ctr"/>
          <a:lstStyle/>
          <a:p>
            <a:pPr marL="0" indent="0" algn="ctr">
              <a:buNone/>
            </a:pPr>
            <a:r>
              <a:rPr lang="en-US" sz="3400" b="1" dirty="0">
                <a:solidFill>
                  <a:srgbClr val="FF6A00"/>
                </a:solidFill>
                <a:latin typeface="Calibri" pitchFamily="34" charset="0"/>
                <a:ea typeface="Calibri" pitchFamily="34" charset="-122"/>
                <a:cs typeface="Calibri" pitchFamily="34" charset="-120"/>
              </a:rPr>
              <a:t>8.5K</a:t>
            </a:r>
            <a:endParaRPr lang="en-US" sz="3400" dirty="0"/>
          </a:p>
        </p:txBody>
      </p:sp>
      <p:sp>
        <p:nvSpPr>
          <p:cNvPr id="6" name="Text 4"/>
          <p:cNvSpPr txBox="1"/>
          <p:nvPr/>
        </p:nvSpPr>
        <p:spPr>
          <a:xfrm>
            <a:off x="548640" y="2560320"/>
            <a:ext cx="237744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Sign-ups</a:t>
            </a:r>
            <a:endParaRPr lang="en-US" sz="1400" dirty="0"/>
          </a:p>
        </p:txBody>
      </p:sp>
      <p:sp>
        <p:nvSpPr>
          <p:cNvPr id="7" name="Text 5"/>
          <p:cNvSpPr txBox="1"/>
          <p:nvPr/>
        </p:nvSpPr>
        <p:spPr>
          <a:xfrm>
            <a:off x="548640" y="2852928"/>
            <a:ext cx="2377440" cy="274320"/>
          </a:xfrm>
          <a:prstGeom prst="rect">
            <a:avLst/>
          </a:prstGeom>
          <a:noFill/>
          <a:ln/>
        </p:spPr>
        <p:txBody>
          <a:bodyPr wrap="square" lIns="0" tIns="0" rIns="0" bIns="0" rtlCol="0" anchor="ctr"/>
          <a:lstStyle/>
          <a:p>
            <a:pPr marL="0" indent="0" algn="ctr">
              <a:buNone/>
            </a:pPr>
            <a:r>
              <a:rPr lang="en-US" sz="1200" dirty="0">
                <a:solidFill>
                  <a:srgbClr val="BBBBBB"/>
                </a:solidFill>
                <a:latin typeface="Calibri" pitchFamily="34" charset="0"/>
                <a:ea typeface="Calibri" pitchFamily="34" charset="-122"/>
                <a:cs typeface="Calibri" pitchFamily="34" charset="-120"/>
              </a:rPr>
              <a:t>Strong participation</a:t>
            </a:r>
            <a:endParaRPr lang="en-US" sz="1200" dirty="0"/>
          </a:p>
        </p:txBody>
      </p:sp>
      <p:sp>
        <p:nvSpPr>
          <p:cNvPr id="8" name="Text 6"/>
          <p:cNvSpPr txBox="1"/>
          <p:nvPr/>
        </p:nvSpPr>
        <p:spPr>
          <a:xfrm>
            <a:off x="2926080" y="1828800"/>
            <a:ext cx="457200" cy="1417320"/>
          </a:xfrm>
          <a:prstGeom prst="rect">
            <a:avLst/>
          </a:prstGeom>
          <a:noFill/>
          <a:ln/>
        </p:spPr>
        <p:txBody>
          <a:bodyPr wrap="square" lIns="0" tIns="0" rIns="0" bIns="0" rtlCol="0" anchor="ctr"/>
          <a:lstStyle/>
          <a:p>
            <a:pPr marL="0" indent="0" algn="ctr">
              <a:buNone/>
            </a:pPr>
            <a:r>
              <a:rPr lang="en-US" sz="2600" dirty="0">
                <a:solidFill>
                  <a:srgbClr val="FF6A00"/>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3383280" y="1828800"/>
            <a:ext cx="2377440" cy="1417320"/>
          </a:xfrm>
          <a:prstGeom prst="roundRect">
            <a:avLst>
              <a:gd name="adj" fmla="val 5161"/>
            </a:avLst>
          </a:prstGeom>
          <a:solidFill>
            <a:srgbClr val="222222"/>
          </a:solidFill>
          <a:ln w="12700">
            <a:solidFill>
              <a:srgbClr val="222222"/>
            </a:solidFill>
            <a:prstDash val="solid"/>
          </a:ln>
        </p:spPr>
        <p:txBody>
          <a:bodyPr/>
          <a:lstStyle/>
          <a:p>
            <a:endParaRPr lang="en-US"/>
          </a:p>
        </p:txBody>
      </p:sp>
      <p:sp>
        <p:nvSpPr>
          <p:cNvPr id="10" name="Text 8"/>
          <p:cNvSpPr txBox="1"/>
          <p:nvPr/>
        </p:nvSpPr>
        <p:spPr>
          <a:xfrm>
            <a:off x="3383280" y="1920240"/>
            <a:ext cx="2377440" cy="640080"/>
          </a:xfrm>
          <a:prstGeom prst="rect">
            <a:avLst/>
          </a:prstGeom>
          <a:noFill/>
          <a:ln/>
        </p:spPr>
        <p:txBody>
          <a:bodyPr wrap="square" lIns="0" tIns="0" rIns="0" bIns="0" rtlCol="0" anchor="ctr"/>
          <a:lstStyle/>
          <a:p>
            <a:pPr marL="0" indent="0" algn="ctr">
              <a:buNone/>
            </a:pPr>
            <a:r>
              <a:rPr lang="en-US" sz="3400" b="1" dirty="0">
                <a:solidFill>
                  <a:srgbClr val="FF6A00"/>
                </a:solidFill>
                <a:latin typeface="Calibri" pitchFamily="34" charset="0"/>
                <a:ea typeface="Calibri" pitchFamily="34" charset="-122"/>
                <a:cs typeface="Calibri" pitchFamily="34" charset="-120"/>
              </a:rPr>
              <a:t>1,564</a:t>
            </a:r>
            <a:endParaRPr lang="en-US" sz="3400" dirty="0"/>
          </a:p>
        </p:txBody>
      </p:sp>
      <p:sp>
        <p:nvSpPr>
          <p:cNvPr id="11" name="Text 9"/>
          <p:cNvSpPr txBox="1"/>
          <p:nvPr/>
        </p:nvSpPr>
        <p:spPr>
          <a:xfrm>
            <a:off x="3383280" y="2560320"/>
            <a:ext cx="237744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Applications</a:t>
            </a:r>
            <a:endParaRPr lang="en-US" sz="1400" dirty="0"/>
          </a:p>
        </p:txBody>
      </p:sp>
      <p:sp>
        <p:nvSpPr>
          <p:cNvPr id="12" name="Text 10"/>
          <p:cNvSpPr txBox="1"/>
          <p:nvPr/>
        </p:nvSpPr>
        <p:spPr>
          <a:xfrm>
            <a:off x="3383280" y="2852928"/>
            <a:ext cx="2377440" cy="274320"/>
          </a:xfrm>
          <a:prstGeom prst="rect">
            <a:avLst/>
          </a:prstGeom>
          <a:noFill/>
          <a:ln/>
        </p:spPr>
        <p:txBody>
          <a:bodyPr wrap="square" lIns="0" tIns="0" rIns="0" bIns="0" rtlCol="0" anchor="ctr"/>
          <a:lstStyle/>
          <a:p>
            <a:pPr marL="0" indent="0" algn="ctr">
              <a:buNone/>
            </a:pPr>
            <a:r>
              <a:rPr lang="en-US" sz="1200" dirty="0">
                <a:solidFill>
                  <a:srgbClr val="BBBBBB"/>
                </a:solidFill>
                <a:latin typeface="Calibri" pitchFamily="34" charset="0"/>
                <a:ea typeface="Calibri" pitchFamily="34" charset="-122"/>
                <a:cs typeface="Calibri" pitchFamily="34" charset="-120"/>
              </a:rPr>
              <a:t>Far fewer move forward</a:t>
            </a:r>
            <a:endParaRPr lang="en-US" sz="1200" dirty="0"/>
          </a:p>
        </p:txBody>
      </p:sp>
      <p:sp>
        <p:nvSpPr>
          <p:cNvPr id="13" name="Text 11"/>
          <p:cNvSpPr txBox="1"/>
          <p:nvPr/>
        </p:nvSpPr>
        <p:spPr>
          <a:xfrm>
            <a:off x="5760720" y="1828800"/>
            <a:ext cx="457200" cy="1417320"/>
          </a:xfrm>
          <a:prstGeom prst="rect">
            <a:avLst/>
          </a:prstGeom>
          <a:noFill/>
          <a:ln/>
        </p:spPr>
        <p:txBody>
          <a:bodyPr wrap="square" lIns="0" tIns="0" rIns="0" bIns="0" rtlCol="0" anchor="ctr"/>
          <a:lstStyle/>
          <a:p>
            <a:pPr marL="0" indent="0" algn="ctr">
              <a:buNone/>
            </a:pPr>
            <a:r>
              <a:rPr lang="en-US" sz="2600" dirty="0">
                <a:solidFill>
                  <a:srgbClr val="FF6A00"/>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6217920" y="1828800"/>
            <a:ext cx="2377440" cy="1417320"/>
          </a:xfrm>
          <a:prstGeom prst="roundRect">
            <a:avLst>
              <a:gd name="adj" fmla="val 5161"/>
            </a:avLst>
          </a:prstGeom>
          <a:solidFill>
            <a:srgbClr val="222222"/>
          </a:solidFill>
          <a:ln w="12700">
            <a:solidFill>
              <a:srgbClr val="222222"/>
            </a:solidFill>
            <a:prstDash val="solid"/>
          </a:ln>
        </p:spPr>
        <p:txBody>
          <a:bodyPr/>
          <a:lstStyle/>
          <a:p>
            <a:endParaRPr lang="en-US"/>
          </a:p>
        </p:txBody>
      </p:sp>
      <p:sp>
        <p:nvSpPr>
          <p:cNvPr id="15" name="Text 13"/>
          <p:cNvSpPr txBox="1"/>
          <p:nvPr/>
        </p:nvSpPr>
        <p:spPr>
          <a:xfrm>
            <a:off x="6217920" y="1920240"/>
            <a:ext cx="2377440" cy="640080"/>
          </a:xfrm>
          <a:prstGeom prst="rect">
            <a:avLst/>
          </a:prstGeom>
          <a:noFill/>
          <a:ln/>
        </p:spPr>
        <p:txBody>
          <a:bodyPr wrap="square" lIns="0" tIns="0" rIns="0" bIns="0" rtlCol="0" anchor="ctr"/>
          <a:lstStyle/>
          <a:p>
            <a:pPr marL="0" indent="0" algn="ctr">
              <a:buNone/>
            </a:pPr>
            <a:r>
              <a:rPr lang="en-US" sz="3400" b="1" dirty="0">
                <a:solidFill>
                  <a:srgbClr val="FF6A00"/>
                </a:solidFill>
                <a:latin typeface="Calibri" pitchFamily="34" charset="0"/>
                <a:ea typeface="Calibri" pitchFamily="34" charset="-122"/>
                <a:cs typeface="Calibri" pitchFamily="34" charset="-120"/>
              </a:rPr>
              <a:t>~7%</a:t>
            </a:r>
            <a:endParaRPr lang="en-US" sz="3400" dirty="0"/>
          </a:p>
        </p:txBody>
      </p:sp>
      <p:sp>
        <p:nvSpPr>
          <p:cNvPr id="16" name="Text 14"/>
          <p:cNvSpPr txBox="1"/>
          <p:nvPr/>
        </p:nvSpPr>
        <p:spPr>
          <a:xfrm>
            <a:off x="6217920" y="2560320"/>
            <a:ext cx="2377440" cy="2743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Completed</a:t>
            </a:r>
            <a:endParaRPr lang="en-US" sz="1400" dirty="0"/>
          </a:p>
        </p:txBody>
      </p:sp>
      <p:sp>
        <p:nvSpPr>
          <p:cNvPr id="17" name="Text 15"/>
          <p:cNvSpPr txBox="1"/>
          <p:nvPr/>
        </p:nvSpPr>
        <p:spPr>
          <a:xfrm>
            <a:off x="6217920" y="2852928"/>
            <a:ext cx="2377440" cy="274320"/>
          </a:xfrm>
          <a:prstGeom prst="rect">
            <a:avLst/>
          </a:prstGeom>
          <a:noFill/>
          <a:ln/>
        </p:spPr>
        <p:txBody>
          <a:bodyPr wrap="square" lIns="0" tIns="0" rIns="0" bIns="0" rtlCol="0" anchor="ctr"/>
          <a:lstStyle/>
          <a:p>
            <a:pPr marL="0" indent="0" algn="ctr">
              <a:buNone/>
            </a:pPr>
            <a:r>
              <a:rPr lang="en-US" sz="1200" dirty="0">
                <a:solidFill>
                  <a:srgbClr val="BBBBBB"/>
                </a:solidFill>
                <a:latin typeface="Calibri" pitchFamily="34" charset="0"/>
                <a:ea typeface="Calibri" pitchFamily="34" charset="-122"/>
                <a:cs typeface="Calibri" pitchFamily="34" charset="-120"/>
              </a:rPr>
              <a:t>Few finish</a:t>
            </a:r>
            <a:endParaRPr lang="en-US" sz="1200" dirty="0"/>
          </a:p>
        </p:txBody>
      </p:sp>
      <p:sp>
        <p:nvSpPr>
          <p:cNvPr id="18" name="Text 16"/>
          <p:cNvSpPr txBox="1"/>
          <p:nvPr/>
        </p:nvSpPr>
        <p:spPr>
          <a:xfrm>
            <a:off x="548640" y="3474720"/>
            <a:ext cx="8046720" cy="274320"/>
          </a:xfrm>
          <a:prstGeom prst="rect">
            <a:avLst/>
          </a:prstGeom>
          <a:noFill/>
          <a:ln/>
        </p:spPr>
        <p:txBody>
          <a:bodyPr wrap="square" lIns="0" tIns="0" rIns="0" bIns="0" rtlCol="0" anchor="ctr"/>
          <a:lstStyle/>
          <a:p>
            <a:pPr marL="0" indent="0">
              <a:buNone/>
            </a:pPr>
            <a:r>
              <a:rPr lang="en-US" sz="1400" b="1" dirty="0">
                <a:solidFill>
                  <a:srgbClr val="FF6A00"/>
                </a:solidFill>
                <a:latin typeface="Calibri" pitchFamily="34" charset="0"/>
                <a:ea typeface="Calibri" pitchFamily="34" charset="-122"/>
                <a:cs typeface="Calibri" pitchFamily="34" charset="-120"/>
              </a:rPr>
              <a:t>What to keep monitoring</a:t>
            </a:r>
            <a:endParaRPr lang="en-US" sz="1400" dirty="0"/>
          </a:p>
        </p:txBody>
      </p:sp>
      <p:sp>
        <p:nvSpPr>
          <p:cNvPr id="19" name="Shape 17"/>
          <p:cNvSpPr/>
          <p:nvPr/>
        </p:nvSpPr>
        <p:spPr>
          <a:xfrm>
            <a:off x="548640" y="3794760"/>
            <a:ext cx="1508760" cy="502920"/>
          </a:xfrm>
          <a:prstGeom prst="roundRect">
            <a:avLst>
              <a:gd name="adj" fmla="val 18182"/>
            </a:avLst>
          </a:prstGeom>
          <a:solidFill>
            <a:srgbClr val="FF6A00"/>
          </a:solidFill>
          <a:ln w="12700">
            <a:solidFill>
              <a:srgbClr val="FF6A00"/>
            </a:solidFill>
            <a:prstDash val="solid"/>
          </a:ln>
        </p:spPr>
        <p:txBody>
          <a:bodyPr/>
          <a:lstStyle/>
          <a:p>
            <a:endParaRPr lang="en-US"/>
          </a:p>
        </p:txBody>
      </p:sp>
      <p:sp>
        <p:nvSpPr>
          <p:cNvPr id="20" name="Text 18"/>
          <p:cNvSpPr txBox="1"/>
          <p:nvPr/>
        </p:nvSpPr>
        <p:spPr>
          <a:xfrm>
            <a:off x="548640" y="3794760"/>
            <a:ext cx="1508760" cy="50292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Learner acquisition</a:t>
            </a:r>
            <a:endParaRPr lang="en-US" sz="1100" dirty="0"/>
          </a:p>
        </p:txBody>
      </p:sp>
      <p:sp>
        <p:nvSpPr>
          <p:cNvPr id="21" name="Shape 19"/>
          <p:cNvSpPr/>
          <p:nvPr/>
        </p:nvSpPr>
        <p:spPr>
          <a:xfrm>
            <a:off x="2185416" y="3794760"/>
            <a:ext cx="1508760" cy="502920"/>
          </a:xfrm>
          <a:prstGeom prst="roundRect">
            <a:avLst>
              <a:gd name="adj" fmla="val 18182"/>
            </a:avLst>
          </a:prstGeom>
          <a:solidFill>
            <a:srgbClr val="FF6A00"/>
          </a:solidFill>
          <a:ln w="12700">
            <a:solidFill>
              <a:srgbClr val="FF6A00"/>
            </a:solidFill>
            <a:prstDash val="solid"/>
          </a:ln>
        </p:spPr>
        <p:txBody>
          <a:bodyPr/>
          <a:lstStyle/>
          <a:p>
            <a:endParaRPr lang="en-US"/>
          </a:p>
        </p:txBody>
      </p:sp>
      <p:sp>
        <p:nvSpPr>
          <p:cNvPr id="22" name="Text 20"/>
          <p:cNvSpPr txBox="1"/>
          <p:nvPr/>
        </p:nvSpPr>
        <p:spPr>
          <a:xfrm>
            <a:off x="2185416" y="3794760"/>
            <a:ext cx="1508760" cy="50292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Application progression</a:t>
            </a:r>
            <a:endParaRPr lang="en-US" sz="1100" dirty="0"/>
          </a:p>
        </p:txBody>
      </p:sp>
      <p:sp>
        <p:nvSpPr>
          <p:cNvPr id="23" name="Shape 21"/>
          <p:cNvSpPr/>
          <p:nvPr/>
        </p:nvSpPr>
        <p:spPr>
          <a:xfrm>
            <a:off x="3822192" y="3794760"/>
            <a:ext cx="1508760" cy="502920"/>
          </a:xfrm>
          <a:prstGeom prst="roundRect">
            <a:avLst>
              <a:gd name="adj" fmla="val 18182"/>
            </a:avLst>
          </a:prstGeom>
          <a:solidFill>
            <a:srgbClr val="FF6A00"/>
          </a:solidFill>
          <a:ln w="12700">
            <a:solidFill>
              <a:srgbClr val="FF6A00"/>
            </a:solidFill>
            <a:prstDash val="solid"/>
          </a:ln>
        </p:spPr>
        <p:txBody>
          <a:bodyPr/>
          <a:lstStyle/>
          <a:p>
            <a:endParaRPr lang="en-US"/>
          </a:p>
        </p:txBody>
      </p:sp>
      <p:sp>
        <p:nvSpPr>
          <p:cNvPr id="24" name="Text 22"/>
          <p:cNvSpPr txBox="1"/>
          <p:nvPr/>
        </p:nvSpPr>
        <p:spPr>
          <a:xfrm>
            <a:off x="3822192" y="3794760"/>
            <a:ext cx="1508760" cy="50292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Completion</a:t>
            </a:r>
            <a:endParaRPr lang="en-US" sz="1100" dirty="0"/>
          </a:p>
        </p:txBody>
      </p:sp>
      <p:sp>
        <p:nvSpPr>
          <p:cNvPr id="25" name="Shape 23"/>
          <p:cNvSpPr/>
          <p:nvPr/>
        </p:nvSpPr>
        <p:spPr>
          <a:xfrm>
            <a:off x="5458968" y="3794760"/>
            <a:ext cx="1508760" cy="502920"/>
          </a:xfrm>
          <a:prstGeom prst="roundRect">
            <a:avLst>
              <a:gd name="adj" fmla="val 18182"/>
            </a:avLst>
          </a:prstGeom>
          <a:solidFill>
            <a:srgbClr val="FF6A00"/>
          </a:solidFill>
          <a:ln w="12700">
            <a:solidFill>
              <a:srgbClr val="FF6A00"/>
            </a:solidFill>
            <a:prstDash val="solid"/>
          </a:ln>
        </p:spPr>
        <p:txBody>
          <a:bodyPr/>
          <a:lstStyle/>
          <a:p>
            <a:endParaRPr lang="en-US"/>
          </a:p>
        </p:txBody>
      </p:sp>
      <p:sp>
        <p:nvSpPr>
          <p:cNvPr id="26" name="Text 24"/>
          <p:cNvSpPr txBox="1"/>
          <p:nvPr/>
        </p:nvSpPr>
        <p:spPr>
          <a:xfrm>
            <a:off x="5458968" y="3794760"/>
            <a:ext cx="1508760" cy="50292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Rewards</a:t>
            </a:r>
            <a:endParaRPr lang="en-US" sz="1100" dirty="0"/>
          </a:p>
        </p:txBody>
      </p:sp>
      <p:sp>
        <p:nvSpPr>
          <p:cNvPr id="27" name="Shape 25"/>
          <p:cNvSpPr/>
          <p:nvPr/>
        </p:nvSpPr>
        <p:spPr>
          <a:xfrm>
            <a:off x="7095744" y="3794760"/>
            <a:ext cx="1508760" cy="502920"/>
          </a:xfrm>
          <a:prstGeom prst="roundRect">
            <a:avLst>
              <a:gd name="adj" fmla="val 18182"/>
            </a:avLst>
          </a:prstGeom>
          <a:solidFill>
            <a:srgbClr val="FF6A00"/>
          </a:solidFill>
          <a:ln w="12700">
            <a:solidFill>
              <a:srgbClr val="FF6A00"/>
            </a:solidFill>
            <a:prstDash val="solid"/>
          </a:ln>
        </p:spPr>
        <p:txBody>
          <a:bodyPr/>
          <a:lstStyle/>
          <a:p>
            <a:endParaRPr lang="en-US"/>
          </a:p>
        </p:txBody>
      </p:sp>
      <p:sp>
        <p:nvSpPr>
          <p:cNvPr id="28" name="Text 26"/>
          <p:cNvSpPr txBox="1"/>
          <p:nvPr/>
        </p:nvSpPr>
        <p:spPr>
          <a:xfrm>
            <a:off x="7095744" y="3794760"/>
            <a:ext cx="1508760" cy="502920"/>
          </a:xfrm>
          <a:prstGeom prst="rect">
            <a:avLst/>
          </a:prstGeom>
          <a:noFill/>
          <a:ln/>
        </p:spPr>
        <p:txBody>
          <a:bodyPr wrap="square" lIns="0" tIns="0" rIns="0" bIns="0" rtlCol="0" anchor="ctr"/>
          <a:lstStyle/>
          <a:p>
            <a:pPr marL="0" indent="0" algn="ctr">
              <a:buNone/>
            </a:pPr>
            <a:r>
              <a:rPr lang="en-US" sz="1100" b="1" dirty="0">
                <a:solidFill>
                  <a:srgbClr val="111111"/>
                </a:solidFill>
                <a:latin typeface="Calibri" pitchFamily="34" charset="0"/>
                <a:ea typeface="Calibri" pitchFamily="34" charset="-122"/>
                <a:cs typeface="Calibri" pitchFamily="34" charset="-120"/>
              </a:rPr>
              <a:t>Scholarship support</a:t>
            </a:r>
            <a:endParaRPr lang="en-US" sz="1100" dirty="0"/>
          </a:p>
        </p:txBody>
      </p:sp>
      <p:sp>
        <p:nvSpPr>
          <p:cNvPr id="29" name="Text 27"/>
          <p:cNvSpPr txBox="1"/>
          <p:nvPr/>
        </p:nvSpPr>
        <p:spPr>
          <a:xfrm>
            <a:off x="548640" y="4526280"/>
            <a:ext cx="8046720" cy="365760"/>
          </a:xfrm>
          <a:prstGeom prst="rect">
            <a:avLst/>
          </a:prstGeom>
          <a:noFill/>
          <a:ln/>
        </p:spPr>
        <p:txBody>
          <a:bodyPr wrap="square" lIns="0" tIns="0" rIns="0" bIns="0" rtlCol="0" anchor="ctr"/>
          <a:lstStyle/>
          <a:p>
            <a:r>
              <a:rPr lang="en-US" sz="1300" dirty="0">
                <a:solidFill>
                  <a:srgbClr val="FFFFFF"/>
                </a:solidFill>
                <a:latin typeface="Calibri" pitchFamily="34" charset="0"/>
                <a:ea typeface="Calibri" pitchFamily="34" charset="-122"/>
                <a:cs typeface="Calibri" pitchFamily="34" charset="-120"/>
              </a:rPr>
              <a:t>Together, these show where an intervention will make the biggest measurable difference.</a:t>
            </a:r>
          </a:p>
          <a:p>
            <a:r>
              <a:rPr lang="en-US" sz="1000" dirty="0">
                <a:solidFill>
                  <a:srgbClr val="FFFFFF"/>
                </a:solidFill>
                <a:latin typeface="Calibri" pitchFamily="34" charset="0"/>
                <a:ea typeface="Calibri" pitchFamily="34" charset="-122"/>
                <a:cs typeface="Calibri" pitchFamily="34" charset="-120"/>
              </a:rPr>
              <a:t>Dashboard Link: (https://datastudio.google.com/reporting/eaa5661f-8f42-44c9-a769-ace0c079b084)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Dark Gradient</Template>
  <TotalTime>1711</TotalTime>
  <Words>2515</Words>
  <Application>Microsoft Office PowerPoint</Application>
  <PresentationFormat>On-screen Show (16:9)</PresentationFormat>
  <Paragraphs>389</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Naheemat Akinyemi</cp:lastModifiedBy>
  <cp:revision>12</cp:revision>
  <dcterms:created xsi:type="dcterms:W3CDTF">2026-10-01T17:28:43Z</dcterms:created>
  <dcterms:modified xsi:type="dcterms:W3CDTF">2026-10-05T12:41:51Z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2026-10-01T19:38:37Z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84dfb8f9-f312-4954-9e99-f3f71183d6f1</vt:lpwstr>
  </property>
  <property fmtid="{D5CDD505-2E9C-101B-9397-08002B2CF9AE}" pid="7" name="MSIP_Label_defa4170-0d19-0005-0004-bc88714345d2_ActionId">
    <vt:lpwstr>8e69ba3a-17d1-492a-848d-8d626ea7b39b</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